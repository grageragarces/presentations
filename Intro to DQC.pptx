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7" r:id="rId5"/>
    <p:sldId id="269" r:id="rId6"/>
    <p:sldId id="268" r:id="rId7"/>
    <p:sldId id="272" r:id="rId8"/>
    <p:sldId id="281" r:id="rId9"/>
    <p:sldId id="270" r:id="rId10"/>
    <p:sldId id="260" r:id="rId11"/>
    <p:sldId id="271" r:id="rId12"/>
    <p:sldId id="275" r:id="rId13"/>
    <p:sldId id="276" r:id="rId14"/>
    <p:sldId id="277" r:id="rId15"/>
    <p:sldId id="279" r:id="rId16"/>
    <p:sldId id="261" r:id="rId17"/>
    <p:sldId id="273" r:id="rId18"/>
    <p:sldId id="278" r:id="rId19"/>
    <p:sldId id="274" r:id="rId20"/>
    <p:sldId id="262" r:id="rId21"/>
    <p:sldId id="266" r:id="rId22"/>
    <p:sldId id="264" r:id="rId23"/>
    <p:sldId id="280" r:id="rId24"/>
    <p:sldId id="265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565"/>
  </p:normalViewPr>
  <p:slideViewPr>
    <p:cSldViewPr snapToGrid="0">
      <p:cViewPr varScale="1">
        <p:scale>
          <a:sx n="113" d="100"/>
          <a:sy n="11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82F5-63F8-28CA-6799-F7E7BF7C2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E35A8-DDD2-2749-080F-FAEBD40ED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275ED-6BAD-2D3E-BE0B-14FC2FFE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E8F70-6983-93F2-B63B-C358F15E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69C99-09E2-ED38-385C-1827900C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4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A46A-F8F8-D61D-92EF-BFF5DF51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4C0AF-C006-47FF-11D7-341D5A197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98EF8-E061-6E95-52A0-B3AB9E80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2D48E-BF28-CD0C-1CB2-87EEAFCE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0692B-C2B5-3EEC-9C0D-EACC355F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1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C127-0A83-7DD6-314F-562B053C9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F5AA4-43E2-0ADF-9AA4-B5F53CA9E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0CFAE-3319-615F-4752-320797BE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B2070-6F59-0EAA-8DD0-A756F8BC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C2E4C-400D-6989-3BDE-E5F8DFB6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9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4434-F186-3F4D-FBAC-31523B7D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0685-B402-4BA6-4657-6081E396B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9F22A-70FA-29A8-F9FE-D1D357FC3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CE23C-3AC0-913C-DEFF-C9D95642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F4863-C3FB-F052-5FEE-B0BB1B8F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1FE25-5980-7520-E747-403EFB7C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9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A416-29D4-8397-474D-04C3D8F12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056A2-9939-6ED8-33A4-DAED223D5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6570F-85F9-4E64-5595-07C2DD2CD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C127E-DB96-23D4-BC12-6B2F930F8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A1D39-D199-2EEF-3242-B900916FF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8DAA1-72F1-2826-64CB-638D57C5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165776-48E6-BAD6-681C-904C969D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4A5581-2D39-3634-CCB2-76FF5E1C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29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AAE4-E3EB-1180-9CEC-A081F796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F5A0A-C7AC-AADE-3690-65030C9AE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86F25-E7DC-B44F-C1B8-A3C59C53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45CAB-E6D8-08B6-4D70-3049F87F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0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95F77-BD13-4699-056F-0454441F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2F744-8612-B383-DAC0-DAFA3CE5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9E326-7DEB-B0B0-DD49-24045D76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68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AA45-DF4E-06A1-C1F6-846DAFA7B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E878C-5F28-C348-CBC1-5D6AAB613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844F5-3D18-4B02-A614-B8D95B202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DC974-2BE6-4334-C0BE-46084129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BE93B-F22B-0937-03E0-2A5F9B4C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0E265-E1C6-76BE-68BC-2F75770E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7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FAC6-1913-D22F-5B7A-EA26B8FB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6CCC8-6E3F-64CA-7061-B8A3F3616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DA936-CA03-EF55-F6D0-77F176D31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03D20-1697-6B10-DB1A-DFD23C22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9ED0A-A84A-C7B0-1645-F563B73A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BB84E-ABB4-9207-EE2D-5E604C0E2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7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14A0-5CCC-8220-64AB-BBC1B562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F97A2-A798-AEC5-633C-8483A5F4D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ABBFE-7694-DCA7-1707-13BBCE3D9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8D8B-6D11-5FF5-436D-38598446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6E3E-B496-63E6-C1D3-8A571D24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1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A86DD-32DD-3EB2-EE24-1B20213AD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402C28-A5C2-C8F6-3907-C3FBC0E58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5AD2-0127-6192-C691-6DD9FBA1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E962F-1849-7BA5-DC3A-353D8C46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4782B-3B1F-CFCA-5BBF-588E394E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309D6-EBCA-679D-69F8-3D7031E0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34F20-A51F-7CC1-C301-38D5A3D3C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5B6CA-5711-D5D8-C958-0D218A467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09BA8-F2AA-F743-9569-826887F97D0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823E4-13A8-3D5F-1C3B-8DC110987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5A86-094E-9D1B-2652-CF3573BEE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AEF18-0B96-E64D-9796-1108D9384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5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7.1167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C4B6-2B03-8321-BC85-D3AC277413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Intro to Distributed 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E7AD5-9F88-8C4D-321C-FF9C2C181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Maria Gragera Garces</a:t>
            </a:r>
          </a:p>
          <a:p>
            <a:r>
              <a:rPr lang="en-US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0112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F52B-D487-0BC1-2692-C0C906AF0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What? &amp; Why?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DEC2BE-3B55-45C4-FBF6-C8A081DD806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874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Multiple quantum computers interconnected</a:t>
            </a:r>
            <a:r>
              <a:rPr lang="en-US" dirty="0">
                <a:solidFill>
                  <a:srgbClr val="7030A0"/>
                </a:solidFill>
              </a:rPr>
              <a:t>*</a:t>
            </a:r>
            <a:r>
              <a:rPr lang="en-US" dirty="0"/>
              <a:t> to perform a joint computation larger than their individual capacities.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096415-41E1-9D9C-168E-7A54F43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A67557-5B85-224A-8198-2767333936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6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CA4ED-3C60-3E40-B59E-7E31709E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8E32-6B99-7961-052B-2A81ECD0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A73C21-C4C8-1957-A1B5-6A456DC1C1F6}"/>
              </a:ext>
            </a:extLst>
          </p:cNvPr>
          <p:cNvGrpSpPr/>
          <p:nvPr/>
        </p:nvGrpSpPr>
        <p:grpSpPr>
          <a:xfrm>
            <a:off x="706412" y="1379095"/>
            <a:ext cx="10779176" cy="3249665"/>
            <a:chOff x="2198254" y="3033612"/>
            <a:chExt cx="8097390" cy="225088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3099C2-F082-1DF9-3DA8-E679E3FC0A83}"/>
                </a:ext>
              </a:extLst>
            </p:cNvPr>
            <p:cNvGrpSpPr/>
            <p:nvPr/>
          </p:nvGrpSpPr>
          <p:grpSpPr>
            <a:xfrm>
              <a:off x="2488996" y="3033612"/>
              <a:ext cx="7052168" cy="1603043"/>
              <a:chOff x="2442814" y="3560084"/>
              <a:chExt cx="6441916" cy="119651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58CC1F3-3B58-89DA-AACE-C165B9498B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669" t="4325" r="20700" b="5410"/>
              <a:stretch>
                <a:fillRect/>
              </a:stretch>
            </p:blipFill>
            <p:spPr>
              <a:xfrm>
                <a:off x="4880232" y="3560084"/>
                <a:ext cx="4004498" cy="1196517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AA78120-1EAD-E65A-03C0-38BAB9100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183" t="9158" r="76045" b="5297"/>
              <a:stretch>
                <a:fillRect/>
              </a:stretch>
            </p:blipFill>
            <p:spPr>
              <a:xfrm>
                <a:off x="2442814" y="3591363"/>
                <a:ext cx="2489405" cy="1133961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B27296-1531-43DF-B220-53A4FDD8B299}"/>
                </a:ext>
              </a:extLst>
            </p:cNvPr>
            <p:cNvSpPr txBox="1"/>
            <p:nvPr/>
          </p:nvSpPr>
          <p:spPr>
            <a:xfrm>
              <a:off x="2198254" y="4636655"/>
              <a:ext cx="20607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Large computation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D9F988-06CF-6532-DB36-7C23537B6513}"/>
                </a:ext>
              </a:extLst>
            </p:cNvPr>
            <p:cNvSpPr txBox="1"/>
            <p:nvPr/>
          </p:nvSpPr>
          <p:spPr>
            <a:xfrm>
              <a:off x="5319154" y="4636655"/>
              <a:ext cx="1335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Abstraction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7601DF-9A84-ED87-9B42-C00E0EC324AF}"/>
                </a:ext>
              </a:extLst>
            </p:cNvPr>
            <p:cNvSpPr txBox="1"/>
            <p:nvPr/>
          </p:nvSpPr>
          <p:spPr>
            <a:xfrm>
              <a:off x="7826827" y="4638163"/>
              <a:ext cx="24688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Partition &amp; Assignment</a:t>
              </a:r>
            </a:p>
            <a:p>
              <a:r>
                <a:rPr lang="en-US" dirty="0"/>
                <a:t>To QPUs in the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861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72E5-E4EB-0F72-F74A-DBF439912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F7F4F-48F1-5047-503B-9C240873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FA9CF4-77BE-B870-FFD3-27B9E92CC7A0}"/>
              </a:ext>
            </a:extLst>
          </p:cNvPr>
          <p:cNvGrpSpPr/>
          <p:nvPr/>
        </p:nvGrpSpPr>
        <p:grpSpPr>
          <a:xfrm>
            <a:off x="706412" y="1379095"/>
            <a:ext cx="10779176" cy="3249665"/>
            <a:chOff x="2198254" y="3033612"/>
            <a:chExt cx="8097390" cy="225088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AF4984C-B9C3-5254-C2FB-8BF45B3C5628}"/>
                </a:ext>
              </a:extLst>
            </p:cNvPr>
            <p:cNvGrpSpPr/>
            <p:nvPr/>
          </p:nvGrpSpPr>
          <p:grpSpPr>
            <a:xfrm>
              <a:off x="2488996" y="3033612"/>
              <a:ext cx="7052168" cy="1603043"/>
              <a:chOff x="2442814" y="3560084"/>
              <a:chExt cx="6441916" cy="119651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3C8B24B-B052-37D7-8FD1-C9863732C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669" t="4325" r="20700" b="5410"/>
              <a:stretch>
                <a:fillRect/>
              </a:stretch>
            </p:blipFill>
            <p:spPr>
              <a:xfrm>
                <a:off x="4880232" y="3560084"/>
                <a:ext cx="4004498" cy="1196517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DC7A04E-20A8-34F2-C3AE-BDDF319BC8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183" t="9158" r="76045" b="5297"/>
              <a:stretch>
                <a:fillRect/>
              </a:stretch>
            </p:blipFill>
            <p:spPr>
              <a:xfrm>
                <a:off x="2442814" y="3591363"/>
                <a:ext cx="2489405" cy="1133961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96C583-E6A4-C446-A5FB-8413F7944A1D}"/>
                </a:ext>
              </a:extLst>
            </p:cNvPr>
            <p:cNvSpPr txBox="1"/>
            <p:nvPr/>
          </p:nvSpPr>
          <p:spPr>
            <a:xfrm>
              <a:off x="2198254" y="4636655"/>
              <a:ext cx="20607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Large computation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D273E9-03FF-8159-7C15-A64BA673CE7D}"/>
                </a:ext>
              </a:extLst>
            </p:cNvPr>
            <p:cNvSpPr txBox="1"/>
            <p:nvPr/>
          </p:nvSpPr>
          <p:spPr>
            <a:xfrm>
              <a:off x="5319154" y="4636655"/>
              <a:ext cx="1335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Abstraction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55F011-0C6E-CD77-20D2-1EE6CB543B66}"/>
                </a:ext>
              </a:extLst>
            </p:cNvPr>
            <p:cNvSpPr txBox="1"/>
            <p:nvPr/>
          </p:nvSpPr>
          <p:spPr>
            <a:xfrm>
              <a:off x="7826827" y="4638163"/>
              <a:ext cx="24688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Partition &amp; Assignment</a:t>
              </a:r>
            </a:p>
            <a:p>
              <a:r>
                <a:rPr lang="en-US" dirty="0"/>
                <a:t>To QPUs in the network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DBFFB-AEA5-E8AA-3A6A-75AFE731D9BA}"/>
              </a:ext>
            </a:extLst>
          </p:cNvPr>
          <p:cNvSpPr txBox="1">
            <a:spLocks/>
          </p:cNvSpPr>
          <p:nvPr/>
        </p:nvSpPr>
        <p:spPr>
          <a:xfrm>
            <a:off x="4645486" y="4544372"/>
            <a:ext cx="2294959" cy="874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0000"/>
                </a:solidFill>
              </a:rPr>
              <a:t>Hypergraph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8BB5F9C-EC07-888C-46F0-8BC53AB41D26}"/>
              </a:ext>
            </a:extLst>
          </p:cNvPr>
          <p:cNvSpPr txBox="1">
            <a:spLocks/>
          </p:cNvSpPr>
          <p:nvPr/>
        </p:nvSpPr>
        <p:spPr>
          <a:xfrm>
            <a:off x="8050752" y="4628760"/>
            <a:ext cx="4141248" cy="874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Some version of the </a:t>
            </a:r>
            <a:r>
              <a:rPr lang="en-US" sz="2400" dirty="0">
                <a:solidFill>
                  <a:srgbClr val="FF0000"/>
                </a:solidFill>
              </a:rPr>
              <a:t>BHP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BD400B-6283-DB07-4AC6-385D51E4F246}"/>
              </a:ext>
            </a:extLst>
          </p:cNvPr>
          <p:cNvSpPr txBox="1">
            <a:spLocks/>
          </p:cNvSpPr>
          <p:nvPr/>
        </p:nvSpPr>
        <p:spPr>
          <a:xfrm>
            <a:off x="579999" y="4544371"/>
            <a:ext cx="4141248" cy="1541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Circuit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MBQC Pattern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Quantum Walk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…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A13CE6-FED2-33F8-7C3D-EE8DF6B370CF}"/>
              </a:ext>
            </a:extLst>
          </p:cNvPr>
          <p:cNvSpPr txBox="1">
            <a:spLocks/>
          </p:cNvSpPr>
          <p:nvPr/>
        </p:nvSpPr>
        <p:spPr>
          <a:xfrm>
            <a:off x="4315376" y="5044943"/>
            <a:ext cx="4141248" cy="1541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Circuits:</a:t>
            </a:r>
          </a:p>
          <a:p>
            <a:r>
              <a:rPr lang="en-US" sz="2000" dirty="0"/>
              <a:t>Vertices: Qubits</a:t>
            </a:r>
          </a:p>
          <a:p>
            <a:r>
              <a:rPr lang="en-US" sz="2000" dirty="0"/>
              <a:t>Edges: Gates</a:t>
            </a:r>
          </a:p>
        </p:txBody>
      </p:sp>
    </p:spTree>
    <p:extLst>
      <p:ext uri="{BB962C8B-B14F-4D97-AF65-F5344CB8AC3E}">
        <p14:creationId xmlns:p14="http://schemas.microsoft.com/office/powerpoint/2010/main" val="18364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F740-7078-B662-9846-16A2E04EB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D1327-30FE-19F9-77E5-B16497E4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Hypergraph partitioning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A44FC4-9FE3-34F9-CAE2-797109FE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76"/>
          <a:stretch>
            <a:fillRect/>
          </a:stretch>
        </p:blipFill>
        <p:spPr>
          <a:xfrm>
            <a:off x="210180" y="1690688"/>
            <a:ext cx="5770895" cy="4191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C0B1BB-E037-22A6-6E14-B8307E88E458}"/>
              </a:ext>
            </a:extLst>
          </p:cNvPr>
          <p:cNvSpPr txBox="1"/>
          <p:nvPr/>
        </p:nvSpPr>
        <p:spPr>
          <a:xfrm>
            <a:off x="3068007" y="6460842"/>
            <a:ext cx="456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Figure taken from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kahypar.org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0299C-B072-63FE-D6EF-0F139AEE7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0"/>
            <a:ext cx="28765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3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AC01-F337-9390-1845-EDD5A33E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487A-5A4A-F663-FB95-FBB4FEDB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Hypergraph partitioning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F089BE-ED1D-C444-9BCC-52C42826B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0" y="1690688"/>
            <a:ext cx="11771640" cy="41913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3B8EE9-4C45-0872-C0E8-693C28A78D3C}"/>
              </a:ext>
            </a:extLst>
          </p:cNvPr>
          <p:cNvSpPr txBox="1"/>
          <p:nvPr/>
        </p:nvSpPr>
        <p:spPr>
          <a:xfrm>
            <a:off x="3068007" y="6460842"/>
            <a:ext cx="456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Figure taken from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kahypar.org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ED83EF-1972-8710-5BB7-B3D1E964B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0"/>
            <a:ext cx="28765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5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0F257-99E0-D08B-7961-945FA3CB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1272"/>
            <a:ext cx="10515600" cy="1325563"/>
          </a:xfrm>
        </p:spPr>
        <p:txBody>
          <a:bodyPr/>
          <a:lstStyle/>
          <a:p>
            <a:r>
              <a:rPr lang="en-US" dirty="0"/>
              <a:t>Inter-partition hyperedges: non-local gates</a:t>
            </a:r>
          </a:p>
        </p:txBody>
      </p:sp>
      <p:pic>
        <p:nvPicPr>
          <p:cNvPr id="2050" name="Picture 2" descr="CAT and TP implementation of CX gate">
            <a:extLst>
              <a:ext uri="{FF2B5EF4-FFF2-40B4-BE49-F238E27FC236}">
                <a16:creationId xmlns:a16="http://schemas.microsoft.com/office/drawing/2014/main" id="{C4182CAF-AC9D-D5F5-4C2B-C3F0F39A5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204" y="1877387"/>
            <a:ext cx="8749591" cy="3704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059DE8-0ED5-491A-392C-5070407E59BA}"/>
              </a:ext>
            </a:extLst>
          </p:cNvPr>
          <p:cNvSpPr txBox="1"/>
          <p:nvPr/>
        </p:nvSpPr>
        <p:spPr>
          <a:xfrm>
            <a:off x="589614" y="5582292"/>
            <a:ext cx="1160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Figure taken from </a:t>
            </a:r>
            <a:r>
              <a:rPr lang="en-GB" i="1" dirty="0"/>
              <a:t> </a:t>
            </a:r>
            <a:r>
              <a:rPr lang="en-GB" i="1" dirty="0">
                <a:hlinkClick r:id="rId3"/>
              </a:rPr>
              <a:t>AutoComm: A Framework for Enabling Efficient Communication in Distributed Quantum Programs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2" name="Picture 4" descr="Introduction to Encryption [Part 02] : Understanding the Basics - Use Cases - Codimite">
            <a:extLst>
              <a:ext uri="{FF2B5EF4-FFF2-40B4-BE49-F238E27FC236}">
                <a16:creationId xmlns:a16="http://schemas.microsoft.com/office/drawing/2014/main" id="{17C97C47-4E3D-0E0A-A0D9-AA5C38FA3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99" b="10589"/>
          <a:stretch>
            <a:fillRect/>
          </a:stretch>
        </p:blipFill>
        <p:spPr bwMode="auto">
          <a:xfrm>
            <a:off x="7518137" y="-1"/>
            <a:ext cx="4673863" cy="115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FF6C3C-DA4B-DC33-8A86-716F65C73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8529402" y="-498382"/>
            <a:ext cx="2653259" cy="101659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FCF2E7-3BC2-02E2-388D-845A2C424E62}"/>
              </a:ext>
            </a:extLst>
          </p:cNvPr>
          <p:cNvCxnSpPr>
            <a:cxnSpLocks/>
          </p:cNvCxnSpPr>
          <p:nvPr/>
        </p:nvCxnSpPr>
        <p:spPr>
          <a:xfrm>
            <a:off x="8649325" y="779489"/>
            <a:ext cx="2533336" cy="0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B84EFEC-6EAF-731C-DD4D-1497FBFFE842}"/>
              </a:ext>
            </a:extLst>
          </p:cNvPr>
          <p:cNvSpPr/>
          <p:nvPr/>
        </p:nvSpPr>
        <p:spPr>
          <a:xfrm>
            <a:off x="2383436" y="3087974"/>
            <a:ext cx="419725" cy="121420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EBECC-A9FD-0300-545A-423CDDF5B120}"/>
              </a:ext>
            </a:extLst>
          </p:cNvPr>
          <p:cNvSpPr/>
          <p:nvPr/>
        </p:nvSpPr>
        <p:spPr>
          <a:xfrm>
            <a:off x="7098412" y="3087974"/>
            <a:ext cx="419725" cy="121420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7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4335-6A1A-A1D9-71E1-A5360FA1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FC70-EFFD-DBA9-8C46-6EA721E8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Hypergraph partitioning: FM solver</a:t>
            </a:r>
          </a:p>
        </p:txBody>
      </p:sp>
      <p:pic>
        <p:nvPicPr>
          <p:cNvPr id="14338" name="Picture 2" descr="Fiduccia-Mattheyses graph">
            <a:extLst>
              <a:ext uri="{FF2B5EF4-FFF2-40B4-BE49-F238E27FC236}">
                <a16:creationId xmlns:a16="http://schemas.microsoft.com/office/drawing/2014/main" id="{69A834DD-5D1F-2F8F-6094-9B1F25114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404" y="3531193"/>
            <a:ext cx="7644005" cy="31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C57E51-2FC9-5348-E69A-C722D7665B8F}"/>
              </a:ext>
            </a:extLst>
          </p:cNvPr>
          <p:cNvSpPr txBox="1"/>
          <p:nvPr/>
        </p:nvSpPr>
        <p:spPr>
          <a:xfrm>
            <a:off x="838200" y="1525489"/>
            <a:ext cx="108541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Fiduccia-</a:t>
            </a:r>
            <a:r>
              <a:rPr lang="en-GB" b="1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Mattheyses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works by maintaining a priority queue of nodes sorted by their "gain" (how much moving a node to another partition would improve the cut).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At each step, you pick the node with the highest gain, move it, lock it (you don't get to move it again in this pass), and update the gains of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neighboring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nodes.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You keep going until all nodes are locked, then you roll back to the best solution you saw during the pass.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At that point you unlock everything and do it all over again until you stop seeing improvements.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14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5041-8F80-1D9B-CD99-7221FEF3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BHP is a simplification not the whole story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18EED-B4D4-E4D6-C245-B97E841BA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0868"/>
            <a:ext cx="12186142" cy="1325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FC9DC9-0DD2-3A9E-B09E-3808989471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791" t="9158" r="86019" b="5297"/>
          <a:stretch>
            <a:fillRect/>
          </a:stretch>
        </p:blipFill>
        <p:spPr>
          <a:xfrm>
            <a:off x="0" y="3766297"/>
            <a:ext cx="3627802" cy="2193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417FA3-A4CE-F8F3-4622-134AC0C7F4B7}"/>
              </a:ext>
            </a:extLst>
          </p:cNvPr>
          <p:cNvSpPr txBox="1"/>
          <p:nvPr/>
        </p:nvSpPr>
        <p:spPr>
          <a:xfrm>
            <a:off x="1632679" y="5959659"/>
            <a:ext cx="2743262" cy="533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computation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42102A5-0D4E-CBBC-F17C-63FA40C3E9C0}"/>
              </a:ext>
            </a:extLst>
          </p:cNvPr>
          <p:cNvSpPr txBox="1">
            <a:spLocks/>
          </p:cNvSpPr>
          <p:nvPr/>
        </p:nvSpPr>
        <p:spPr>
          <a:xfrm>
            <a:off x="1813901" y="3050891"/>
            <a:ext cx="67502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3"/>
                </a:solidFill>
              </a:rPr>
              <a:t>INPUTS</a:t>
            </a:r>
          </a:p>
        </p:txBody>
      </p:sp>
      <p:pic>
        <p:nvPicPr>
          <p:cNvPr id="1026" name="Picture 2" descr="Quantum Network Architecture. | Download Scientific Diagram">
            <a:extLst>
              <a:ext uri="{FF2B5EF4-FFF2-40B4-BE49-F238E27FC236}">
                <a16:creationId xmlns:a16="http://schemas.microsoft.com/office/drawing/2014/main" id="{52C96CBE-D8FA-238C-5A0F-B6F4239AA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162" y="3942508"/>
            <a:ext cx="2623339" cy="184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0CE96A-3050-5387-93D1-45CE45B13533}"/>
              </a:ext>
            </a:extLst>
          </p:cNvPr>
          <p:cNvSpPr txBox="1"/>
          <p:nvPr/>
        </p:nvSpPr>
        <p:spPr>
          <a:xfrm>
            <a:off x="6444429" y="5959659"/>
            <a:ext cx="5907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Device network: topology, device capacities, channels, …</a:t>
            </a:r>
          </a:p>
        </p:txBody>
      </p:sp>
    </p:spTree>
    <p:extLst>
      <p:ext uri="{BB962C8B-B14F-4D97-AF65-F5344CB8AC3E}">
        <p14:creationId xmlns:p14="http://schemas.microsoft.com/office/powerpoint/2010/main" val="1173966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99F7-1D65-1B91-6BB8-93CADF3A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not just </a:t>
            </a:r>
            <a:r>
              <a:rPr lang="en-US" i="1" dirty="0"/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AD79-4981-AF87-7436-60D8FAB85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546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GB" dirty="0">
                <a:solidFill>
                  <a:schemeClr val="accent2"/>
                </a:solidFill>
              </a:rPr>
              <a:t>Resource currency</a:t>
            </a:r>
            <a:r>
              <a:rPr lang="en-GB" dirty="0"/>
              <a:t>: Routing burns SWAP gates on a fixed coupling graph (cost = SWAP depth). DQC burns </a:t>
            </a:r>
            <a:r>
              <a:rPr lang="en-GB" b="1" dirty="0" err="1"/>
              <a:t>ebits</a:t>
            </a:r>
            <a:r>
              <a:rPr lang="en-GB" dirty="0"/>
              <a:t> (Bell pairs) </a:t>
            </a:r>
            <a:r>
              <a:rPr lang="en-GB" b="1" dirty="0"/>
              <a:t>+</a:t>
            </a:r>
            <a:r>
              <a:rPr lang="en-GB" dirty="0"/>
              <a:t> classical </a:t>
            </a:r>
            <a:r>
              <a:rPr lang="en-GB" b="1" dirty="0"/>
              <a:t>bits</a:t>
            </a:r>
            <a:r>
              <a:rPr lang="en-GB" dirty="0"/>
              <a:t>; you minimize entanglement cost and communication rounds.</a:t>
            </a:r>
          </a:p>
          <a:p>
            <a:r>
              <a:rPr lang="en-GB" dirty="0">
                <a:solidFill>
                  <a:schemeClr val="accent2"/>
                </a:solidFill>
              </a:rPr>
              <a:t>What actually moves</a:t>
            </a:r>
            <a:r>
              <a:rPr lang="en-GB" dirty="0"/>
              <a:t>: Routing physically transports the state through the array. In gate teleportation, data </a:t>
            </a:r>
            <a:r>
              <a:rPr lang="en-GB" b="1" dirty="0"/>
              <a:t>qubits stay home</a:t>
            </a:r>
            <a:r>
              <a:rPr lang="en-GB" dirty="0"/>
              <a:t>; only </a:t>
            </a:r>
            <a:r>
              <a:rPr lang="en-GB" b="1" dirty="0"/>
              <a:t>entanglement</a:t>
            </a:r>
            <a:r>
              <a:rPr lang="en-GB" dirty="0"/>
              <a:t> is </a:t>
            </a:r>
            <a:r>
              <a:rPr lang="en-GB" b="1" dirty="0"/>
              <a:t>consumed</a:t>
            </a:r>
            <a:r>
              <a:rPr lang="en-GB" dirty="0"/>
              <a:t> and outcomes are sent. </a:t>
            </a:r>
          </a:p>
          <a:p>
            <a:r>
              <a:rPr lang="en-GB" dirty="0">
                <a:solidFill>
                  <a:schemeClr val="accent2"/>
                </a:solidFill>
              </a:rPr>
              <a:t>Probabilistic link layer</a:t>
            </a:r>
            <a:r>
              <a:rPr lang="en-GB" dirty="0"/>
              <a:t>: SWAPs are deterministic and coherent. Inter-module </a:t>
            </a:r>
            <a:r>
              <a:rPr lang="en-GB" b="1" dirty="0"/>
              <a:t>entanglement</a:t>
            </a:r>
            <a:r>
              <a:rPr lang="en-GB" dirty="0"/>
              <a:t> is </a:t>
            </a:r>
            <a:r>
              <a:rPr lang="en-GB" b="1" dirty="0"/>
              <a:t>heralded and probabilistic </a:t>
            </a:r>
            <a:r>
              <a:rPr lang="en-GB" dirty="0"/>
              <a:t>(photonic links), adding a stochastic stack: generation attempts, buffering, purification.</a:t>
            </a:r>
          </a:p>
          <a:p>
            <a:r>
              <a:rPr lang="en-GB" dirty="0">
                <a:solidFill>
                  <a:schemeClr val="accent2"/>
                </a:solidFill>
              </a:rPr>
              <a:t>Optimization is partitioning, not embedding</a:t>
            </a:r>
            <a:r>
              <a:rPr lang="en-GB" dirty="0"/>
              <a:t>: Routing embeds a circuit into a fixed topology and minimizes SWAPs. DQC partitions the circuit across modules to </a:t>
            </a:r>
            <a:r>
              <a:rPr lang="en-GB" b="1" dirty="0"/>
              <a:t>minimize the cut</a:t>
            </a:r>
            <a:r>
              <a:rPr lang="en-GB" dirty="0"/>
              <a:t> (non-local gates), then </a:t>
            </a:r>
            <a:r>
              <a:rPr lang="en-GB" b="1" dirty="0"/>
              <a:t>schedules entanglement</a:t>
            </a:r>
            <a:r>
              <a:rPr lang="en-GB" dirty="0"/>
              <a:t>. A cat-entangler lets one </a:t>
            </a:r>
            <a:r>
              <a:rPr lang="en-GB" dirty="0" err="1"/>
              <a:t>ebit</a:t>
            </a:r>
            <a:r>
              <a:rPr lang="en-GB" dirty="0"/>
              <a:t> drive many controlled gates.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112C7-0A0B-FB0B-9015-BE4E7B61710F}"/>
              </a:ext>
            </a:extLst>
          </p:cNvPr>
          <p:cNvSpPr txBox="1"/>
          <p:nvPr/>
        </p:nvSpPr>
        <p:spPr>
          <a:xfrm>
            <a:off x="-1" y="5703977"/>
            <a:ext cx="119471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br>
              <a:rPr lang="en-GB" dirty="0">
                <a:effectLst/>
                <a:latin typeface="Helvetica Neue" panose="02000503000000020004" pitchFamily="2" charset="0"/>
              </a:rPr>
            </a:br>
            <a:r>
              <a:rPr lang="en-GB" b="1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Routing is graph embedding under a fixed lattice. DQC is an LOCC resource theory across a network. </a:t>
            </a:r>
          </a:p>
          <a:p>
            <a:pPr algn="ctr">
              <a:buNone/>
            </a:pPr>
            <a:r>
              <a:rPr lang="en-GB" b="1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Calling it "routing" hides the </a:t>
            </a:r>
            <a:r>
              <a:rPr lang="en-GB" b="1" dirty="0" err="1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ebit</a:t>
            </a:r>
            <a:r>
              <a:rPr lang="en-GB" b="1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 accounting, the probabilistic link layer, and the classical feed-forward.</a:t>
            </a:r>
          </a:p>
        </p:txBody>
      </p:sp>
    </p:spTree>
    <p:extLst>
      <p:ext uri="{BB962C8B-B14F-4D97-AF65-F5344CB8AC3E}">
        <p14:creationId xmlns:p14="http://schemas.microsoft.com/office/powerpoint/2010/main" val="296969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DF64-B977-9E73-CBE2-A52E9385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47A2-CD7B-3A2F-5D7C-B5F88407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9C987-3CF4-62E8-F455-AFD95F35F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87" y="1690688"/>
            <a:ext cx="7772400" cy="38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68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3DE10-C6B0-DC10-E544-FB8B5B1A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6F1C-EC0A-688E-251A-4394FF36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829E6-D9BD-C1D3-B8FB-7DBEB2415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87" y="1690688"/>
            <a:ext cx="7772400" cy="3830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ECAA1A-E64F-E699-1FC5-367444730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460" y="4676421"/>
            <a:ext cx="76327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11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FEBF-93C1-77E1-BDD7-F484C374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FA68-6C1B-28AD-C116-860681A78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604A2-659C-DF3D-C311-5BE1D650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87" y="1690688"/>
            <a:ext cx="7772400" cy="3830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E527B-2793-BBA2-6D3D-EAA2B276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460" y="4676421"/>
            <a:ext cx="7632700" cy="168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BBC3D-C84B-1DF9-C6D4-25517CC0E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908" y="1131860"/>
            <a:ext cx="5490252" cy="31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3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5CA00-AEB4-ADB3-90E1-2876B9D8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62EF-F9A3-97CC-C09E-0E3F545A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8548A-DD15-6529-FF5E-6F799DE5A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87" y="1690688"/>
            <a:ext cx="7772400" cy="3830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BE7640-6D7E-4BDA-BE8A-F6DDD8E7A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460" y="4676421"/>
            <a:ext cx="7632700" cy="168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074664-E13A-F7D1-F130-25EF141A0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908" y="1131860"/>
            <a:ext cx="5490252" cy="31497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6EE7BB-6D2E-3E1A-0DF4-EB43BF3FA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566" y="1337029"/>
            <a:ext cx="348033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95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34CF2-AD75-5596-AE13-0C26D1AB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57B9-3E40-63A5-09C0-BC02F333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of the field: Near-Term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836D5-C20E-B6C1-DD3D-F5832DC1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5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Step 1) Cross-campus DQC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9A439-B311-A80C-F665-F80EE31FD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25" y="2923109"/>
            <a:ext cx="5610875" cy="2765071"/>
          </a:xfrm>
          <a:prstGeom prst="rect">
            <a:avLst/>
          </a:prstGeom>
        </p:spPr>
      </p:pic>
      <p:pic>
        <p:nvPicPr>
          <p:cNvPr id="10242" name="Picture 2" descr="Plus - Free education icons">
            <a:extLst>
              <a:ext uri="{FF2B5EF4-FFF2-40B4-BE49-F238E27FC236}">
                <a16:creationId xmlns:a16="http://schemas.microsoft.com/office/drawing/2014/main" id="{3FD6646B-70A7-1709-53DF-4F4129914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05500" y="3016251"/>
            <a:ext cx="211455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FF00815-1FDC-60D0-E489-9C11F0A6A0E1}"/>
              </a:ext>
            </a:extLst>
          </p:cNvPr>
          <p:cNvSpPr txBox="1">
            <a:spLocks/>
          </p:cNvSpPr>
          <p:nvPr/>
        </p:nvSpPr>
        <p:spPr>
          <a:xfrm>
            <a:off x="8451850" y="3429000"/>
            <a:ext cx="24701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Reasonable Compute</a:t>
            </a:r>
          </a:p>
        </p:txBody>
      </p:sp>
    </p:spTree>
    <p:extLst>
      <p:ext uri="{BB962C8B-B14F-4D97-AF65-F5344CB8AC3E}">
        <p14:creationId xmlns:p14="http://schemas.microsoft.com/office/powerpoint/2010/main" val="1622273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EC74-F518-AFC9-1B20-A43E2589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3B46-3D43-0DD8-CBF6-A0F005AF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of the field: Near-Term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01ED2F-C24F-2C2A-BF51-FDBECD7B2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5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Step 2) Quantum Data </a:t>
            </a:r>
            <a:r>
              <a:rPr lang="en-GB" dirty="0" err="1"/>
              <a:t>centers</a:t>
            </a:r>
            <a:endParaRPr lang="en-GB" dirty="0"/>
          </a:p>
          <a:p>
            <a:endParaRPr lang="en-US" dirty="0"/>
          </a:p>
        </p:txBody>
      </p:sp>
      <p:pic>
        <p:nvPicPr>
          <p:cNvPr id="8194" name="Picture 2" descr="Cisco Research | Quantum data center">
            <a:extLst>
              <a:ext uri="{FF2B5EF4-FFF2-40B4-BE49-F238E27FC236}">
                <a16:creationId xmlns:a16="http://schemas.microsoft.com/office/drawing/2014/main" id="{226A2571-1A15-979F-CFC3-A6E29CA15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91" y="2373130"/>
            <a:ext cx="7165298" cy="403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13046A-BA8F-3940-C53C-C56D6E1E2E5B}"/>
              </a:ext>
            </a:extLst>
          </p:cNvPr>
          <p:cNvSpPr txBox="1"/>
          <p:nvPr/>
        </p:nvSpPr>
        <p:spPr>
          <a:xfrm>
            <a:off x="589614" y="6308209"/>
            <a:ext cx="1160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Figure taken from </a:t>
            </a:r>
            <a:r>
              <a:rPr lang="en-GB" i="1" dirty="0">
                <a:solidFill>
                  <a:schemeClr val="accent1"/>
                </a:solidFill>
              </a:rPr>
              <a:t>Cisco research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05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F227-DADC-E377-F340-10A3AC22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oftware layer&#10;&#10;AI-generated content may be incorrect.">
            <a:extLst>
              <a:ext uri="{FF2B5EF4-FFF2-40B4-BE49-F238E27FC236}">
                <a16:creationId xmlns:a16="http://schemas.microsoft.com/office/drawing/2014/main" id="{2DB3CE9B-1B82-5830-7F09-18D5D7C5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" b="1104"/>
          <a:stretch>
            <a:fillRect/>
          </a:stretch>
        </p:blipFill>
        <p:spPr>
          <a:xfrm>
            <a:off x="3929921" y="371553"/>
            <a:ext cx="4332158" cy="5701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35AFCD-F17A-2B9D-078B-35DE4CCF49E7}"/>
              </a:ext>
            </a:extLst>
          </p:cNvPr>
          <p:cNvSpPr txBox="1"/>
          <p:nvPr/>
        </p:nvSpPr>
        <p:spPr>
          <a:xfrm>
            <a:off x="0" y="6308209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Figure taken from </a:t>
            </a:r>
            <a:r>
              <a:rPr lang="en-GB" dirty="0">
                <a:solidFill>
                  <a:schemeClr val="accent1"/>
                </a:solidFill>
              </a:rPr>
              <a:t>Review of Distributed Quantum Computing: From single QPU to High Performance Quantum Computing</a:t>
            </a:r>
          </a:p>
        </p:txBody>
      </p:sp>
    </p:spTree>
    <p:extLst>
      <p:ext uri="{BB962C8B-B14F-4D97-AF65-F5344CB8AC3E}">
        <p14:creationId xmlns:p14="http://schemas.microsoft.com/office/powerpoint/2010/main" val="202649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EA6B-1D88-F5DC-DEBF-C36E2876E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4247-4162-9C4E-779B-B4E51CFC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of the field: Long-Term?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4E42C0-7363-AC3A-7151-C7BA6497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5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Step 2) Hybrid Data </a:t>
            </a:r>
            <a:r>
              <a:rPr lang="en-GB" dirty="0" err="1"/>
              <a:t>centers</a:t>
            </a:r>
            <a:endParaRPr lang="en-GB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BF77B-CDD8-AA2F-02B9-DC9FCAF5D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52" y="2473405"/>
            <a:ext cx="9338872" cy="2567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5C7DF0-EF0F-42F4-CF6B-26E0604EBFBF}"/>
              </a:ext>
            </a:extLst>
          </p:cNvPr>
          <p:cNvSpPr txBox="1"/>
          <p:nvPr/>
        </p:nvSpPr>
        <p:spPr>
          <a:xfrm>
            <a:off x="589614" y="6308209"/>
            <a:ext cx="1160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Figure taken from </a:t>
            </a:r>
            <a:r>
              <a:rPr lang="en-GB" i="1" dirty="0" err="1">
                <a:solidFill>
                  <a:schemeClr val="accent1"/>
                </a:solidFill>
              </a:rPr>
              <a:t>www.r-ccs.riken.jp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214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04BB8-953E-BEFF-2BAB-1472DE43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7413-3BC8-813F-1004-5E133E99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of the field: Long-Term?</a:t>
            </a:r>
          </a:p>
        </p:txBody>
      </p:sp>
      <p:pic>
        <p:nvPicPr>
          <p:cNvPr id="11266" name="Picture 2" descr="Quantum Internet – Mirabilis Design">
            <a:extLst>
              <a:ext uri="{FF2B5EF4-FFF2-40B4-BE49-F238E27FC236}">
                <a16:creationId xmlns:a16="http://schemas.microsoft.com/office/drawing/2014/main" id="{426C8870-0CC8-02EA-8DFA-25DAC6452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495" y="2327563"/>
            <a:ext cx="7600013" cy="439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771003-BE5A-D326-2F52-D4CE8FBD5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5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Step 3) The Quantum Internet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63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7808-1B83-8145-1A1F-91E99D44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6B83-6938-283E-8224-67C08E45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counterpart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204F-2E17-7A1F-7FB5-D0E35CF9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832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1960s — mainframes, time-sharing (one big box)</a:t>
            </a:r>
          </a:p>
          <a:p>
            <a:r>
              <a:rPr lang="en-GB" dirty="0"/>
              <a:t>1969 — ARPANET: computers start talking</a:t>
            </a:r>
          </a:p>
          <a:p>
            <a:r>
              <a:rPr lang="en-GB" dirty="0"/>
              <a:t>1973 — Ethernet: local networks</a:t>
            </a:r>
          </a:p>
          <a:p>
            <a:r>
              <a:rPr lang="en-GB" dirty="0"/>
              <a:t>1980s — client-server, first clusters</a:t>
            </a:r>
          </a:p>
          <a:p>
            <a:r>
              <a:rPr lang="en-GB" dirty="0"/>
              <a:t>1994 — Beowulf clusters (cheap nodes + network = supercomputer)</a:t>
            </a:r>
          </a:p>
          <a:p>
            <a:r>
              <a:rPr lang="en-GB" dirty="0"/>
              <a:t>2004 — Google MapReduce: data </a:t>
            </a:r>
            <a:r>
              <a:rPr lang="en-GB" dirty="0" err="1"/>
              <a:t>center</a:t>
            </a:r>
            <a:r>
              <a:rPr lang="en-GB" dirty="0"/>
              <a:t> as one computer</a:t>
            </a:r>
          </a:p>
          <a:p>
            <a:r>
              <a:rPr lang="en-GB" dirty="0"/>
              <a:t>2006 — AWS: cloud = distributed-by-default</a:t>
            </a:r>
          </a:p>
          <a:p>
            <a:r>
              <a:rPr lang="en-GB" dirty="0"/>
              <a:t>2014 — Kubernetes: orchestrating 1,000s of nodes</a:t>
            </a:r>
          </a:p>
          <a:p>
            <a:r>
              <a:rPr lang="en-GB" dirty="0"/>
              <a:t>2020s — distributed AI training at hyperscale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482AC-69A2-218C-A5E3-9D585C96BD70}"/>
              </a:ext>
            </a:extLst>
          </p:cNvPr>
          <p:cNvSpPr txBox="1"/>
          <p:nvPr/>
        </p:nvSpPr>
        <p:spPr>
          <a:xfrm>
            <a:off x="-1" y="5703977"/>
            <a:ext cx="119471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GB" b="1" dirty="0">
              <a:solidFill>
                <a:srgbClr val="FF0000"/>
              </a:solidFill>
              <a:latin typeface="Helvetica Neue" panose="02000503000000020004" pitchFamily="2" charset="0"/>
            </a:endParaRPr>
          </a:p>
          <a:p>
            <a:pPr algn="ctr">
              <a:buNone/>
            </a:pPr>
            <a:endParaRPr lang="en-GB" b="1" dirty="0">
              <a:solidFill>
                <a:srgbClr val="FF0000"/>
              </a:solidFill>
              <a:latin typeface="Helvetica Neue" panose="02000503000000020004" pitchFamily="2" charset="0"/>
            </a:endParaRPr>
          </a:p>
          <a:p>
            <a:pPr algn="ctr">
              <a:buNone/>
            </a:pPr>
            <a:r>
              <a:rPr lang="en-GB" b="1" dirty="0">
                <a:solidFill>
                  <a:srgbClr val="FF0000"/>
                </a:solidFill>
                <a:latin typeface="Helvetica Neue" panose="02000503000000020004" pitchFamily="2" charset="0"/>
              </a:rPr>
              <a:t>Classical compute is distributed</a:t>
            </a:r>
            <a:r>
              <a:rPr lang="en-GB" b="1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0493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D8A42-5414-FA36-F673-F2DAD42E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EE85-FC19-B509-67AF-E28C2AE4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in Distributed settings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ABCA06-E062-FFD7-7A8B-EA491F3A8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7334" y="1658443"/>
            <a:ext cx="5651891" cy="4834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4F2A26-876D-6067-672A-1E114C613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298" y="764498"/>
            <a:ext cx="3629114" cy="529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C8C916-2AC8-07B3-67F4-D167C4138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34" y="2984006"/>
            <a:ext cx="4725827" cy="331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58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43BE-2362-8806-87AD-FB70F5E3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1676-6473-EDCC-6579-A9C4D56D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old enemy: noise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4FC932-6DE4-56AE-906F-277B31E8C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6656"/>
            <a:ext cx="10515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Quantum computation is fundamentally limited by noise. In a distributed setting, this challenge compounds.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More QPUs → more communication → more noise.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36078A-4900-E7C9-DE2D-819D9D5B179B}"/>
              </a:ext>
            </a:extLst>
          </p:cNvPr>
          <p:cNvGrpSpPr/>
          <p:nvPr/>
        </p:nvGrpSpPr>
        <p:grpSpPr>
          <a:xfrm>
            <a:off x="2483747" y="3958506"/>
            <a:ext cx="7498453" cy="2293182"/>
            <a:chOff x="2058554" y="4484800"/>
            <a:chExt cx="6379377" cy="1755737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8FFBA16E-0036-FEEB-38BF-3C5D20D13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554" y="4546387"/>
              <a:ext cx="13773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 b="1" dirty="0">
                  <a:solidFill>
                    <a:srgbClr val="E97131"/>
                  </a:solidFill>
                  <a:latin typeface="ACADEMY ENGRAVED LET PLAIN:1.0" panose="02000000000000000000" pitchFamily="2" charset="0"/>
                </a:rPr>
                <a:t>QPU noise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59406A-90CE-2A20-FD4C-4DE9D05EB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06" t="-716" r="49666" b="716"/>
            <a:stretch>
              <a:fillRect/>
            </a:stretch>
          </p:blipFill>
          <p:spPr>
            <a:xfrm>
              <a:off x="2222088" y="5104465"/>
              <a:ext cx="948294" cy="1136072"/>
            </a:xfrm>
            <a:prstGeom prst="rect">
              <a:avLst/>
            </a:prstGeom>
          </p:spPr>
        </p:pic>
        <p:pic>
          <p:nvPicPr>
            <p:cNvPr id="8" name="Graphic 7" descr="Lightning bolt with solid fill">
              <a:extLst>
                <a:ext uri="{FF2B5EF4-FFF2-40B4-BE49-F238E27FC236}">
                  <a16:creationId xmlns:a16="http://schemas.microsoft.com/office/drawing/2014/main" id="{01186B6B-3F9C-5D6B-2895-4D9D8BF88C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22088" y="4895320"/>
              <a:ext cx="299439" cy="299439"/>
            </a:xfrm>
            <a:prstGeom prst="rect">
              <a:avLst/>
            </a:prstGeom>
          </p:spPr>
        </p:pic>
        <p:pic>
          <p:nvPicPr>
            <p:cNvPr id="9" name="Graphic 8" descr="Lightning bolt with solid fill">
              <a:extLst>
                <a:ext uri="{FF2B5EF4-FFF2-40B4-BE49-F238E27FC236}">
                  <a16:creationId xmlns:a16="http://schemas.microsoft.com/office/drawing/2014/main" id="{5026542C-F087-EE7E-3847-B5C3295856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11096" y="4905520"/>
              <a:ext cx="299439" cy="299439"/>
            </a:xfrm>
            <a:prstGeom prst="rect">
              <a:avLst/>
            </a:prstGeom>
          </p:spPr>
        </p:pic>
        <p:pic>
          <p:nvPicPr>
            <p:cNvPr id="10" name="Graphic 9" descr="Lightning bolt with solid fill">
              <a:extLst>
                <a:ext uri="{FF2B5EF4-FFF2-40B4-BE49-F238E27FC236}">
                  <a16:creationId xmlns:a16="http://schemas.microsoft.com/office/drawing/2014/main" id="{F513C724-5264-3B50-9CFB-00FDF8E436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23792" y="4892004"/>
              <a:ext cx="299439" cy="299439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DE8EB8-F330-660C-7914-B269FF771996}"/>
                </a:ext>
              </a:extLst>
            </p:cNvPr>
            <p:cNvCxnSpPr/>
            <p:nvPr/>
          </p:nvCxnSpPr>
          <p:spPr>
            <a:xfrm>
              <a:off x="3535218" y="5646357"/>
              <a:ext cx="372225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" name="Graphic 11" descr="Infinity outline">
              <a:extLst>
                <a:ext uri="{FF2B5EF4-FFF2-40B4-BE49-F238E27FC236}">
                  <a16:creationId xmlns:a16="http://schemas.microsoft.com/office/drawing/2014/main" id="{256DCBCC-4264-0884-ED94-6E5EAC7426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54752" y="4855885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Infinity outline">
              <a:extLst>
                <a:ext uri="{FF2B5EF4-FFF2-40B4-BE49-F238E27FC236}">
                  <a16:creationId xmlns:a16="http://schemas.microsoft.com/office/drawing/2014/main" id="{C1680F6B-2B32-8938-F84B-6D1481A931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39145" y="4850327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Infinity outline">
              <a:extLst>
                <a:ext uri="{FF2B5EF4-FFF2-40B4-BE49-F238E27FC236}">
                  <a16:creationId xmlns:a16="http://schemas.microsoft.com/office/drawing/2014/main" id="{88FDD5A4-FF11-A37C-10A1-A871D1354D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23538" y="4855885"/>
              <a:ext cx="914400" cy="9144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D276B87-DFE5-77DD-D5B4-CB17D0A7816C}"/>
                </a:ext>
              </a:extLst>
            </p:cNvPr>
            <p:cNvGrpSpPr/>
            <p:nvPr/>
          </p:nvGrpSpPr>
          <p:grpSpPr>
            <a:xfrm>
              <a:off x="5060807" y="5204959"/>
              <a:ext cx="655059" cy="226291"/>
              <a:chOff x="5060807" y="5204959"/>
              <a:chExt cx="655059" cy="22629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0CFDF1-5480-4A4E-2259-2447907F5E0B}"/>
                  </a:ext>
                </a:extLst>
              </p:cNvPr>
              <p:cNvSpPr/>
              <p:nvPr/>
            </p:nvSpPr>
            <p:spPr>
              <a:xfrm>
                <a:off x="5060807" y="5223165"/>
                <a:ext cx="175490" cy="179841"/>
              </a:xfrm>
              <a:prstGeom prst="ellipse">
                <a:avLst/>
              </a:prstGeom>
              <a:solidFill>
                <a:srgbClr val="FF3323">
                  <a:alpha val="85490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6FF01DD-99C3-F4A8-52E2-8A9A46696961}"/>
                  </a:ext>
                </a:extLst>
              </p:cNvPr>
              <p:cNvSpPr/>
              <p:nvPr/>
            </p:nvSpPr>
            <p:spPr>
              <a:xfrm>
                <a:off x="5540376" y="5223165"/>
                <a:ext cx="175490" cy="179841"/>
              </a:xfrm>
              <a:prstGeom prst="ellipse">
                <a:avLst/>
              </a:prstGeom>
              <a:solidFill>
                <a:srgbClr val="00AFF1">
                  <a:alpha val="85098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1" name="Graphic 40" descr="Atom outline">
                <a:extLst>
                  <a:ext uri="{FF2B5EF4-FFF2-40B4-BE49-F238E27FC236}">
                    <a16:creationId xmlns:a16="http://schemas.microsoft.com/office/drawing/2014/main" id="{458D9297-DFD7-853D-F217-9436798382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94745" y="5204959"/>
                <a:ext cx="226291" cy="226291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5C5766-444B-B09E-44B1-B28F97F5F3CD}"/>
                </a:ext>
              </a:extLst>
            </p:cNvPr>
            <p:cNvGrpSpPr/>
            <p:nvPr/>
          </p:nvGrpSpPr>
          <p:grpSpPr>
            <a:xfrm>
              <a:off x="4072815" y="5204958"/>
              <a:ext cx="655059" cy="226291"/>
              <a:chOff x="5060807" y="5204959"/>
              <a:chExt cx="655059" cy="226291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F76198A-878E-DC8D-919D-F3994E205131}"/>
                  </a:ext>
                </a:extLst>
              </p:cNvPr>
              <p:cNvSpPr/>
              <p:nvPr/>
            </p:nvSpPr>
            <p:spPr>
              <a:xfrm>
                <a:off x="5060807" y="5223165"/>
                <a:ext cx="175490" cy="179841"/>
              </a:xfrm>
              <a:prstGeom prst="ellipse">
                <a:avLst/>
              </a:prstGeom>
              <a:solidFill>
                <a:srgbClr val="FF3323">
                  <a:alpha val="85490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85CF963-C183-C91E-B6AD-C0BD70EEB50E}"/>
                  </a:ext>
                </a:extLst>
              </p:cNvPr>
              <p:cNvSpPr/>
              <p:nvPr/>
            </p:nvSpPr>
            <p:spPr>
              <a:xfrm>
                <a:off x="5540376" y="5223165"/>
                <a:ext cx="175490" cy="179841"/>
              </a:xfrm>
              <a:prstGeom prst="ellipse">
                <a:avLst/>
              </a:prstGeom>
              <a:solidFill>
                <a:srgbClr val="00AFF1">
                  <a:alpha val="85098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8" name="Graphic 37" descr="Atom outline">
                <a:extLst>
                  <a:ext uri="{FF2B5EF4-FFF2-40B4-BE49-F238E27FC236}">
                    <a16:creationId xmlns:a16="http://schemas.microsoft.com/office/drawing/2014/main" id="{A2D14675-E5C4-E87D-2C93-AC2F2D7B25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94745" y="5204959"/>
                <a:ext cx="226291" cy="226291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70E0C3B-18E9-05F0-38A9-C006BEFAC670}"/>
                </a:ext>
              </a:extLst>
            </p:cNvPr>
            <p:cNvGrpSpPr/>
            <p:nvPr/>
          </p:nvGrpSpPr>
          <p:grpSpPr>
            <a:xfrm>
              <a:off x="6036262" y="5204958"/>
              <a:ext cx="655059" cy="226291"/>
              <a:chOff x="5060807" y="5204959"/>
              <a:chExt cx="655059" cy="226291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5225C8F-985B-5A58-E20F-D2049EF2757B}"/>
                  </a:ext>
                </a:extLst>
              </p:cNvPr>
              <p:cNvSpPr/>
              <p:nvPr/>
            </p:nvSpPr>
            <p:spPr>
              <a:xfrm>
                <a:off x="5060807" y="5223165"/>
                <a:ext cx="175490" cy="179841"/>
              </a:xfrm>
              <a:prstGeom prst="ellipse">
                <a:avLst/>
              </a:prstGeom>
              <a:solidFill>
                <a:srgbClr val="FF3323">
                  <a:alpha val="85490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89A08A4-9074-9818-3A73-3500E81A66EA}"/>
                  </a:ext>
                </a:extLst>
              </p:cNvPr>
              <p:cNvSpPr/>
              <p:nvPr/>
            </p:nvSpPr>
            <p:spPr>
              <a:xfrm>
                <a:off x="5540376" y="5223165"/>
                <a:ext cx="175490" cy="179841"/>
              </a:xfrm>
              <a:prstGeom prst="ellipse">
                <a:avLst/>
              </a:prstGeom>
              <a:solidFill>
                <a:srgbClr val="00AFF1">
                  <a:alpha val="85098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5" name="Graphic 34" descr="Atom outline">
                <a:extLst>
                  <a:ext uri="{FF2B5EF4-FFF2-40B4-BE49-F238E27FC236}">
                    <a16:creationId xmlns:a16="http://schemas.microsoft.com/office/drawing/2014/main" id="{40350D1C-AB89-EBC0-4F72-A4AB0D39C2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94745" y="5204959"/>
                <a:ext cx="226291" cy="226291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32CCEFF-497C-E769-C557-A91F1DF50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06" t="-716" r="49666" b="716"/>
            <a:stretch>
              <a:fillRect/>
            </a:stretch>
          </p:blipFill>
          <p:spPr>
            <a:xfrm>
              <a:off x="7310518" y="5104465"/>
              <a:ext cx="948294" cy="1136072"/>
            </a:xfrm>
            <a:prstGeom prst="rect">
              <a:avLst/>
            </a:prstGeom>
          </p:spPr>
        </p:pic>
        <p:pic>
          <p:nvPicPr>
            <p:cNvPr id="19" name="Graphic 18" descr="Lightning bolt with solid fill">
              <a:extLst>
                <a:ext uri="{FF2B5EF4-FFF2-40B4-BE49-F238E27FC236}">
                  <a16:creationId xmlns:a16="http://schemas.microsoft.com/office/drawing/2014/main" id="{2340D5F7-4A90-2C01-0F17-682531FA08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10518" y="4895320"/>
              <a:ext cx="299439" cy="299439"/>
            </a:xfrm>
            <a:prstGeom prst="rect">
              <a:avLst/>
            </a:prstGeom>
          </p:spPr>
        </p:pic>
        <p:pic>
          <p:nvPicPr>
            <p:cNvPr id="20" name="Graphic 19" descr="Lightning bolt with solid fill">
              <a:extLst>
                <a:ext uri="{FF2B5EF4-FFF2-40B4-BE49-F238E27FC236}">
                  <a16:creationId xmlns:a16="http://schemas.microsoft.com/office/drawing/2014/main" id="{D01A2850-E6BE-3730-9A9C-39788A96DA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99526" y="4905520"/>
              <a:ext cx="299439" cy="299439"/>
            </a:xfrm>
            <a:prstGeom prst="rect">
              <a:avLst/>
            </a:prstGeom>
          </p:spPr>
        </p:pic>
        <p:pic>
          <p:nvPicPr>
            <p:cNvPr id="21" name="Graphic 20" descr="Lightning bolt with solid fill">
              <a:extLst>
                <a:ext uri="{FF2B5EF4-FFF2-40B4-BE49-F238E27FC236}">
                  <a16:creationId xmlns:a16="http://schemas.microsoft.com/office/drawing/2014/main" id="{802DBB03-8FE2-CF65-7FDE-A437CE5316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12222" y="4892004"/>
              <a:ext cx="299439" cy="299439"/>
            </a:xfrm>
            <a:prstGeom prst="rect">
              <a:avLst/>
            </a:prstGeom>
          </p:spPr>
        </p:pic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5B5EDADC-1529-C1AE-C656-B5685ED57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0558" y="4512856"/>
              <a:ext cx="13773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 b="1" dirty="0">
                  <a:solidFill>
                    <a:srgbClr val="E97131"/>
                  </a:solidFill>
                  <a:latin typeface="ACADEMY ENGRAVED LET PLAIN:1.0" panose="02000000000000000000" pitchFamily="2" charset="0"/>
                </a:rPr>
                <a:t>QPU noise</a:t>
              </a:r>
            </a:p>
          </p:txBody>
        </p:sp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3F5B019E-D3BF-F563-6F1E-D55E6DABC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1588" y="4484800"/>
              <a:ext cx="17454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CADEMY ENGRAVED LET PLAIN:1.0" panose="02000000000000000000" pitchFamily="2" charset="0"/>
                </a:rPr>
                <a:t>Network noise</a:t>
              </a:r>
            </a:p>
          </p:txBody>
        </p:sp>
        <p:pic>
          <p:nvPicPr>
            <p:cNvPr id="24" name="Graphic 23" descr="Lightning bolt with solid fill">
              <a:extLst>
                <a:ext uri="{FF2B5EF4-FFF2-40B4-BE49-F238E27FC236}">
                  <a16:creationId xmlns:a16="http://schemas.microsoft.com/office/drawing/2014/main" id="{36EA86FB-45EC-1CFB-E38A-5DE0DE920C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57340" y="4825687"/>
              <a:ext cx="299439" cy="299439"/>
            </a:xfrm>
            <a:prstGeom prst="rect">
              <a:avLst/>
            </a:prstGeom>
          </p:spPr>
        </p:pic>
        <p:pic>
          <p:nvPicPr>
            <p:cNvPr id="25" name="Graphic 24" descr="Lightning bolt with solid fill">
              <a:extLst>
                <a:ext uri="{FF2B5EF4-FFF2-40B4-BE49-F238E27FC236}">
                  <a16:creationId xmlns:a16="http://schemas.microsoft.com/office/drawing/2014/main" id="{76513525-0E5F-1D00-6157-A5F619716C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6348" y="4835887"/>
              <a:ext cx="299439" cy="299439"/>
            </a:xfrm>
            <a:prstGeom prst="rect">
              <a:avLst/>
            </a:prstGeom>
          </p:spPr>
        </p:pic>
        <p:pic>
          <p:nvPicPr>
            <p:cNvPr id="26" name="Graphic 25" descr="Lightning bolt with solid fill">
              <a:extLst>
                <a:ext uri="{FF2B5EF4-FFF2-40B4-BE49-F238E27FC236}">
                  <a16:creationId xmlns:a16="http://schemas.microsoft.com/office/drawing/2014/main" id="{473DD8D2-5FF3-A22E-AC8C-9DD72CC45E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59044" y="4822371"/>
              <a:ext cx="299439" cy="299439"/>
            </a:xfrm>
            <a:prstGeom prst="rect">
              <a:avLst/>
            </a:prstGeom>
          </p:spPr>
        </p:pic>
        <p:pic>
          <p:nvPicPr>
            <p:cNvPr id="27" name="Graphic 26" descr="Lightning bolt with solid fill">
              <a:extLst>
                <a:ext uri="{FF2B5EF4-FFF2-40B4-BE49-F238E27FC236}">
                  <a16:creationId xmlns:a16="http://schemas.microsoft.com/office/drawing/2014/main" id="{28F0B9DB-830D-ED59-5DD9-27B95F5DEB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4442" y="4818457"/>
              <a:ext cx="299439" cy="299439"/>
            </a:xfrm>
            <a:prstGeom prst="rect">
              <a:avLst/>
            </a:prstGeom>
          </p:spPr>
        </p:pic>
        <p:pic>
          <p:nvPicPr>
            <p:cNvPr id="28" name="Graphic 27" descr="Lightning bolt with solid fill">
              <a:extLst>
                <a:ext uri="{FF2B5EF4-FFF2-40B4-BE49-F238E27FC236}">
                  <a16:creationId xmlns:a16="http://schemas.microsoft.com/office/drawing/2014/main" id="{98162295-9C3D-8824-1121-5B6A478B3F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53450" y="4828657"/>
              <a:ext cx="299439" cy="299439"/>
            </a:xfrm>
            <a:prstGeom prst="rect">
              <a:avLst/>
            </a:prstGeom>
          </p:spPr>
        </p:pic>
        <p:pic>
          <p:nvPicPr>
            <p:cNvPr id="29" name="Graphic 28" descr="Lightning bolt with solid fill">
              <a:extLst>
                <a:ext uri="{FF2B5EF4-FFF2-40B4-BE49-F238E27FC236}">
                  <a16:creationId xmlns:a16="http://schemas.microsoft.com/office/drawing/2014/main" id="{FB58D3B1-DBE1-84E4-BA64-3B77C2FA4C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66146" y="4815141"/>
              <a:ext cx="299439" cy="299439"/>
            </a:xfrm>
            <a:prstGeom prst="rect">
              <a:avLst/>
            </a:prstGeom>
          </p:spPr>
        </p:pic>
        <p:pic>
          <p:nvPicPr>
            <p:cNvPr id="30" name="Graphic 29" descr="Lightning bolt with solid fill">
              <a:extLst>
                <a:ext uri="{FF2B5EF4-FFF2-40B4-BE49-F238E27FC236}">
                  <a16:creationId xmlns:a16="http://schemas.microsoft.com/office/drawing/2014/main" id="{42582FED-8C5E-E5E5-6FC1-0C1637E214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4787" y="4812091"/>
              <a:ext cx="299439" cy="299439"/>
            </a:xfrm>
            <a:prstGeom prst="rect">
              <a:avLst/>
            </a:prstGeom>
          </p:spPr>
        </p:pic>
        <p:pic>
          <p:nvPicPr>
            <p:cNvPr id="31" name="Graphic 30" descr="Lightning bolt with solid fill">
              <a:extLst>
                <a:ext uri="{FF2B5EF4-FFF2-40B4-BE49-F238E27FC236}">
                  <a16:creationId xmlns:a16="http://schemas.microsoft.com/office/drawing/2014/main" id="{50209CBF-3EDB-82B5-205D-5E8470A955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3795" y="4822291"/>
              <a:ext cx="299439" cy="299439"/>
            </a:xfrm>
            <a:prstGeom prst="rect">
              <a:avLst/>
            </a:prstGeom>
          </p:spPr>
        </p:pic>
        <p:pic>
          <p:nvPicPr>
            <p:cNvPr id="32" name="Graphic 31" descr="Lightning bolt with solid fill">
              <a:extLst>
                <a:ext uri="{FF2B5EF4-FFF2-40B4-BE49-F238E27FC236}">
                  <a16:creationId xmlns:a16="http://schemas.microsoft.com/office/drawing/2014/main" id="{CB839BA8-1E82-F5A1-5EB2-81AA19135C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96491" y="4808775"/>
              <a:ext cx="299439" cy="2994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9846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FEF0-884A-E68D-7ACD-1C75E2BE1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6879-D7B9-58CB-93CD-28922084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old enemy: noise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DD9AD8-5296-2103-435F-4C15AA2E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66"/>
          <a:stretch>
            <a:fillRect/>
          </a:stretch>
        </p:blipFill>
        <p:spPr>
          <a:xfrm>
            <a:off x="4529214" y="6280879"/>
            <a:ext cx="3673617" cy="351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868861-3EEE-A7B1-1A70-A6A30516B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337" y="1690688"/>
            <a:ext cx="5679563" cy="40867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149B0A-B6C4-E25D-5D05-256B9EC1F49E}"/>
              </a:ext>
            </a:extLst>
          </p:cNvPr>
          <p:cNvSpPr txBox="1"/>
          <p:nvPr/>
        </p:nvSpPr>
        <p:spPr>
          <a:xfrm>
            <a:off x="10198100" y="5819214"/>
            <a:ext cx="1993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</a:t>
            </a:r>
          </a:p>
          <a:p>
            <a:r>
              <a:rPr lang="en-US" dirty="0"/>
              <a:t>Variational</a:t>
            </a:r>
          </a:p>
          <a:p>
            <a:r>
              <a:rPr lang="en-US" dirty="0"/>
              <a:t>Distance</a:t>
            </a:r>
          </a:p>
        </p:txBody>
      </p:sp>
    </p:spTree>
    <p:extLst>
      <p:ext uri="{BB962C8B-B14F-4D97-AF65-F5344CB8AC3E}">
        <p14:creationId xmlns:p14="http://schemas.microsoft.com/office/powerpoint/2010/main" val="4037406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7C227-4EA8-B2B4-B812-4765CE90D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A2A4-1405-21FE-BEC4-A4445012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quantum computing compiling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18A21-BC6A-A750-FCC3-A21170B70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74" y="1690688"/>
            <a:ext cx="8866212" cy="46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16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FB6B-7AE4-7B78-515C-E801AA3A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B1B4-B1B0-9781-9E73-C1B75C9F6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Intro to Distributed 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989C0-EB6F-350D-0FAB-A7448674F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Maria Gragera Garces</a:t>
            </a:r>
          </a:p>
          <a:p>
            <a:r>
              <a:rPr lang="en-US" dirty="0"/>
              <a:t>HACKMONTH 2026</a:t>
            </a:r>
          </a:p>
        </p:txBody>
      </p:sp>
      <p:pic>
        <p:nvPicPr>
          <p:cNvPr id="15366" name="Picture 6" descr="Thank You Stamp – Woodruff and Co">
            <a:extLst>
              <a:ext uri="{FF2B5EF4-FFF2-40B4-BE49-F238E27FC236}">
                <a16:creationId xmlns:a16="http://schemas.microsoft.com/office/drawing/2014/main" id="{44F14FDF-22C2-9773-171F-EAD1EFEDF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-482600" y="-650874"/>
            <a:ext cx="4368800" cy="43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899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680</Words>
  <Application>Microsoft Macintosh PowerPoint</Application>
  <PresentationFormat>Widescreen</PresentationFormat>
  <Paragraphs>92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-webkit-standard</vt:lpstr>
      <vt:lpstr>ACADEMY ENGRAVED LET PLAIN:1.0</vt:lpstr>
      <vt:lpstr>Aptos</vt:lpstr>
      <vt:lpstr>Aptos Display</vt:lpstr>
      <vt:lpstr>Arial</vt:lpstr>
      <vt:lpstr>Helvetica Neue</vt:lpstr>
      <vt:lpstr>Office Theme</vt:lpstr>
      <vt:lpstr>An Intro to Distributed Quantum Computing</vt:lpstr>
      <vt:lpstr>What? &amp; Why?</vt:lpstr>
      <vt:lpstr>How</vt:lpstr>
      <vt:lpstr>How?</vt:lpstr>
      <vt:lpstr>Balanced Hypergraph partitioning</vt:lpstr>
      <vt:lpstr>Balanced Hypergraph partitioning</vt:lpstr>
      <vt:lpstr>Inter-partition hyperedges: non-local gates</vt:lpstr>
      <vt:lpstr>Balanced Hypergraph partitioning: FM solver</vt:lpstr>
      <vt:lpstr>BHP is a simplification not the whole story</vt:lpstr>
      <vt:lpstr>This is not just routing</vt:lpstr>
      <vt:lpstr>Current state</vt:lpstr>
      <vt:lpstr>Current state</vt:lpstr>
      <vt:lpstr>Current state</vt:lpstr>
      <vt:lpstr>Current state</vt:lpstr>
      <vt:lpstr>Roadmap of the field: Near-Term</vt:lpstr>
      <vt:lpstr>Roadmap of the field: Near-Term</vt:lpstr>
      <vt:lpstr>PowerPoint Presentation</vt:lpstr>
      <vt:lpstr>Roadmap of the field: Long-Term?</vt:lpstr>
      <vt:lpstr>Roadmap of the field: Long-Term?</vt:lpstr>
      <vt:lpstr>Classical counterpart</vt:lpstr>
      <vt:lpstr>Advantage in Distributed settings</vt:lpstr>
      <vt:lpstr>Our old enemy: noise</vt:lpstr>
      <vt:lpstr>Our old enemy: noise</vt:lpstr>
      <vt:lpstr>Standard quantum computing compiling</vt:lpstr>
      <vt:lpstr>An Intro to Distributed Quantum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Gragera Garcés</dc:creator>
  <cp:lastModifiedBy>María Gragera Garcés</cp:lastModifiedBy>
  <cp:revision>7</cp:revision>
  <dcterms:created xsi:type="dcterms:W3CDTF">2026-06-14T23:28:49Z</dcterms:created>
  <dcterms:modified xsi:type="dcterms:W3CDTF">2026-06-15T11:45:47Z</dcterms:modified>
</cp:coreProperties>
</file>