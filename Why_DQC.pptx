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64" r:id="rId3"/>
    <p:sldId id="259" r:id="rId4"/>
    <p:sldId id="293" r:id="rId5"/>
    <p:sldId id="267" r:id="rId6"/>
    <p:sldId id="268" r:id="rId7"/>
    <p:sldId id="269" r:id="rId8"/>
    <p:sldId id="270" r:id="rId9"/>
    <p:sldId id="257" r:id="rId10"/>
    <p:sldId id="271" r:id="rId11"/>
    <p:sldId id="274" r:id="rId12"/>
    <p:sldId id="273" r:id="rId13"/>
    <p:sldId id="260" r:id="rId14"/>
    <p:sldId id="276" r:id="rId15"/>
    <p:sldId id="277" r:id="rId16"/>
    <p:sldId id="278" r:id="rId17"/>
    <p:sldId id="280" r:id="rId18"/>
    <p:sldId id="279" r:id="rId19"/>
    <p:sldId id="281" r:id="rId20"/>
    <p:sldId id="275" r:id="rId21"/>
    <p:sldId id="284" r:id="rId22"/>
    <p:sldId id="285" r:id="rId23"/>
    <p:sldId id="282" r:id="rId24"/>
    <p:sldId id="261" r:id="rId25"/>
    <p:sldId id="287" r:id="rId26"/>
    <p:sldId id="289" r:id="rId27"/>
    <p:sldId id="290" r:id="rId28"/>
    <p:sldId id="291" r:id="rId29"/>
    <p:sldId id="292" r:id="rId30"/>
    <p:sldId id="262" r:id="rId31"/>
    <p:sldId id="263" r:id="rId32"/>
    <p:sldId id="26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3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19"/>
    <p:restoredTop sz="94673"/>
  </p:normalViewPr>
  <p:slideViewPr>
    <p:cSldViewPr snapToGrid="0">
      <p:cViewPr varScale="1">
        <p:scale>
          <a:sx n="97" d="100"/>
          <a:sy n="97" d="100"/>
        </p:scale>
        <p:origin x="208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0564B0-0880-8446-A7F3-94C0D78C5D09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55E68-5EF7-5949-B3CC-447294C1E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314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A8120-3531-00BE-2BCA-602DDDD18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814C10-5CD1-424B-DEBD-DC0AACD58A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54C76-F058-BB1E-6ECD-C747F531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28AFC-62F6-B348-9174-47DAA7857736}" type="datetime1">
              <a:rPr lang="en-GB" smtClean="0"/>
              <a:t>25/06/2026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41378-D782-ADB9-7B0C-FAF34E075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BE2BD-93E8-6683-C7F7-37539813B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02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095D6-E36E-7713-C64D-28A916871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15577-56C4-E1C6-5917-BF60448B6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C937A1-13E4-55BC-64A8-49B02E7B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64758-57D9-9A46-BFB8-6A1AD2CB5820}" type="datetime1">
              <a:rPr lang="en-GB" smtClean="0"/>
              <a:t>25/06/2026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C0BF7-F9BA-6836-760B-E2265ACEC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8127F-2679-59ED-3A3C-A8AA3A078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936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BA8E5-5BE0-0039-2D2E-AADED2BE4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31313-D609-9EAE-EBEE-CEF06FD44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25EC0-F9D9-35E7-17C9-12253AEAB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CCECFD-D845-C14F-B1A8-3E123A2A3C4E}" type="datetime1">
              <a:rPr lang="en-GB" smtClean="0"/>
              <a:t>25/06/2026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E5D91-9DD1-5319-8FCF-045F20178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73BAE-5A9A-BDEA-1DE9-FF63E41F5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83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504C3-71FF-478F-A3D7-1CD9F87CF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FBFB6-5EA5-C992-C55B-5D979B9CAE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0F62E5-6801-4F39-DFA7-C95342244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59B2C3-148A-699A-EDC6-268F136CB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CBED1-1FAC-D947-BA0E-68669CEE84E4}" type="datetime1">
              <a:rPr lang="en-GB" smtClean="0"/>
              <a:t>25/06/2026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73735-9B61-F8D4-DC2A-731C883F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A2BCA-C562-CECE-B99A-719330EB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69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3AA12-DE18-8DA4-FCF2-DC091573B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2FAF1-964E-4B66-536A-75D487CE49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A3E39-6FB7-63C9-5AAA-E8050A8C65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002B62-BB5F-12C7-3FFD-AFA384A44D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DE5D4-A38E-A556-7D41-1C67DCB179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09AE98-EC86-90AD-BA58-AAAE9C781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9471DA-F957-3B4E-B21A-D94F2AD2DD5B}" type="datetime1">
              <a:rPr lang="en-GB" smtClean="0"/>
              <a:t>25/06/2026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95DF08-E125-B893-778F-790674AC6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B5FFF9-1FDA-2593-8793-B4582627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17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8878E-CC5E-FFE5-D135-0D7692D9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3D0160-5ECA-6443-3A19-CFA34EA40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4C612-8A57-D248-9BCD-52D0ADFA8DF0}" type="datetime1">
              <a:rPr lang="en-GB" smtClean="0"/>
              <a:t>25/06/2026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791998-3DF0-F0B2-D260-6FD8D7DAA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D7EA2-CDD3-A296-4B95-4BB5B444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900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A1493D-3359-2723-CAF6-8DED155CA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FA64-1F0B-7344-8EB3-DA784824BC5B}" type="datetime1">
              <a:rPr lang="en-GB" smtClean="0"/>
              <a:t>25/06/2026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B1E8FD-AC2D-4A02-D54C-3D80075CE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073A1-947B-21D7-C8E9-9B4224EA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584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A9722-4970-AAA6-7B4D-4DC993A4F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DAD9E-986F-D971-62B3-A098872AC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CB8E07-79C8-E341-E2E1-89254E59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1EE8B-78EC-8341-81A0-EB8457881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8AB25F-E785-D543-AC4B-4B733AFA72E8}" type="datetime1">
              <a:rPr lang="en-GB" smtClean="0"/>
              <a:t>25/06/2026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50F1D-C57E-CE84-AA72-4686F8B5C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90D73-72C6-907C-4874-F0E145340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64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21A8-C4B0-35F5-C5B8-C20FFAB20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805FA0-4396-0807-CECE-174D0AE3CD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5AB12-6357-59CF-F0A7-23CAF1186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07ED8E-F501-169A-32C4-76091F27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AC0B2-B699-A345-8B3C-F54284E4ED54}" type="datetime1">
              <a:rPr lang="en-GB" smtClean="0"/>
              <a:t>25/06/2026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FF677-A20D-987E-9FA4-FF97B3298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92C75-BB43-64E3-1A73-548BEB9BF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78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03961-1631-2EA7-0D01-23206D0B5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CEB8F-9EC8-6FF8-2428-88295C4CA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55B6E-EE97-0A77-9B27-1A52C41E0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05C55C-DEC8-B14F-986C-87188D46C98E}" type="datetime1">
              <a:rPr lang="en-GB" smtClean="0"/>
              <a:t>25/06/2026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C57CD-7695-35C3-891E-8CE84D0B9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6BEDE-5C6E-03A3-C2D9-F431AC00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79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F06AA-D5C6-BAC5-7772-B2ED8D328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EAF2A1-A186-65FB-2A84-4BF3FAB44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6097D9-280D-A7D5-3A5C-74A96E79A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2A691-5D08-BC40-AE5C-405AD6FE0724}" type="datetime1">
              <a:rPr lang="en-GB" smtClean="0"/>
              <a:t>25/06/2026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6315-2296-C6B5-0BEA-B23E7CB90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F7C9A-08C6-295C-96F9-12117E37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777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ED27F-81A5-50F2-735A-C9C4D2A25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D79E91-28E0-EB58-F651-996AFDBFD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B6297-4D61-D8BA-E3A5-EB69FF8BF8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93689-D083-9E4C-8843-563F2CF95180}" type="datetime1">
              <a:rPr lang="en-GB" smtClean="0"/>
              <a:t>25/06/2026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CF7D2-7950-A9F8-C66F-AD7AE74E8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556A2-D116-7512-54BC-CABDD33FB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33A42-AD54-EA4C-B6F9-0D7D7DD68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79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microsoft.com/office/2007/relationships/hdphoto" Target="../media/hdphoto2.wdp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0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7" Type="http://schemas.openxmlformats.org/officeDocument/2006/relationships/image" Target="../media/image3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image" Target="../media/image280.png"/><Relationship Id="rId7" Type="http://schemas.openxmlformats.org/officeDocument/2006/relationships/image" Target="../media/image330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00.png"/><Relationship Id="rId4" Type="http://schemas.openxmlformats.org/officeDocument/2006/relationships/image" Target="../media/image29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45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36CC2-AB80-D935-C25A-9BC7BF9AC5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3383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Why should you pay attention to Distributed Quantum Computing?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42896C-724F-76E2-F51E-507544E6D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7756"/>
            <a:ext cx="9144000" cy="968609"/>
          </a:xfrm>
        </p:spPr>
        <p:txBody>
          <a:bodyPr/>
          <a:lstStyle/>
          <a:p>
            <a:r>
              <a:rPr lang="en-US" dirty="0"/>
              <a:t>Maria Gragera Garces, University of Edinburgh</a:t>
            </a:r>
          </a:p>
        </p:txBody>
      </p:sp>
      <p:pic>
        <p:nvPicPr>
          <p:cNvPr id="4" name="Picture 3" descr="Uncle Sam: We Want You | National WWI Museum and Memorial">
            <a:extLst>
              <a:ext uri="{FF2B5EF4-FFF2-40B4-BE49-F238E27FC236}">
                <a16:creationId xmlns:a16="http://schemas.microsoft.com/office/drawing/2014/main" id="{ACD1512D-B1F2-5B99-7E01-0C0414F924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7" t="5137" b="23669"/>
          <a:stretch>
            <a:fillRect/>
          </a:stretch>
        </p:blipFill>
        <p:spPr>
          <a:xfrm>
            <a:off x="9426388" y="2040545"/>
            <a:ext cx="2105624" cy="2387600"/>
          </a:xfrm>
          <a:prstGeom prst="rect">
            <a:avLst/>
          </a:prstGeom>
        </p:spPr>
      </p:pic>
      <p:pic>
        <p:nvPicPr>
          <p:cNvPr id="6" name="Picture 5" descr="Army campaign targets 'snowflake' millennials - BBC News">
            <a:extLst>
              <a:ext uri="{FF2B5EF4-FFF2-40B4-BE49-F238E27FC236}">
                <a16:creationId xmlns:a16="http://schemas.microsoft.com/office/drawing/2014/main" id="{E23BEC52-166A-2324-5B57-606191D8B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92" y="2067439"/>
            <a:ext cx="1796392" cy="2208679"/>
          </a:xfrm>
          <a:prstGeom prst="rect">
            <a:avLst/>
          </a:prstGeom>
        </p:spPr>
      </p:pic>
      <p:pic>
        <p:nvPicPr>
          <p:cNvPr id="7" name="Picture 6" descr="Quantum Software Lab · GitHub">
            <a:extLst>
              <a:ext uri="{FF2B5EF4-FFF2-40B4-BE49-F238E27FC236}">
                <a16:creationId xmlns:a16="http://schemas.microsoft.com/office/drawing/2014/main" id="{A8441036-737A-9135-2A4D-504DE024D0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8000" b="65500" l="5500" r="95500">
                        <a14:foregroundMark x1="5500" y1="50500" x2="5500" y2="50500"/>
                        <a14:foregroundMark x1="40500" y1="45500" x2="40500" y2="45500"/>
                        <a14:foregroundMark x1="26000" y1="61500" x2="26000" y2="61500"/>
                        <a14:foregroundMark x1="7500" y1="54000" x2="7500" y2="54000"/>
                        <a14:foregroundMark x1="46500" y1="51000" x2="46500" y2="51000"/>
                        <a14:foregroundMark x1="65500" y1="49000" x2="65500" y2="49000"/>
                        <a14:foregroundMark x1="93000" y1="49500" x2="93000" y2="49500"/>
                        <a14:foregroundMark x1="95500" y1="51000" x2="95500" y2="51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4813" b="30875"/>
          <a:stretch>
            <a:fillRect/>
          </a:stretch>
        </p:blipFill>
        <p:spPr bwMode="auto">
          <a:xfrm>
            <a:off x="6041324" y="5746818"/>
            <a:ext cx="1613560" cy="55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The University of Edinburgh | Edinburgh">
            <a:extLst>
              <a:ext uri="{FF2B5EF4-FFF2-40B4-BE49-F238E27FC236}">
                <a16:creationId xmlns:a16="http://schemas.microsoft.com/office/drawing/2014/main" id="{A3DE8750-E6AF-3851-6A38-90A9FA997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35556" y1="29778" x2="44000" y2="37778"/>
                        <a14:foregroundMark x1="20889" y1="51556" x2="20889" y2="43111"/>
                        <a14:foregroundMark x1="76444" y1="43111" x2="76444" y2="49778"/>
                        <a14:foregroundMark x1="52889" y1="35111" x2="62222" y2="28000"/>
                        <a14:foregroundMark x1="36889" y1="73778" x2="62667" y2="41333"/>
                        <a14:foregroundMark x1="62667" y1="41333" x2="36000" y2="45778"/>
                        <a14:foregroundMark x1="36000" y1="45333" x2="36000" y2="56444"/>
                        <a14:foregroundMark x1="64444" y1="39111" x2="64000" y2="57778"/>
                        <a14:foregroundMark x1="50667" y1="82222" x2="58667" y2="782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7855" y="5438020"/>
            <a:ext cx="1171249" cy="11712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71698-4D43-77A3-304F-747C35D74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231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DD75E6-E0B8-B905-222D-EC136E565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05" y="1399142"/>
            <a:ext cx="11066929" cy="46711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</a:t>
            </a:r>
          </a:p>
          <a:p>
            <a:pPr marL="0" indent="0" algn="ctr">
              <a:buNone/>
            </a:pP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is </a:t>
            </a:r>
          </a:p>
          <a:p>
            <a:pPr marL="0" indent="0" algn="ctr">
              <a:buNone/>
            </a:pP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a</a:t>
            </a:r>
            <a:r>
              <a:rPr lang="en-GB" sz="40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</a:t>
            </a: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,</a:t>
            </a:r>
            <a:endParaRPr lang="en-GB" sz="40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  <a:p>
            <a:pPr marL="0" indent="0" algn="ctr">
              <a:buNone/>
            </a:pP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40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</a:t>
            </a:r>
          </a:p>
          <a:p>
            <a:pPr marL="0" indent="0" algn="ctr">
              <a:buNone/>
            </a:pP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are the kind of thing </a:t>
            </a:r>
            <a:r>
              <a:rPr lang="en-GB" sz="40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40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EFCF1C-DB3C-E0D7-3595-FD84A2DE4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1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o take the bull by the horns | Grammar Zone">
            <a:extLst>
              <a:ext uri="{FF2B5EF4-FFF2-40B4-BE49-F238E27FC236}">
                <a16:creationId xmlns:a16="http://schemas.microsoft.com/office/drawing/2014/main" id="{7A425BC7-B4C5-D645-26C0-0F24998002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04" b="15402"/>
          <a:stretch>
            <a:fillRect/>
          </a:stretch>
        </p:blipFill>
        <p:spPr>
          <a:xfrm>
            <a:off x="10057839" y="49213"/>
            <a:ext cx="2000250" cy="1368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E985E8-2070-F86C-7ED1-E5CF1AC0D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Quantum?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7814-75ED-8278-C927-63C11F54C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Qubits vs Bits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12D33A6-928D-3946-9260-011702AA816A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5" name="Picture 4" descr="Light switch Vectors, Clipart &amp; Illustrations for Free Download - illustAC">
            <a:extLst>
              <a:ext uri="{FF2B5EF4-FFF2-40B4-BE49-F238E27FC236}">
                <a16:creationId xmlns:a16="http://schemas.microsoft.com/office/drawing/2014/main" id="{A259AD29-BB58-9180-1BCD-14D16B2CF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66" y="3352800"/>
            <a:ext cx="3665342" cy="23737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BE944D-2C1E-2863-5443-A4633193569D}"/>
              </a:ext>
            </a:extLst>
          </p:cNvPr>
          <p:cNvSpPr txBox="1"/>
          <p:nvPr/>
        </p:nvSpPr>
        <p:spPr>
          <a:xfrm>
            <a:off x="2220191" y="2358380"/>
            <a:ext cx="1496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BITS</a:t>
            </a:r>
          </a:p>
        </p:txBody>
      </p:sp>
      <p:pic>
        <p:nvPicPr>
          <p:cNvPr id="10" name="Picture 9" descr="Punched Cards - CHM Revolution">
            <a:extLst>
              <a:ext uri="{FF2B5EF4-FFF2-40B4-BE49-F238E27FC236}">
                <a16:creationId xmlns:a16="http://schemas.microsoft.com/office/drawing/2014/main" id="{7ECC01F9-475A-634C-212B-216B8E044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017" y="1027906"/>
            <a:ext cx="2464364" cy="11253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CA29B7-217A-FB4F-B080-3371D90E3357}"/>
              </a:ext>
            </a:extLst>
          </p:cNvPr>
          <p:cNvSpPr txBox="1"/>
          <p:nvPr/>
        </p:nvSpPr>
        <p:spPr>
          <a:xfrm>
            <a:off x="7029450" y="2168803"/>
            <a:ext cx="13334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i="0" u="none" strike="noStrike" dirty="0">
                <a:effectLst/>
                <a:latin typeface="Google Sans"/>
              </a:rPr>
              <a:t>Punch card</a:t>
            </a:r>
            <a:endParaRPr lang="en-US" dirty="0"/>
          </a:p>
        </p:txBody>
      </p:sp>
      <p:pic>
        <p:nvPicPr>
          <p:cNvPr id="12" name="Picture 11" descr="First Generation Computers | The Evolution of Computers">
            <a:extLst>
              <a:ext uri="{FF2B5EF4-FFF2-40B4-BE49-F238E27FC236}">
                <a16:creationId xmlns:a16="http://schemas.microsoft.com/office/drawing/2014/main" id="{9B428F34-272C-8379-441B-300CB9982E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133" y="1905000"/>
            <a:ext cx="965200" cy="1447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5BFD952-C018-E996-6C08-618ED2DF91C5}"/>
              </a:ext>
            </a:extLst>
          </p:cNvPr>
          <p:cNvSpPr txBox="1"/>
          <p:nvPr/>
        </p:nvSpPr>
        <p:spPr>
          <a:xfrm>
            <a:off x="9824102" y="3482333"/>
            <a:ext cx="1621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i="0" u="none" strike="noStrike" dirty="0">
                <a:effectLst/>
                <a:latin typeface="Google Sans"/>
              </a:rPr>
              <a:t>Vacuum tube</a:t>
            </a:r>
            <a:endParaRPr lang="en-US" dirty="0"/>
          </a:p>
        </p:txBody>
      </p:sp>
      <p:pic>
        <p:nvPicPr>
          <p:cNvPr id="14" name="Picture 13" descr="A UNIVAC MERCURY DELAY LINE MEMORY, REMINGTON RAND UNIVAC, CIRCA 1951 |  Christie's">
            <a:extLst>
              <a:ext uri="{FF2B5EF4-FFF2-40B4-BE49-F238E27FC236}">
                <a16:creationId xmlns:a16="http://schemas.microsoft.com/office/drawing/2014/main" id="{AB8691FA-8136-5B7C-EA51-FA7866D52D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062" y="3110922"/>
            <a:ext cx="2147319" cy="142875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C8E132-64C4-382E-C992-3DB38F560928}"/>
              </a:ext>
            </a:extLst>
          </p:cNvPr>
          <p:cNvSpPr txBox="1"/>
          <p:nvPr/>
        </p:nvSpPr>
        <p:spPr>
          <a:xfrm>
            <a:off x="6464017" y="4355006"/>
            <a:ext cx="3200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Google Sans"/>
              </a:rPr>
              <a:t>Mercury delay-line memory</a:t>
            </a:r>
            <a:endParaRPr lang="en-US" dirty="0"/>
          </a:p>
        </p:txBody>
      </p:sp>
      <p:pic>
        <p:nvPicPr>
          <p:cNvPr id="18" name="Picture 17" descr="Next-Generation DVD Technologies | CyberLink">
            <a:extLst>
              <a:ext uri="{FF2B5EF4-FFF2-40B4-BE49-F238E27FC236}">
                <a16:creationId xmlns:a16="http://schemas.microsoft.com/office/drawing/2014/main" id="{7FAB1B45-FDAD-0E42-B7B3-20FCFCA542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6333" y="4102218"/>
            <a:ext cx="1541092" cy="154109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03A4DD2-3834-3139-2505-BE9F57CB41D5}"/>
              </a:ext>
            </a:extLst>
          </p:cNvPr>
          <p:cNvSpPr txBox="1"/>
          <p:nvPr/>
        </p:nvSpPr>
        <p:spPr>
          <a:xfrm>
            <a:off x="10235051" y="5725470"/>
            <a:ext cx="28324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Google Sans"/>
              </a:rPr>
              <a:t>DVDs</a:t>
            </a:r>
            <a:endParaRPr lang="en-US" dirty="0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595E7CC3-CECE-44BC-07B5-247A4371D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361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3D090-6615-C649-D559-0DB4F783B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o take the bull by the horns | Grammar Zone">
            <a:extLst>
              <a:ext uri="{FF2B5EF4-FFF2-40B4-BE49-F238E27FC236}">
                <a16:creationId xmlns:a16="http://schemas.microsoft.com/office/drawing/2014/main" id="{D74FA6C4-3D0A-B649-D5EC-39646DD46D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04" b="15402"/>
          <a:stretch>
            <a:fillRect/>
          </a:stretch>
        </p:blipFill>
        <p:spPr>
          <a:xfrm>
            <a:off x="10057839" y="49213"/>
            <a:ext cx="2000250" cy="136807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DAD0DC-D5DD-C809-C7F1-62CFAFE9D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Quantum?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D9FE2-647F-6468-D39C-59070B50DB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>
                <a:solidFill>
                  <a:srgbClr val="FF0000"/>
                </a:solidFill>
              </a:rPr>
              <a:t>Qubits vs Bits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F99166F-B023-A46A-189C-B1D5ADA258FE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A0CB98-6ECA-2C2A-CFA9-94025E3D0774}"/>
              </a:ext>
            </a:extLst>
          </p:cNvPr>
          <p:cNvSpPr txBox="1"/>
          <p:nvPr/>
        </p:nvSpPr>
        <p:spPr>
          <a:xfrm>
            <a:off x="5098473" y="33528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 descr="Light switch Vectors, Clipart &amp; Illustrations for Free Download - illustAC">
            <a:extLst>
              <a:ext uri="{FF2B5EF4-FFF2-40B4-BE49-F238E27FC236}">
                <a16:creationId xmlns:a16="http://schemas.microsoft.com/office/drawing/2014/main" id="{D61CADF9-A31F-AE93-ED94-F10296D429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66" y="3352800"/>
            <a:ext cx="3665342" cy="2373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CDFE46-F644-AEE4-CD02-14FD50F84F1B}"/>
              </a:ext>
            </a:extLst>
          </p:cNvPr>
          <p:cNvSpPr txBox="1"/>
          <p:nvPr/>
        </p:nvSpPr>
        <p:spPr>
          <a:xfrm>
            <a:off x="2220191" y="2358380"/>
            <a:ext cx="1496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BITS</a:t>
            </a:r>
          </a:p>
        </p:txBody>
      </p:sp>
      <p:pic>
        <p:nvPicPr>
          <p:cNvPr id="9" name="Picture 8" descr="The Bloch sphere provides a useful means of visualizing the state of a... |  Download Scientific Diagram">
            <a:extLst>
              <a:ext uri="{FF2B5EF4-FFF2-40B4-BE49-F238E27FC236}">
                <a16:creationId xmlns:a16="http://schemas.microsoft.com/office/drawing/2014/main" id="{56FB9819-9E09-12A6-F5AC-3E824DCFF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9577" y="2891135"/>
            <a:ext cx="3412232" cy="30910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0F6FFE-0C02-1D98-8A59-661FEDEA97BB}"/>
              </a:ext>
            </a:extLst>
          </p:cNvPr>
          <p:cNvSpPr txBox="1"/>
          <p:nvPr/>
        </p:nvSpPr>
        <p:spPr>
          <a:xfrm>
            <a:off x="7517547" y="2294533"/>
            <a:ext cx="14962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QUBITS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32D37E-7635-B50B-A402-62A455AD65A9}"/>
              </a:ext>
            </a:extLst>
          </p:cNvPr>
          <p:cNvSpPr txBox="1"/>
          <p:nvPr/>
        </p:nvSpPr>
        <p:spPr>
          <a:xfrm>
            <a:off x="5283204" y="14562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i="0" u="none" strike="noStrike" dirty="0">
                <a:effectLst/>
                <a:latin typeface="Google Sans"/>
              </a:rPr>
              <a:t>two-dimensional complex vector space</a:t>
            </a:r>
            <a:r>
              <a:rPr lang="en-GB" b="0" i="0" u="none" strike="noStrike" dirty="0">
                <a:effectLst/>
                <a:latin typeface="-webkit-standard"/>
              </a:rPr>
              <a:t> (Hilbert space)</a:t>
            </a:r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6ACBD87-C310-996D-BAB1-523B9A72A88F}"/>
              </a:ext>
            </a:extLst>
          </p:cNvPr>
          <p:cNvCxnSpPr/>
          <p:nvPr/>
        </p:nvCxnSpPr>
        <p:spPr>
          <a:xfrm>
            <a:off x="8063345" y="1825625"/>
            <a:ext cx="0" cy="468908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6786110-2049-DF30-82EF-0156E4CF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84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756635-6D2D-346C-7441-053B9EDAC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2A8BA-F5BE-5CA3-857C-F1FB2A7A6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Quantum?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533D9-8B56-C669-35A5-67EDAEA58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Qubits vs Bits</a:t>
            </a:r>
          </a:p>
          <a:p>
            <a:r>
              <a:rPr lang="en-GB" b="1" dirty="0">
                <a:solidFill>
                  <a:srgbClr val="FF0000"/>
                </a:solidFill>
              </a:rPr>
              <a:t>Qubits are physical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DE6338-BAC3-1478-11A6-4C2226BB210A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6" name="Picture 5" descr="To take the bull by the horns | Grammar Zone">
            <a:extLst>
              <a:ext uri="{FF2B5EF4-FFF2-40B4-BE49-F238E27FC236}">
                <a16:creationId xmlns:a16="http://schemas.microsoft.com/office/drawing/2014/main" id="{2847C866-7C6D-7AD5-76A1-58EE76E930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204" b="15402"/>
          <a:stretch>
            <a:fillRect/>
          </a:stretch>
        </p:blipFill>
        <p:spPr>
          <a:xfrm>
            <a:off x="10057839" y="49213"/>
            <a:ext cx="2000250" cy="136807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A0060C-9DE8-EFAC-2E5D-F7827C8087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4290" y="1825625"/>
            <a:ext cx="7389107" cy="40304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FAE1E86-BE77-1A2A-505E-A2B71019DB1F}"/>
              </a:ext>
            </a:extLst>
          </p:cNvPr>
          <p:cNvSpPr txBox="1"/>
          <p:nvPr/>
        </p:nvSpPr>
        <p:spPr>
          <a:xfrm>
            <a:off x="4961965" y="5832140"/>
            <a:ext cx="673127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b="0" i="1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Image created with AI (Gemini)</a:t>
            </a:r>
            <a:endParaRPr lang="en-US" sz="10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3A9E31E8-4482-FB5B-8BCF-DBB0C4EC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025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18106-14E6-B72F-A998-195B69D22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83844-7F0A-9B9F-E247-F7D8C32C6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Quantum?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5586E-F0D4-8252-CCCA-67EB3E434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Qubits vs Bits</a:t>
            </a:r>
          </a:p>
          <a:p>
            <a:r>
              <a:rPr lang="en-GB" dirty="0"/>
              <a:t>Qubits are physical</a:t>
            </a:r>
          </a:p>
          <a:p>
            <a:r>
              <a:rPr lang="en-GB" b="1" dirty="0">
                <a:solidFill>
                  <a:srgbClr val="FF0000"/>
                </a:solidFill>
              </a:rPr>
              <a:t>Qubits offer complexity advantages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63C9249-13D0-7D67-E4BC-F63D2F5A9399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9" name="Picture 8" descr="Happy Scientist Stock Illustrations – 11,615 Happy Scientist Stock  Illustrations, Vectors &amp; Clipart - Dreamstime">
            <a:extLst>
              <a:ext uri="{FF2B5EF4-FFF2-40B4-BE49-F238E27FC236}">
                <a16:creationId xmlns:a16="http://schemas.microsoft.com/office/drawing/2014/main" id="{5B9B3CA8-F1BD-C1F2-AC77-0C6888EBE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0131" y="130856"/>
            <a:ext cx="1591665" cy="15598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23DBE3-848E-5933-76F1-268197860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817" y="3666385"/>
            <a:ext cx="3609109" cy="7121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08F3F42-CF41-CFED-1033-EB505AA8E9DD}"/>
              </a:ext>
            </a:extLst>
          </p:cNvPr>
          <p:cNvSpPr txBox="1"/>
          <p:nvPr/>
        </p:nvSpPr>
        <p:spPr>
          <a:xfrm>
            <a:off x="2694255" y="4480648"/>
            <a:ext cx="3117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Simulating quantum systems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BC8A1-0AFC-45DB-C3B7-CEA9DC17DD5D}"/>
              </a:ext>
            </a:extLst>
          </p:cNvPr>
          <p:cNvSpPr txBox="1"/>
          <p:nvPr/>
        </p:nvSpPr>
        <p:spPr>
          <a:xfrm>
            <a:off x="9213273" y="4410961"/>
            <a:ext cx="3117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Factoring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82334B-043E-37C9-078B-59CCF2D65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272" y="3633821"/>
            <a:ext cx="3886200" cy="7772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BE6B59E-1DD8-17E0-9527-CA26CDDCB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189" y="4894527"/>
            <a:ext cx="4174890" cy="7772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9821D0D-502F-088E-6800-AAF14FECCDDD}"/>
              </a:ext>
            </a:extLst>
          </p:cNvPr>
          <p:cNvSpPr txBox="1"/>
          <p:nvPr/>
        </p:nvSpPr>
        <p:spPr>
          <a:xfrm>
            <a:off x="1003098" y="5760623"/>
            <a:ext cx="3117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Unstructured search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E0A9C06-CA79-AF79-BFA4-CDC1652C7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71184" y="4948925"/>
            <a:ext cx="5184300" cy="7975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B107451-9D46-B723-0CC3-4E061A82FEBC}"/>
              </a:ext>
            </a:extLst>
          </p:cNvPr>
          <p:cNvSpPr txBox="1"/>
          <p:nvPr/>
        </p:nvSpPr>
        <p:spPr>
          <a:xfrm>
            <a:off x="7161293" y="5768837"/>
            <a:ext cx="31172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Optimization &amp; ML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856EB1-0353-5BBE-7517-A966BCCAD0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8782" y="1774643"/>
            <a:ext cx="4315029" cy="144953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5E75035-5A16-3248-3866-B3A9C2D31F02}"/>
              </a:ext>
            </a:extLst>
          </p:cNvPr>
          <p:cNvSpPr txBox="1"/>
          <p:nvPr/>
        </p:nvSpPr>
        <p:spPr>
          <a:xfrm>
            <a:off x="8719930" y="3276465"/>
            <a:ext cx="22355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2">
                    <a:lumMod val="50000"/>
                  </a:schemeClr>
                </a:solidFill>
              </a:rPr>
              <a:t>Sampling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FC06C14-DA91-C3CD-0842-EFCB996CC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936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90220-B085-A179-BA9F-404E70111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B5848-FAD8-7C24-5056-66C34B0F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Quantum?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EADCA-1596-6DB5-D243-1DF06FCD9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Qubits vs Bits</a:t>
            </a:r>
          </a:p>
          <a:p>
            <a:r>
              <a:rPr lang="en-GB" dirty="0"/>
              <a:t>Qubits are physical</a:t>
            </a:r>
          </a:p>
          <a:p>
            <a:r>
              <a:rPr lang="en-GB" dirty="0"/>
              <a:t>Qubits offer complexity advantages</a:t>
            </a:r>
          </a:p>
          <a:p>
            <a:r>
              <a:rPr lang="en-GB" b="1" dirty="0">
                <a:solidFill>
                  <a:srgbClr val="FF0000"/>
                </a:solidFill>
              </a:rPr>
              <a:t>No-cloning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4B2C971-A7B3-FD2D-110D-C6094C1622A3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6" name="Picture 5" descr="Ghost | Premium Vector">
            <a:extLst>
              <a:ext uri="{FF2B5EF4-FFF2-40B4-BE49-F238E27FC236}">
                <a16:creationId xmlns:a16="http://schemas.microsoft.com/office/drawing/2014/main" id="{D1F7A9C3-8B1F-4215-59FA-54044A588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6964" y="0"/>
            <a:ext cx="1368051" cy="13680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09DDE6-E508-80CE-6EEB-1C8C3FED3979}"/>
              </a:ext>
            </a:extLst>
          </p:cNvPr>
          <p:cNvSpPr txBox="1"/>
          <p:nvPr/>
        </p:nvSpPr>
        <p:spPr>
          <a:xfrm>
            <a:off x="10475259" y="1296491"/>
            <a:ext cx="1716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The ghost of Quantum Mechanics</a:t>
            </a:r>
          </a:p>
        </p:txBody>
      </p:sp>
      <p:pic>
        <p:nvPicPr>
          <p:cNvPr id="4" name="Picture 3" descr="The No-Cloning Theorem in Quantum Information | by Satvik Arya | Medium">
            <a:extLst>
              <a:ext uri="{FF2B5EF4-FFF2-40B4-BE49-F238E27FC236}">
                <a16:creationId xmlns:a16="http://schemas.microsoft.com/office/drawing/2014/main" id="{D468938E-BC4C-DA2A-5943-AEB507D84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826" y="3597441"/>
            <a:ext cx="6300824" cy="2380811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0C90D-8D89-45F7-7927-25C9D46C2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171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EE9B1-1C50-B689-15F8-DC7E6946D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E0CD1-3940-3402-665E-176A30091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Quantum?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A3248D-8B19-3922-5D51-952C25844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Qubits vs Bits</a:t>
            </a:r>
          </a:p>
          <a:p>
            <a:r>
              <a:rPr lang="en-GB" dirty="0"/>
              <a:t>Qubits are physical</a:t>
            </a:r>
          </a:p>
          <a:p>
            <a:r>
              <a:rPr lang="en-GB" dirty="0"/>
              <a:t>Qubits offer complexity advantages</a:t>
            </a:r>
          </a:p>
          <a:p>
            <a:r>
              <a:rPr lang="en-GB" dirty="0"/>
              <a:t>No-cloning</a:t>
            </a:r>
          </a:p>
          <a:p>
            <a:r>
              <a:rPr lang="en-GB" b="1" dirty="0">
                <a:solidFill>
                  <a:srgbClr val="FF0000"/>
                </a:solidFill>
              </a:rPr>
              <a:t>Our enemy: </a:t>
            </a:r>
            <a:r>
              <a:rPr lang="en-GB" b="1" i="1" dirty="0">
                <a:solidFill>
                  <a:srgbClr val="FF0000"/>
                </a:solidFill>
              </a:rPr>
              <a:t>decoherence </a:t>
            </a:r>
            <a:r>
              <a:rPr lang="en-GB" b="1" dirty="0">
                <a:solidFill>
                  <a:srgbClr val="FF0000"/>
                </a:solidFill>
              </a:rPr>
              <a:t>(noise)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75C8416-7E84-98F0-9FF5-4B641FD6E05C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9" name="Picture 8" descr="Ghost | Premium Vector">
            <a:extLst>
              <a:ext uri="{FF2B5EF4-FFF2-40B4-BE49-F238E27FC236}">
                <a16:creationId xmlns:a16="http://schemas.microsoft.com/office/drawing/2014/main" id="{05A887DD-9AAD-5472-22C0-45D0A73CF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6964" y="0"/>
            <a:ext cx="1368051" cy="136805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365DA04-C61A-A192-4851-0D5CF029D9E9}"/>
              </a:ext>
            </a:extLst>
          </p:cNvPr>
          <p:cNvSpPr txBox="1"/>
          <p:nvPr/>
        </p:nvSpPr>
        <p:spPr>
          <a:xfrm>
            <a:off x="10475259" y="1296491"/>
            <a:ext cx="1716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The ghost of Quantum Mechanics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A236CC-1D49-6C7B-CBF3-B6425BEAD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573" y="2299417"/>
            <a:ext cx="4544119" cy="25580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CA7885-904D-2DD2-7515-A9487D52EF63}"/>
              </a:ext>
            </a:extLst>
          </p:cNvPr>
          <p:cNvSpPr txBox="1"/>
          <p:nvPr/>
        </p:nvSpPr>
        <p:spPr>
          <a:xfrm>
            <a:off x="7063573" y="5147905"/>
            <a:ext cx="464291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PopSci</a:t>
            </a:r>
            <a:r>
              <a:rPr lang="en-GB" sz="10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GB" sz="10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Youtube</a:t>
            </a:r>
            <a:r>
              <a:rPr lang="en-GB" sz="10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video by Sabine </a:t>
            </a:r>
            <a:r>
              <a:rPr lang="en-GB" sz="10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Hossenfelder</a:t>
            </a:r>
            <a:endParaRPr lang="en-US" sz="10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EA222-10F8-EC27-F989-4B7CEE1C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8442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97BE8-A2F7-E143-1419-EBD5150F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quantum advantage </a:t>
            </a:r>
            <a:r>
              <a:rPr lang="en-GB" b="1" i="1" dirty="0"/>
              <a:t>desires</a:t>
            </a:r>
            <a:endParaRPr lang="en-US" b="1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355FCE-5DFD-BB84-52F1-8D8225D3F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8174" y="2464135"/>
            <a:ext cx="1107310" cy="15875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AC7C7CF-2794-7721-53F2-A9597DD702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326" y="4280429"/>
            <a:ext cx="1096454" cy="15652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137005-9A45-43EB-C91B-8DFD97FC5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1323" y="2447365"/>
            <a:ext cx="1042174" cy="1621133"/>
          </a:xfrm>
          <a:prstGeom prst="rect">
            <a:avLst/>
          </a:prstGeom>
        </p:spPr>
      </p:pic>
      <p:pic>
        <p:nvPicPr>
          <p:cNvPr id="17" name="Picture 16" descr="Comparison of classical and quantum computer networks. The left... |  Download Scientific Diagram">
            <a:extLst>
              <a:ext uri="{FF2B5EF4-FFF2-40B4-BE49-F238E27FC236}">
                <a16:creationId xmlns:a16="http://schemas.microsoft.com/office/drawing/2014/main" id="{6C1D37C9-1F11-BF5C-1AF3-FAF2A5670ED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3055" b="13621"/>
          <a:stretch>
            <a:fillRect/>
          </a:stretch>
        </p:blipFill>
        <p:spPr>
          <a:xfrm>
            <a:off x="5717232" y="2412100"/>
            <a:ext cx="2754415" cy="283225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6E182244-C533-EADA-8C9E-C8C854628712}"/>
              </a:ext>
            </a:extLst>
          </p:cNvPr>
          <p:cNvSpPr txBox="1"/>
          <p:nvPr/>
        </p:nvSpPr>
        <p:spPr>
          <a:xfrm>
            <a:off x="1824150" y="1717953"/>
            <a:ext cx="2528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COMPUTE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70FFD3-7A53-86E4-8742-A920E75FC78F}"/>
              </a:ext>
            </a:extLst>
          </p:cNvPr>
          <p:cNvSpPr txBox="1"/>
          <p:nvPr/>
        </p:nvSpPr>
        <p:spPr>
          <a:xfrm>
            <a:off x="5717232" y="1717953"/>
            <a:ext cx="3830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COMMUNICATION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2B285A5-B140-689E-C6D7-53656875DD2F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F7C802-A653-DCF1-2798-817215538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129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A3A67-BAC5-8C09-56C7-5128AEDA5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041E3-15BB-C3E2-D227-F745931FD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quantum advantage </a:t>
            </a:r>
            <a:r>
              <a:rPr lang="en-GB" b="1" i="1" dirty="0"/>
              <a:t>desires</a:t>
            </a:r>
            <a:endParaRPr lang="en-US" b="1" i="1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192B58F-A6B7-ABD4-D886-EFED3ED57258}"/>
              </a:ext>
            </a:extLst>
          </p:cNvPr>
          <p:cNvGrpSpPr/>
          <p:nvPr/>
        </p:nvGrpSpPr>
        <p:grpSpPr>
          <a:xfrm>
            <a:off x="1663326" y="2447365"/>
            <a:ext cx="2532158" cy="3487738"/>
            <a:chOff x="574113" y="1973263"/>
            <a:chExt cx="2962277" cy="396184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916A6FB-A3B5-9245-5573-1B93C24CB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40990" y="4055503"/>
              <a:ext cx="1257300" cy="187960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F1F7DB2-4AD4-0821-CC79-8D1A133B96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0990" y="1992313"/>
              <a:ext cx="1295400" cy="18034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D9BF4B5-9322-0431-B322-7DA1179260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4113" y="4055503"/>
              <a:ext cx="1282700" cy="17780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3F4B707-E1C2-66F4-D96C-BE74BE36A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8564" y="1973263"/>
              <a:ext cx="1219200" cy="1841500"/>
            </a:xfrm>
            <a:prstGeom prst="rect">
              <a:avLst/>
            </a:prstGeom>
          </p:spPr>
        </p:pic>
      </p:grpSp>
      <p:pic>
        <p:nvPicPr>
          <p:cNvPr id="3" name="Picture 2" descr="Comparison of classical and quantum computer networks. The left... |  Download Scientific Diagram">
            <a:extLst>
              <a:ext uri="{FF2B5EF4-FFF2-40B4-BE49-F238E27FC236}">
                <a16:creationId xmlns:a16="http://schemas.microsoft.com/office/drawing/2014/main" id="{95E8541F-2B67-016E-70FB-D4065B5C5C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7232" y="2412100"/>
            <a:ext cx="5867436" cy="32788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A97AD3C-3868-7763-BB86-E827B7214961}"/>
              </a:ext>
            </a:extLst>
          </p:cNvPr>
          <p:cNvSpPr txBox="1"/>
          <p:nvPr/>
        </p:nvSpPr>
        <p:spPr>
          <a:xfrm>
            <a:off x="6096000" y="5845661"/>
            <a:ext cx="60959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0" i="1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Xu, Xinyao, et al. "Optomechanical microwave-to-optical photon transducer chips: </a:t>
            </a:r>
          </a:p>
          <a:p>
            <a:r>
              <a:rPr lang="en-GB" sz="1000" b="0" i="1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Empowering the quantum internet revolution." </a:t>
            </a:r>
            <a:r>
              <a:rPr lang="en-GB" sz="1000" b="0" i="1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Micromachines</a:t>
            </a:r>
            <a:r>
              <a:rPr lang="en-GB" sz="1000" b="0" i="1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 15.4 (2024)</a:t>
            </a:r>
            <a:endParaRPr lang="en-US" sz="10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CFD1F7-651A-77B5-D26D-BF2C8567D749}"/>
              </a:ext>
            </a:extLst>
          </p:cNvPr>
          <p:cNvSpPr txBox="1"/>
          <p:nvPr/>
        </p:nvSpPr>
        <p:spPr>
          <a:xfrm>
            <a:off x="1824150" y="1717953"/>
            <a:ext cx="25280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COMPUTE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911B82-CD81-2D33-C4EC-FA3669ACD9C8}"/>
              </a:ext>
            </a:extLst>
          </p:cNvPr>
          <p:cNvSpPr txBox="1"/>
          <p:nvPr/>
        </p:nvSpPr>
        <p:spPr>
          <a:xfrm>
            <a:off x="5717232" y="1717953"/>
            <a:ext cx="38301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COMMUNICATION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F8BFA32-DC21-47D3-8377-9825EAE101E1}"/>
              </a:ext>
            </a:extLst>
          </p:cNvPr>
          <p:cNvSpPr/>
          <p:nvPr/>
        </p:nvSpPr>
        <p:spPr>
          <a:xfrm>
            <a:off x="2743497" y="4235860"/>
            <a:ext cx="1896035" cy="179229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57E49DE-770F-A3B5-E3CF-702B8366A852}"/>
              </a:ext>
            </a:extLst>
          </p:cNvPr>
          <p:cNvSpPr/>
          <p:nvPr/>
        </p:nvSpPr>
        <p:spPr>
          <a:xfrm>
            <a:off x="8565777" y="4975412"/>
            <a:ext cx="1694330" cy="87024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2083B24-2E84-AC2B-5AF6-B6A8F323515B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F97B3-ACA1-53DA-9DB0-1E8FA7A8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705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253E0-FDF1-6FC3-365D-543AA0DFE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7E2DB-4D91-30A6-A3ED-0F42A84B0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quantum advantage </a:t>
            </a:r>
            <a:r>
              <a:rPr lang="en-GB" b="1" i="1" dirty="0"/>
              <a:t>needs</a:t>
            </a:r>
            <a:r>
              <a:rPr lang="en-GB" dirty="0"/>
              <a:t> 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2B53E7-7D45-5A04-23B7-7744575DD50F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1850580-B0C6-3415-94AF-A77802390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55" y="3903961"/>
            <a:ext cx="6247422" cy="14290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BF5E657-015D-6176-D1C4-E328500B0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99" y="1525026"/>
            <a:ext cx="7772400" cy="1896336"/>
          </a:xfrm>
          <a:prstGeom prst="rect">
            <a:avLst/>
          </a:prstGeo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F429CEBF-74BC-D45D-861A-9E9BCA1AB0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886200" y="4811685"/>
            <a:ext cx="8023944" cy="14290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EEEF25C-3303-FB53-746D-9207503A56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3171" y="2314631"/>
            <a:ext cx="7666974" cy="18963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F215EB-74A7-4DA5-88B2-8FF527932815}"/>
              </a:ext>
            </a:extLst>
          </p:cNvPr>
          <p:cNvSpPr txBox="1"/>
          <p:nvPr/>
        </p:nvSpPr>
        <p:spPr>
          <a:xfrm>
            <a:off x="970671" y="3249827"/>
            <a:ext cx="100443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6600" b="1" dirty="0">
                <a:solidFill>
                  <a:srgbClr val="FF0000"/>
                </a:solidFill>
                <a:highlight>
                  <a:srgbClr val="C0C0C0"/>
                </a:highlight>
              </a:rPr>
              <a:t>~10⁵–10⁷ </a:t>
            </a:r>
            <a:r>
              <a:rPr lang="en-GB" sz="6600" b="1" i="1" dirty="0">
                <a:solidFill>
                  <a:srgbClr val="FF0000"/>
                </a:solidFill>
                <a:highlight>
                  <a:srgbClr val="C0C0C0"/>
                </a:highlight>
              </a:rPr>
              <a:t>physical</a:t>
            </a:r>
            <a:r>
              <a:rPr lang="en-GB" sz="6600" b="1" dirty="0">
                <a:solidFill>
                  <a:srgbClr val="FF0000"/>
                </a:solidFill>
                <a:highlight>
                  <a:srgbClr val="C0C0C0"/>
                </a:highlight>
              </a:rPr>
              <a:t> qubits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26B75-A493-736B-D1D3-01E69C829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175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A3915-5204-2CA6-D938-BD351B8CD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C8A7-11E8-3CDE-FB2E-AF4C026E9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quantum advantage needs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C2553-3FC5-9CD5-9A94-BC1B38AF1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9554" y="5550475"/>
            <a:ext cx="10515600" cy="744351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We ran out of room on the chip, so … </a:t>
            </a:r>
            <a:r>
              <a:rPr lang="en-GB" b="1" dirty="0">
                <a:solidFill>
                  <a:srgbClr val="FF0000"/>
                </a:solidFill>
              </a:rPr>
              <a:t>we plugged in a network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5ACB709-1507-7171-B49C-28B67E2536B9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4" name="Picture 3" descr="qubit_scaling.png">
            <a:extLst>
              <a:ext uri="{FF2B5EF4-FFF2-40B4-BE49-F238E27FC236}">
                <a16:creationId xmlns:a16="http://schemas.microsoft.com/office/drawing/2014/main" id="{3EA8A34E-436E-74B5-98C0-326EC47721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1851397"/>
            <a:ext cx="6035040" cy="350102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98CF3-D5AC-A2B9-AC87-D7AE3C1C7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65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55768-CC13-2741-E515-B656BD17B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Classical Networks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C9F3D85-A320-6D0C-8121-1E617EE52F03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9" name="Picture 8" descr="IBM roadmap to quantum-centric supercomputers (Updated 2024) | IBM Quantum  Computing Blog">
            <a:extLst>
              <a:ext uri="{FF2B5EF4-FFF2-40B4-BE49-F238E27FC236}">
                <a16:creationId xmlns:a16="http://schemas.microsoft.com/office/drawing/2014/main" id="{F470213F-3B50-1248-B785-12E7589195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218" y="1690688"/>
            <a:ext cx="7772400" cy="437197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424FC3D-FB04-767B-1F27-04B9AC0F8794}"/>
              </a:ext>
            </a:extLst>
          </p:cNvPr>
          <p:cNvSpPr/>
          <p:nvPr/>
        </p:nvSpPr>
        <p:spPr>
          <a:xfrm>
            <a:off x="4684542" y="3876675"/>
            <a:ext cx="1010067" cy="179229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IBM Advances Quantum Computing Roadmap with Heron Chip and System Two  Launch - Electronics-Lab">
            <a:extLst>
              <a:ext uri="{FF2B5EF4-FFF2-40B4-BE49-F238E27FC236}">
                <a16:creationId xmlns:a16="http://schemas.microsoft.com/office/drawing/2014/main" id="{4C3CA51C-36C5-3089-4C91-073FB1EF9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283088" y="621422"/>
            <a:ext cx="3592243" cy="2394829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6D01C9-DB06-5325-3E71-F65AF514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607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3579D-50ED-E268-4788-005DE4DA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E159F-773D-BEC1-1427-52EAB27D3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computing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B5AFAF2-C832-5C40-EF29-C6BAB0397DF5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3" name="Picture 2" descr="How to create a quantum circuit. A beginner's guide to quantum circuits… |  by Jennifer Tran | Medium">
            <a:extLst>
              <a:ext uri="{FF2B5EF4-FFF2-40B4-BE49-F238E27FC236}">
                <a16:creationId xmlns:a16="http://schemas.microsoft.com/office/drawing/2014/main" id="{E6B205DA-5979-B52E-70F7-486427C0D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512" y="1881494"/>
            <a:ext cx="7772400" cy="359195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D2B00C-BEC9-ABFC-4CD8-8ED236E9E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8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FB060-0EB4-A17F-C267-733DFF930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DA03B-37C5-E9E0-890C-024735DD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computing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9E1D75-3627-A35C-C966-1D120A9AD6AB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4" name="Picture 3" descr="1-4. Quantum circuit diagram — Quantum Native Dojo documentation">
            <a:extLst>
              <a:ext uri="{FF2B5EF4-FFF2-40B4-BE49-F238E27FC236}">
                <a16:creationId xmlns:a16="http://schemas.microsoft.com/office/drawing/2014/main" id="{445C0F2A-6637-DF85-00B6-E3B7FB68F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85" y="1842866"/>
            <a:ext cx="6804830" cy="221099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390EA42-FC8B-336F-172E-549DBE6A0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01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66836-082F-1469-7B16-C0B51AAA6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C0271-C88D-9DF7-7AF9-1A4C3333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computing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7ED8D6E-4916-C211-2850-110EC9C24CE9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4" name="Picture 3" descr="1-4. Quantum circuit diagram — Quantum Native Dojo documentation">
            <a:extLst>
              <a:ext uri="{FF2B5EF4-FFF2-40B4-BE49-F238E27FC236}">
                <a16:creationId xmlns:a16="http://schemas.microsoft.com/office/drawing/2014/main" id="{7C21A1BF-245E-9692-F5F7-6757CB64E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85" y="1842866"/>
            <a:ext cx="6804830" cy="2210997"/>
          </a:xfrm>
          <a:prstGeom prst="rect">
            <a:avLst/>
          </a:prstGeom>
        </p:spPr>
      </p:pic>
      <p:pic>
        <p:nvPicPr>
          <p:cNvPr id="11" name="Picture 10" descr="Red Laser Pointer Emitting Beam Stock Vector (Royalty Free) 2710533673 |  Shutterstock">
            <a:extLst>
              <a:ext uri="{FF2B5EF4-FFF2-40B4-BE49-F238E27FC236}">
                <a16:creationId xmlns:a16="http://schemas.microsoft.com/office/drawing/2014/main" id="{9EA82724-8570-7089-BADF-570AEBB108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" t="20031" r="-57" b="30167"/>
          <a:stretch>
            <a:fillRect/>
          </a:stretch>
        </p:blipFill>
        <p:spPr>
          <a:xfrm flipH="1">
            <a:off x="2447778" y="4321211"/>
            <a:ext cx="2014512" cy="432178"/>
          </a:xfrm>
          <a:prstGeom prst="rect">
            <a:avLst/>
          </a:prstGeom>
        </p:spPr>
      </p:pic>
      <p:pic>
        <p:nvPicPr>
          <p:cNvPr id="12" name="Picture 11" descr="Red Laser Pointer Emitting Beam Stock Vector (Royalty Free) 2710533673 |  Shutterstock">
            <a:extLst>
              <a:ext uri="{FF2B5EF4-FFF2-40B4-BE49-F238E27FC236}">
                <a16:creationId xmlns:a16="http://schemas.microsoft.com/office/drawing/2014/main" id="{89603A64-99EF-CD6C-AF23-FD0793ACB6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" t="20031" r="-57" b="30167"/>
          <a:stretch>
            <a:fillRect/>
          </a:stretch>
        </p:blipFill>
        <p:spPr>
          <a:xfrm flipH="1">
            <a:off x="2447778" y="5475277"/>
            <a:ext cx="2014512" cy="43217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788E56-7934-3E26-66A8-8008DAC2B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673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97C15-66E8-E464-BBE7-FE39E9AE2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287E6-4096-4584-5A61-8A931DBC8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computing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707FF33-E2FF-D330-A618-59F0B4EBC7D6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4" name="Picture 3" descr="1-4. Quantum circuit diagram — Quantum Native Dojo documentation">
            <a:extLst>
              <a:ext uri="{FF2B5EF4-FFF2-40B4-BE49-F238E27FC236}">
                <a16:creationId xmlns:a16="http://schemas.microsoft.com/office/drawing/2014/main" id="{3074F6F1-A3A0-B8EC-1A53-692C618AD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85" y="1842866"/>
            <a:ext cx="6804830" cy="2210997"/>
          </a:xfrm>
          <a:prstGeom prst="rect">
            <a:avLst/>
          </a:prstGeom>
        </p:spPr>
      </p:pic>
      <p:pic>
        <p:nvPicPr>
          <p:cNvPr id="8" name="Picture 7" descr="Thorlabs · Choosing a Wave Plate">
            <a:extLst>
              <a:ext uri="{FF2B5EF4-FFF2-40B4-BE49-F238E27FC236}">
                <a16:creationId xmlns:a16="http://schemas.microsoft.com/office/drawing/2014/main" id="{DD61F6ED-D153-0635-70CD-8A8DC916C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092" y="4106714"/>
            <a:ext cx="783240" cy="1109590"/>
          </a:xfrm>
          <a:prstGeom prst="rect">
            <a:avLst/>
          </a:prstGeom>
        </p:spPr>
      </p:pic>
      <p:pic>
        <p:nvPicPr>
          <p:cNvPr id="9" name="Picture 8" descr="Thorlabs · Choosing a Wave Plate">
            <a:extLst>
              <a:ext uri="{FF2B5EF4-FFF2-40B4-BE49-F238E27FC236}">
                <a16:creationId xmlns:a16="http://schemas.microsoft.com/office/drawing/2014/main" id="{60304755-4FB2-2D3B-D6DA-4CA703B879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092" y="5216304"/>
            <a:ext cx="783240" cy="1109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8134AA-FE40-671C-97DC-4CF5D75AD14A}"/>
              </a:ext>
            </a:extLst>
          </p:cNvPr>
          <p:cNvSpPr txBox="1"/>
          <p:nvPr/>
        </p:nvSpPr>
        <p:spPr>
          <a:xfrm>
            <a:off x="4296192" y="6246654"/>
            <a:ext cx="1569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0" i="1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Thor labs: wave plate </a:t>
            </a:r>
            <a:endParaRPr lang="en-US" sz="10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" name="Picture 10" descr="Red Laser Pointer Emitting Beam Stock Vector (Royalty Free) 2710533673 |  Shutterstock">
            <a:extLst>
              <a:ext uri="{FF2B5EF4-FFF2-40B4-BE49-F238E27FC236}">
                <a16:creationId xmlns:a16="http://schemas.microsoft.com/office/drawing/2014/main" id="{CD06EFA7-6C61-F5A9-69F1-A89AAB4DCC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" t="20031" r="-57" b="30167"/>
          <a:stretch>
            <a:fillRect/>
          </a:stretch>
        </p:blipFill>
        <p:spPr>
          <a:xfrm flipH="1">
            <a:off x="2447778" y="4321211"/>
            <a:ext cx="2014512" cy="432178"/>
          </a:xfrm>
          <a:prstGeom prst="rect">
            <a:avLst/>
          </a:prstGeom>
        </p:spPr>
      </p:pic>
      <p:pic>
        <p:nvPicPr>
          <p:cNvPr id="12" name="Picture 11" descr="Red Laser Pointer Emitting Beam Stock Vector (Royalty Free) 2710533673 |  Shutterstock">
            <a:extLst>
              <a:ext uri="{FF2B5EF4-FFF2-40B4-BE49-F238E27FC236}">
                <a16:creationId xmlns:a16="http://schemas.microsoft.com/office/drawing/2014/main" id="{03E6F036-6BB1-8BA9-228A-609E29D2E5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" t="20031" r="-57" b="30167"/>
          <a:stretch>
            <a:fillRect/>
          </a:stretch>
        </p:blipFill>
        <p:spPr>
          <a:xfrm flipH="1">
            <a:off x="2447778" y="5475277"/>
            <a:ext cx="2014512" cy="43217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0999FD-740B-7278-4090-81D24348B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2802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24E8-1027-C86F-DB9F-673F95C38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0B6FA-5064-39B5-D5A6-1CD60A8F7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computing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3AC2D4-C642-99E3-D19B-16F3CBDD52E3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4" name="Picture 3" descr="1-4. Quantum circuit diagram — Quantum Native Dojo documentation">
            <a:extLst>
              <a:ext uri="{FF2B5EF4-FFF2-40B4-BE49-F238E27FC236}">
                <a16:creationId xmlns:a16="http://schemas.microsoft.com/office/drawing/2014/main" id="{FD9F6CE3-F7FB-921B-CAA0-FF1D58E7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85" y="1842866"/>
            <a:ext cx="6804830" cy="2210997"/>
          </a:xfrm>
          <a:prstGeom prst="rect">
            <a:avLst/>
          </a:prstGeom>
        </p:spPr>
      </p:pic>
      <p:pic>
        <p:nvPicPr>
          <p:cNvPr id="8" name="Picture 7" descr="Thorlabs · Choosing a Wave Plate">
            <a:extLst>
              <a:ext uri="{FF2B5EF4-FFF2-40B4-BE49-F238E27FC236}">
                <a16:creationId xmlns:a16="http://schemas.microsoft.com/office/drawing/2014/main" id="{24ECE428-6ABD-0C14-5B15-18D7E4D51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092" y="4106714"/>
            <a:ext cx="783240" cy="1109590"/>
          </a:xfrm>
          <a:prstGeom prst="rect">
            <a:avLst/>
          </a:prstGeom>
        </p:spPr>
      </p:pic>
      <p:pic>
        <p:nvPicPr>
          <p:cNvPr id="9" name="Picture 8" descr="Thorlabs · Choosing a Wave Plate">
            <a:extLst>
              <a:ext uri="{FF2B5EF4-FFF2-40B4-BE49-F238E27FC236}">
                <a16:creationId xmlns:a16="http://schemas.microsoft.com/office/drawing/2014/main" id="{86EB42C9-5140-EC50-C083-3AC8A93AC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092" y="5216304"/>
            <a:ext cx="783240" cy="1109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6A1002-2415-931C-F0E7-700FDAC1F7EB}"/>
              </a:ext>
            </a:extLst>
          </p:cNvPr>
          <p:cNvSpPr txBox="1"/>
          <p:nvPr/>
        </p:nvSpPr>
        <p:spPr>
          <a:xfrm>
            <a:off x="4296192" y="6246654"/>
            <a:ext cx="1569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0" i="1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Thor labs: wave plate </a:t>
            </a:r>
            <a:endParaRPr lang="en-US" sz="10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" name="Picture 10" descr="Red Laser Pointer Emitting Beam Stock Vector (Royalty Free) 2710533673 |  Shutterstock">
            <a:extLst>
              <a:ext uri="{FF2B5EF4-FFF2-40B4-BE49-F238E27FC236}">
                <a16:creationId xmlns:a16="http://schemas.microsoft.com/office/drawing/2014/main" id="{2A84D978-6426-BE2D-A4A3-7112C85D98F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" t="20031" r="-57" b="30167"/>
          <a:stretch>
            <a:fillRect/>
          </a:stretch>
        </p:blipFill>
        <p:spPr>
          <a:xfrm flipH="1">
            <a:off x="2447778" y="4321211"/>
            <a:ext cx="2014512" cy="432178"/>
          </a:xfrm>
          <a:prstGeom prst="rect">
            <a:avLst/>
          </a:prstGeom>
        </p:spPr>
      </p:pic>
      <p:pic>
        <p:nvPicPr>
          <p:cNvPr id="12" name="Picture 11" descr="Red Laser Pointer Emitting Beam Stock Vector (Royalty Free) 2710533673 |  Shutterstock">
            <a:extLst>
              <a:ext uri="{FF2B5EF4-FFF2-40B4-BE49-F238E27FC236}">
                <a16:creationId xmlns:a16="http://schemas.microsoft.com/office/drawing/2014/main" id="{F4B23BEC-BC9F-EDF0-00BB-9B41AF678C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" t="20031" r="-57" b="30167"/>
          <a:stretch>
            <a:fillRect/>
          </a:stretch>
        </p:blipFill>
        <p:spPr>
          <a:xfrm flipH="1">
            <a:off x="2447778" y="5475277"/>
            <a:ext cx="2014512" cy="43217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8EBC73-6F7B-75AA-A48C-8B46055EF36C}"/>
              </a:ext>
            </a:extLst>
          </p:cNvPr>
          <p:cNvSpPr txBox="1"/>
          <p:nvPr/>
        </p:nvSpPr>
        <p:spPr>
          <a:xfrm>
            <a:off x="8068413" y="6264860"/>
            <a:ext cx="1569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0" i="1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Taken from Wikipedia</a:t>
            </a:r>
            <a:endParaRPr lang="en-US" sz="10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C81E64B-9680-8DD8-AD2C-36440C10E7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7683" y="4053863"/>
            <a:ext cx="3050501" cy="24372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B785F6B-9FA8-5D04-F9CA-FC4F920D38FB}"/>
              </a:ext>
            </a:extLst>
          </p:cNvPr>
          <p:cNvSpPr txBox="1"/>
          <p:nvPr/>
        </p:nvSpPr>
        <p:spPr>
          <a:xfrm>
            <a:off x="7692056" y="3760368"/>
            <a:ext cx="25783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>
                <a:latin typeface="-webkit-standard"/>
              </a:rPr>
              <a:t>R</a:t>
            </a:r>
            <a:r>
              <a:rPr lang="en-GB" b="0" i="0" u="none" strike="noStrike" dirty="0">
                <a:effectLst/>
                <a:latin typeface="-webkit-standard"/>
              </a:rPr>
              <a:t>eversible XOR</a:t>
            </a:r>
            <a:endParaRPr lang="en-US" dirty="0"/>
          </a:p>
        </p:txBody>
      </p:sp>
      <p:pic>
        <p:nvPicPr>
          <p:cNvPr id="21" name="Picture 20" descr="Hong-Ou-Mandel Interferometry (HOM) | PicoQuant">
            <a:extLst>
              <a:ext uri="{FF2B5EF4-FFF2-40B4-BE49-F238E27FC236}">
                <a16:creationId xmlns:a16="http://schemas.microsoft.com/office/drawing/2014/main" id="{19DE944C-ADB0-0995-9936-BB61BE8F081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7573" t="34979" r="43774" b="23156"/>
          <a:stretch>
            <a:fillRect/>
          </a:stretch>
        </p:blipFill>
        <p:spPr>
          <a:xfrm>
            <a:off x="5810026" y="4173152"/>
            <a:ext cx="1209752" cy="181003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47B8BA-C7DF-FD43-F7EE-7CF2B4D57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4065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DB701-44FD-8FE1-5CDC-ADDF8B467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4E248-8E51-8E59-F225-1629CA406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computing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6ED3352-7C67-0AF0-9FC8-11206D40081D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4" name="Picture 3" descr="1-4. Quantum circuit diagram — Quantum Native Dojo documentation">
            <a:extLst>
              <a:ext uri="{FF2B5EF4-FFF2-40B4-BE49-F238E27FC236}">
                <a16:creationId xmlns:a16="http://schemas.microsoft.com/office/drawing/2014/main" id="{0274199E-830A-D585-CFFE-667F10787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85" y="1842866"/>
            <a:ext cx="6804830" cy="2210997"/>
          </a:xfrm>
          <a:prstGeom prst="rect">
            <a:avLst/>
          </a:prstGeom>
        </p:spPr>
      </p:pic>
      <p:pic>
        <p:nvPicPr>
          <p:cNvPr id="8" name="Picture 7" descr="Thorlabs · Choosing a Wave Plate">
            <a:extLst>
              <a:ext uri="{FF2B5EF4-FFF2-40B4-BE49-F238E27FC236}">
                <a16:creationId xmlns:a16="http://schemas.microsoft.com/office/drawing/2014/main" id="{8672E094-563B-0F03-A5A9-7C57E0C40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092" y="4106714"/>
            <a:ext cx="783240" cy="1109590"/>
          </a:xfrm>
          <a:prstGeom prst="rect">
            <a:avLst/>
          </a:prstGeom>
        </p:spPr>
      </p:pic>
      <p:pic>
        <p:nvPicPr>
          <p:cNvPr id="9" name="Picture 8" descr="Thorlabs · Choosing a Wave Plate">
            <a:extLst>
              <a:ext uri="{FF2B5EF4-FFF2-40B4-BE49-F238E27FC236}">
                <a16:creationId xmlns:a16="http://schemas.microsoft.com/office/drawing/2014/main" id="{93A62306-9D93-0A42-53F7-BAAC0F3D0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092" y="5216304"/>
            <a:ext cx="783240" cy="110959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7294EB-C1CD-A9CD-9BBF-B2C3BC02ED33}"/>
              </a:ext>
            </a:extLst>
          </p:cNvPr>
          <p:cNvSpPr txBox="1"/>
          <p:nvPr/>
        </p:nvSpPr>
        <p:spPr>
          <a:xfrm>
            <a:off x="4296192" y="6246654"/>
            <a:ext cx="1569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b="0" i="1" u="none" strike="noStrike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</a:rPr>
              <a:t>Thor labs: wave plate </a:t>
            </a:r>
            <a:endParaRPr lang="en-US" sz="10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1" name="Picture 10" descr="Red Laser Pointer Emitting Beam Stock Vector (Royalty Free) 2710533673 |  Shutterstock">
            <a:extLst>
              <a:ext uri="{FF2B5EF4-FFF2-40B4-BE49-F238E27FC236}">
                <a16:creationId xmlns:a16="http://schemas.microsoft.com/office/drawing/2014/main" id="{54971780-549B-7395-AFF2-2C578D088F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" t="20031" r="-57" b="30167"/>
          <a:stretch>
            <a:fillRect/>
          </a:stretch>
        </p:blipFill>
        <p:spPr>
          <a:xfrm flipH="1">
            <a:off x="2447778" y="4321211"/>
            <a:ext cx="2014512" cy="432178"/>
          </a:xfrm>
          <a:prstGeom prst="rect">
            <a:avLst/>
          </a:prstGeom>
        </p:spPr>
      </p:pic>
      <p:pic>
        <p:nvPicPr>
          <p:cNvPr id="12" name="Picture 11" descr="Red Laser Pointer Emitting Beam Stock Vector (Royalty Free) 2710533673 |  Shutterstock">
            <a:extLst>
              <a:ext uri="{FF2B5EF4-FFF2-40B4-BE49-F238E27FC236}">
                <a16:creationId xmlns:a16="http://schemas.microsoft.com/office/drawing/2014/main" id="{B1A98C81-8B52-8C2F-096F-FBB0D3EB92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7" t="20031" r="-57" b="30167"/>
          <a:stretch>
            <a:fillRect/>
          </a:stretch>
        </p:blipFill>
        <p:spPr>
          <a:xfrm flipH="1">
            <a:off x="2447778" y="5475277"/>
            <a:ext cx="2014512" cy="432178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36B2188A-6243-3EC1-78F2-34A5C457A873}"/>
              </a:ext>
            </a:extLst>
          </p:cNvPr>
          <p:cNvSpPr/>
          <p:nvPr/>
        </p:nvSpPr>
        <p:spPr>
          <a:xfrm>
            <a:off x="4191554" y="1984953"/>
            <a:ext cx="3050501" cy="2121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82EF33A-E951-DFF2-DEA8-E3DE93A51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67224" y="2991440"/>
            <a:ext cx="2786575" cy="744351"/>
          </a:xfrm>
        </p:spPr>
        <p:txBody>
          <a:bodyPr/>
          <a:lstStyle/>
          <a:p>
            <a:pPr marL="0" indent="0" algn="r">
              <a:buNone/>
            </a:pPr>
            <a:r>
              <a:rPr lang="en-GB" b="1" dirty="0">
                <a:solidFill>
                  <a:srgbClr val="FF0000"/>
                </a:solidFill>
              </a:rPr>
              <a:t>Entanglement!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3" name="Picture 2" descr="Hong-Ou-Mandel Interferometry (HOM) | PicoQuant">
            <a:extLst>
              <a:ext uri="{FF2B5EF4-FFF2-40B4-BE49-F238E27FC236}">
                <a16:creationId xmlns:a16="http://schemas.microsoft.com/office/drawing/2014/main" id="{906C3B14-EFA8-94B2-279D-8878003AFE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573" t="34979" r="43774" b="23156"/>
          <a:stretch>
            <a:fillRect/>
          </a:stretch>
        </p:blipFill>
        <p:spPr>
          <a:xfrm>
            <a:off x="5810026" y="4173152"/>
            <a:ext cx="1209752" cy="1810030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2E6ACA-2F3C-ADD1-C26A-A5C71560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0299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F582E-B7E6-A022-8AD4-8151AD969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814CB-94DC-AF4E-67A2-D35E71153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Entanglement?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D14335F-FEFA-DB27-05D2-5424ECA6972D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3" name="Picture 2" descr="1-4. Quantum circuit diagram — Quantum Native Dojo documentation">
            <a:extLst>
              <a:ext uri="{FF2B5EF4-FFF2-40B4-BE49-F238E27FC236}">
                <a16:creationId xmlns:a16="http://schemas.microsoft.com/office/drawing/2014/main" id="{005A0B58-3B36-A1C2-B617-266A30411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85" y="2642666"/>
            <a:ext cx="6804830" cy="22109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48C0BF-85BF-9043-DFBF-97D0A7624BD8}"/>
                  </a:ext>
                </a:extLst>
              </p:cNvPr>
              <p:cNvSpPr txBox="1"/>
              <p:nvPr/>
            </p:nvSpPr>
            <p:spPr>
              <a:xfrm>
                <a:off x="2862198" y="1956040"/>
                <a:ext cx="1509386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380" b="0" i="0" u="none" strike="noStrike" dirty="0">
                  <a:solidFill>
                    <a:srgbClr val="0070C0"/>
                  </a:solidFill>
                  <a:effectLst/>
                  <a:latin typeface="Google San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E48C0BF-85BF-9043-DFBF-97D0A7624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198" y="1956040"/>
                <a:ext cx="1509386" cy="554254"/>
              </a:xfrm>
              <a:prstGeom prst="rect">
                <a:avLst/>
              </a:prstGeom>
              <a:blipFill>
                <a:blip r:embed="rId3"/>
                <a:stretch>
                  <a:fillRect t="-61364" b="-97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DC85C9-22A5-8598-8477-A38690F8B20E}"/>
                  </a:ext>
                </a:extLst>
              </p:cNvPr>
              <p:cNvSpPr txBox="1"/>
              <p:nvPr/>
            </p:nvSpPr>
            <p:spPr>
              <a:xfrm>
                <a:off x="2862198" y="4708908"/>
                <a:ext cx="1509386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380" b="0" i="0" u="none" strike="noStrike" dirty="0">
                  <a:solidFill>
                    <a:schemeClr val="accent2">
                      <a:lumMod val="75000"/>
                    </a:schemeClr>
                  </a:solidFill>
                  <a:effectLst/>
                  <a:latin typeface="Google San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DC85C9-22A5-8598-8477-A38690F8B2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198" y="4708908"/>
                <a:ext cx="1509386" cy="554254"/>
              </a:xfrm>
              <a:prstGeom prst="rect">
                <a:avLst/>
              </a:prstGeom>
              <a:blipFill>
                <a:blip r:embed="rId4"/>
                <a:stretch>
                  <a:fillRect t="-57778" b="-9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967DF9-3EEF-7D87-D4C4-33287AFAD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089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D9C7F-EBFD-BA1E-0ECC-58584B117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A7B4A-E421-B10F-00FE-D9B54E603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Entanglement?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54AB431-CDDC-E993-7DF4-4C12B597AC9F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3" name="Picture 2" descr="1-4. Quantum circuit diagram — Quantum Native Dojo documentation">
            <a:extLst>
              <a:ext uri="{FF2B5EF4-FFF2-40B4-BE49-F238E27FC236}">
                <a16:creationId xmlns:a16="http://schemas.microsoft.com/office/drawing/2014/main" id="{EAC65B9D-3E8C-8A42-0C53-573D86D4D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85" y="2642666"/>
            <a:ext cx="6804830" cy="22109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AF2ABC-EDD0-53DD-4F08-97C8569987C7}"/>
                  </a:ext>
                </a:extLst>
              </p:cNvPr>
              <p:cNvSpPr txBox="1"/>
              <p:nvPr/>
            </p:nvSpPr>
            <p:spPr>
              <a:xfrm>
                <a:off x="2862198" y="1956040"/>
                <a:ext cx="15093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GB" sz="1380" b="0" i="0" u="none" strike="noStrike" dirty="0">
                  <a:solidFill>
                    <a:srgbClr val="0070C0"/>
                  </a:solidFill>
                  <a:effectLst/>
                  <a:latin typeface="Google San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8AF2ABC-EDD0-53DD-4F08-97C856998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198" y="1956040"/>
                <a:ext cx="1509386" cy="369332"/>
              </a:xfrm>
              <a:prstGeom prst="rect">
                <a:avLst/>
              </a:prstGeom>
              <a:blipFill>
                <a:blip r:embed="rId3"/>
                <a:stretch>
                  <a:fillRect t="-117241" b="-175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5310F2-B17C-4C4F-6CA8-BC6E5BE9CC87}"/>
                  </a:ext>
                </a:extLst>
              </p:cNvPr>
              <p:cNvSpPr txBox="1"/>
              <p:nvPr/>
            </p:nvSpPr>
            <p:spPr>
              <a:xfrm>
                <a:off x="2862198" y="4853663"/>
                <a:ext cx="15093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GB" sz="1380" b="0" i="0" u="none" strike="noStrike" dirty="0">
                  <a:solidFill>
                    <a:schemeClr val="accent2">
                      <a:lumMod val="75000"/>
                    </a:schemeClr>
                  </a:solidFill>
                  <a:effectLst/>
                  <a:latin typeface="Google San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F5310F2-B17C-4C4F-6CA8-BC6E5BE9C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198" y="4853663"/>
                <a:ext cx="1509386" cy="369332"/>
              </a:xfrm>
              <a:prstGeom prst="rect">
                <a:avLst/>
              </a:prstGeom>
              <a:blipFill>
                <a:blip r:embed="rId4"/>
                <a:stretch>
                  <a:fillRect t="-113333" b="-1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7D9C86-9231-89A8-6AFA-E76705E73FAB}"/>
                  </a:ext>
                </a:extLst>
              </p:cNvPr>
              <p:cNvSpPr txBox="1"/>
              <p:nvPr/>
            </p:nvSpPr>
            <p:spPr>
              <a:xfrm>
                <a:off x="4586614" y="1940878"/>
                <a:ext cx="1509386" cy="451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mtClean="0">
                        <a:solidFill>
                          <a:srgbClr val="0070C0"/>
                        </a:solidFill>
                      </a:rPr>
                      <m:t>|</m:t>
                    </m:r>
                    <m:r>
                      <m:rPr>
                        <m:nor/>
                      </m:rPr>
                      <a:rPr lang="en-GB" b="0" i="0" smtClean="0">
                        <a:solidFill>
                          <a:srgbClr val="0070C0"/>
                        </a:solidFill>
                      </a:rPr>
                      <m:t>+</m:t>
                    </m:r>
                    <m:r>
                      <m:rPr>
                        <m:nor/>
                      </m:rPr>
                      <a:rPr lang="en-GB" smtClean="0">
                        <a:solidFill>
                          <a:srgbClr val="0070C0"/>
                        </a:solidFill>
                      </a:rPr>
                      <m:t>⟩</m:t>
                    </m:r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380" b="0" i="0" u="none" strike="noStrike" dirty="0">
                    <a:solidFill>
                      <a:srgbClr val="0070C0"/>
                    </a:solidFill>
                    <a:effectLst/>
                    <a:latin typeface="Google Sans"/>
                  </a:rPr>
                  <a:t>=</a:t>
                </a:r>
                <a:r>
                  <a:rPr lang="en-GB" sz="1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40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140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GB" sz="1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√2</m:t>
                    </m:r>
                  </m:oMath>
                </a14:m>
                <a:r>
                  <a:rPr lang="en-GB" sz="1380" b="0" i="0" u="none" strike="noStrike" dirty="0">
                    <a:solidFill>
                      <a:srgbClr val="0070C0"/>
                    </a:solidFill>
                    <a:effectLst/>
                    <a:latin typeface="Google Sans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77D9C86-9231-89A8-6AFA-E76705E73F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614" y="1940878"/>
                <a:ext cx="1509386" cy="451598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 descr="Bra-ket notation">
            <a:extLst>
              <a:ext uri="{FF2B5EF4-FFF2-40B4-BE49-F238E27FC236}">
                <a16:creationId xmlns:a16="http://schemas.microsoft.com/office/drawing/2014/main" id="{CE5388D6-69AC-D1CD-EB6A-22D573757C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6134" y="195735"/>
            <a:ext cx="1639866" cy="16643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AF3917-39C3-49C5-67B2-EB5265AB4D7C}"/>
                  </a:ext>
                </a:extLst>
              </p:cNvPr>
              <p:cNvSpPr txBox="1"/>
              <p:nvPr/>
            </p:nvSpPr>
            <p:spPr>
              <a:xfrm>
                <a:off x="4521374" y="4761202"/>
                <a:ext cx="1509386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380" b="0" i="0" u="none" strike="noStrike" dirty="0">
                  <a:solidFill>
                    <a:schemeClr val="accent2">
                      <a:lumMod val="75000"/>
                    </a:schemeClr>
                  </a:solidFill>
                  <a:effectLst/>
                  <a:latin typeface="Google San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AF3917-39C3-49C5-67B2-EB5265AB4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374" y="4761202"/>
                <a:ext cx="1509386" cy="554254"/>
              </a:xfrm>
              <a:prstGeom prst="rect">
                <a:avLst/>
              </a:prstGeom>
              <a:blipFill>
                <a:blip r:embed="rId7"/>
                <a:stretch>
                  <a:fillRect t="-57778" b="-9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6AF4F-3948-2E43-0ED9-C8E2B477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87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AFD9B-104C-A450-BBD4-7164C700C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7B842-3B99-EF10-8CE7-217E3A20F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Entanglement?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36505DB-8F49-804C-DF99-A1D11FB6CF56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3" name="Picture 2" descr="1-4. Quantum circuit diagram — Quantum Native Dojo documentation">
            <a:extLst>
              <a:ext uri="{FF2B5EF4-FFF2-40B4-BE49-F238E27FC236}">
                <a16:creationId xmlns:a16="http://schemas.microsoft.com/office/drawing/2014/main" id="{D6D57760-0377-D969-BD09-56786AC56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585" y="2642666"/>
            <a:ext cx="6804830" cy="221099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E60C6F-93AA-3993-AA76-A2DE17848543}"/>
                  </a:ext>
                </a:extLst>
              </p:cNvPr>
              <p:cNvSpPr txBox="1"/>
              <p:nvPr/>
            </p:nvSpPr>
            <p:spPr>
              <a:xfrm>
                <a:off x="2862198" y="1956040"/>
                <a:ext cx="15093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GB" sz="1380" b="0" i="0" u="none" strike="noStrike" dirty="0">
                  <a:solidFill>
                    <a:srgbClr val="0070C0"/>
                  </a:solidFill>
                  <a:effectLst/>
                  <a:latin typeface="Google Sans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E60C6F-93AA-3993-AA76-A2DE17848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198" y="1956040"/>
                <a:ext cx="1509386" cy="369332"/>
              </a:xfrm>
              <a:prstGeom prst="rect">
                <a:avLst/>
              </a:prstGeom>
              <a:blipFill>
                <a:blip r:embed="rId3"/>
                <a:stretch>
                  <a:fillRect t="-117241" b="-1758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E9069C-EA25-D473-CAE3-B226760C4670}"/>
                  </a:ext>
                </a:extLst>
              </p:cNvPr>
              <p:cNvSpPr txBox="1"/>
              <p:nvPr/>
            </p:nvSpPr>
            <p:spPr>
              <a:xfrm>
                <a:off x="2862198" y="4853663"/>
                <a:ext cx="150938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GB" sz="1380" b="0" i="0" u="none" strike="noStrike" dirty="0">
                  <a:solidFill>
                    <a:schemeClr val="accent2">
                      <a:lumMod val="75000"/>
                    </a:schemeClr>
                  </a:solidFill>
                  <a:effectLst/>
                  <a:latin typeface="Google Sans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0E9069C-EA25-D473-CAE3-B226760C46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2198" y="4853663"/>
                <a:ext cx="1509386" cy="369332"/>
              </a:xfrm>
              <a:prstGeom prst="rect">
                <a:avLst/>
              </a:prstGeom>
              <a:blipFill>
                <a:blip r:embed="rId4"/>
                <a:stretch>
                  <a:fillRect t="-113333" b="-16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264D90-4708-EB5C-CB53-77117BA6F1B1}"/>
                  </a:ext>
                </a:extLst>
              </p:cNvPr>
              <p:cNvSpPr txBox="1"/>
              <p:nvPr/>
            </p:nvSpPr>
            <p:spPr>
              <a:xfrm>
                <a:off x="4586614" y="1940878"/>
                <a:ext cx="1509386" cy="4515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GB" smtClean="0">
                        <a:solidFill>
                          <a:srgbClr val="0070C0"/>
                        </a:solidFill>
                      </a:rPr>
                      <m:t>|</m:t>
                    </m:r>
                    <m:r>
                      <m:rPr>
                        <m:nor/>
                      </m:rPr>
                      <a:rPr lang="en-GB" b="0" i="0" smtClean="0">
                        <a:solidFill>
                          <a:srgbClr val="0070C0"/>
                        </a:solidFill>
                      </a:rPr>
                      <m:t>+</m:t>
                    </m:r>
                    <m:r>
                      <m:rPr>
                        <m:nor/>
                      </m:rPr>
                      <a:rPr lang="en-GB" smtClean="0">
                        <a:solidFill>
                          <a:srgbClr val="0070C0"/>
                        </a:solidFill>
                      </a:rPr>
                      <m:t>⟩</m:t>
                    </m:r>
                    <m:r>
                      <a:rPr lang="en-GB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1380" b="0" i="0" u="none" strike="noStrike" dirty="0">
                    <a:solidFill>
                      <a:srgbClr val="0070C0"/>
                    </a:solidFill>
                    <a:effectLst/>
                    <a:latin typeface="Google Sans"/>
                  </a:rPr>
                  <a:t>=</a:t>
                </a:r>
                <a:r>
                  <a:rPr lang="en-GB" sz="1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14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GB" sz="1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GB" sz="140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GB" sz="1400" i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  <m:r>
                      <a:rPr lang="en-GB" sz="1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GB" sz="1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√2</m:t>
                    </m:r>
                  </m:oMath>
                </a14:m>
                <a:r>
                  <a:rPr lang="en-GB" sz="1380" b="0" i="0" u="none" strike="noStrike" dirty="0">
                    <a:solidFill>
                      <a:srgbClr val="0070C0"/>
                    </a:solidFill>
                    <a:effectLst/>
                    <a:latin typeface="Google Sans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264D90-4708-EB5C-CB53-77117BA6F1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614" y="1940878"/>
                <a:ext cx="1509386" cy="451598"/>
              </a:xfrm>
              <a:prstGeom prst="rect">
                <a:avLst/>
              </a:prstGeom>
              <a:blipFill>
                <a:blip r:embed="rId5"/>
                <a:stretch>
                  <a:fillRect b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A98F1A-9D9E-822F-4267-25B312A98B0F}"/>
                  </a:ext>
                </a:extLst>
              </p:cNvPr>
              <p:cNvSpPr txBox="1"/>
              <p:nvPr/>
            </p:nvSpPr>
            <p:spPr>
              <a:xfrm>
                <a:off x="4521374" y="4761202"/>
                <a:ext cx="1509386" cy="554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indent="0"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i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i="1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GB" i="1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GB" i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GB" i="0">
                                    <a:solidFill>
                                      <a:schemeClr val="accent2">
                                        <a:lumMod val="7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GB" sz="1380" b="0" i="0" u="none" strike="noStrike" dirty="0">
                  <a:solidFill>
                    <a:schemeClr val="accent2">
                      <a:lumMod val="75000"/>
                    </a:schemeClr>
                  </a:solidFill>
                  <a:effectLst/>
                  <a:latin typeface="Google Sans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9A98F1A-9D9E-822F-4267-25B312A98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1374" y="4761202"/>
                <a:ext cx="1509386" cy="554254"/>
              </a:xfrm>
              <a:prstGeom prst="rect">
                <a:avLst/>
              </a:prstGeom>
              <a:blipFill>
                <a:blip r:embed="rId6"/>
                <a:stretch>
                  <a:fillRect t="-57778" b="-9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98F225-E4DC-3747-1A19-5AE8147BCBCC}"/>
                  </a:ext>
                </a:extLst>
              </p:cNvPr>
              <p:cNvSpPr txBox="1"/>
              <p:nvPr/>
            </p:nvSpPr>
            <p:spPr>
              <a:xfrm>
                <a:off x="6488481" y="3591759"/>
                <a:ext cx="3751545" cy="6658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⟩"/>
                          <m:ctrlPr>
                            <a:rPr lang="en-GB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0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GB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⊗</m:t>
                      </m:r>
                      <m:r>
                        <m:rPr>
                          <m:nor/>
                        </m:rPr>
                        <a:rPr lang="en-GB" smtClean="0">
                          <a:solidFill>
                            <a:srgbClr val="0070C0"/>
                          </a:solidFill>
                        </a:rPr>
                        <m:t>|</m:t>
                      </m:r>
                      <m:r>
                        <m:rPr>
                          <m:nor/>
                        </m:rPr>
                        <a:rPr lang="en-GB" b="0" i="0" smtClean="0">
                          <a:solidFill>
                            <a:srgbClr val="0070C0"/>
                          </a:solidFill>
                        </a:rPr>
                        <m:t>+</m:t>
                      </m:r>
                      <m:r>
                        <m:rPr>
                          <m:nor/>
                        </m:rPr>
                        <a:rPr lang="en-GB" smtClean="0">
                          <a:solidFill>
                            <a:srgbClr val="0070C0"/>
                          </a:solidFill>
                        </a:rPr>
                        <m:t>⟩</m:t>
                      </m:r>
                      <m:r>
                        <m:rPr>
                          <m:nor/>
                        </m:rPr>
                        <a:rPr lang="en-GB" b="0" i="0" smtClean="0">
                          <a:solidFill>
                            <a:srgbClr val="0070C0"/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GB" b="0" i="0" smtClean="0">
                          <a:solidFill>
                            <a:schemeClr val="tx1"/>
                          </a:solidFill>
                        </a:rPr>
                        <m:t>=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/>
                            <m:t>|00⟩+|11⟩</m:t>
                          </m:r>
                        </m:num>
                        <m:den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√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F98F225-E4DC-3747-1A19-5AE8147BC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481" y="3591759"/>
                <a:ext cx="3751545" cy="665888"/>
              </a:xfrm>
              <a:prstGeom prst="rect">
                <a:avLst/>
              </a:prstGeom>
              <a:blipFill>
                <a:blip r:embed="rId7"/>
                <a:stretch>
                  <a:fillRect l="-3030" t="-37037" b="-7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B947D4-06E7-8789-5C26-1EB7C2535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8549" y="4731677"/>
            <a:ext cx="2786575" cy="744351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GB" b="1" dirty="0">
                <a:solidFill>
                  <a:srgbClr val="FF0000"/>
                </a:solidFill>
              </a:rPr>
              <a:t>We cannot separate these states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17" name="Picture 16" descr="The Scream: The Story Behind the World's Most Famous Face of Fear - Pinot's  Palette">
            <a:extLst>
              <a:ext uri="{FF2B5EF4-FFF2-40B4-BE49-F238E27FC236}">
                <a16:creationId xmlns:a16="http://schemas.microsoft.com/office/drawing/2014/main" id="{EC88E105-8D62-6FC0-2E16-A1B331B0F19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5156" t="48014" r="29026"/>
          <a:stretch>
            <a:fillRect/>
          </a:stretch>
        </p:blipFill>
        <p:spPr>
          <a:xfrm>
            <a:off x="10658605" y="3748164"/>
            <a:ext cx="1390389" cy="267633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2DC04F-713C-8032-823C-0AE6FEBD8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644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ED35A-1F8A-FCFC-1F19-3ACBA667B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A1C95-0345-A0FC-456E-F285F9728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Entanglement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B0601C-180A-B9FC-7AE2-5ABE16B00922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A41F329-F19F-AF8F-77A2-5FFD0CBEC581}"/>
              </a:ext>
            </a:extLst>
          </p:cNvPr>
          <p:cNvGrpSpPr/>
          <p:nvPr/>
        </p:nvGrpSpPr>
        <p:grpSpPr>
          <a:xfrm>
            <a:off x="1248427" y="2567509"/>
            <a:ext cx="3703529" cy="2210997"/>
            <a:chOff x="4680559" y="2542457"/>
            <a:chExt cx="3703529" cy="2210997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CCBFBBB-6769-BBA6-1A5E-F1BD0ED9EC0B}"/>
                </a:ext>
              </a:extLst>
            </p:cNvPr>
            <p:cNvGrpSpPr/>
            <p:nvPr/>
          </p:nvGrpSpPr>
          <p:grpSpPr>
            <a:xfrm>
              <a:off x="4680559" y="2542457"/>
              <a:ext cx="3507287" cy="2210997"/>
              <a:chOff x="4680559" y="2542457"/>
              <a:chExt cx="3507287" cy="2210997"/>
            </a:xfrm>
          </p:grpSpPr>
          <p:pic>
            <p:nvPicPr>
              <p:cNvPr id="3" name="Picture 2" descr="1-4. Quantum circuit diagram — Quantum Native Dojo documentation">
                <a:extLst>
                  <a:ext uri="{FF2B5EF4-FFF2-40B4-BE49-F238E27FC236}">
                    <a16:creationId xmlns:a16="http://schemas.microsoft.com/office/drawing/2014/main" id="{298D9C83-06EF-34A7-1F92-9665D6C2B6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47116" r="37973"/>
              <a:stretch>
                <a:fillRect/>
              </a:stretch>
            </p:blipFill>
            <p:spPr>
              <a:xfrm>
                <a:off x="5686817" y="2542457"/>
                <a:ext cx="1014608" cy="2210997"/>
              </a:xfrm>
              <a:prstGeom prst="rect">
                <a:avLst/>
              </a:prstGeom>
            </p:spPr>
          </p:pic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B268ED9C-8DD8-5C81-9A79-0FC9DE0F90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0559" y="3635429"/>
                <a:ext cx="2830882" cy="0"/>
              </a:xfrm>
              <a:prstGeom prst="line">
                <a:avLst/>
              </a:prstGeom>
              <a:ln w="38100">
                <a:prstDash val="dash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1433C61-CA8F-2E4E-BE80-00E8E77B2B6A}"/>
                  </a:ext>
                </a:extLst>
              </p:cNvPr>
              <p:cNvSpPr txBox="1"/>
              <p:nvPr/>
            </p:nvSpPr>
            <p:spPr>
              <a:xfrm>
                <a:off x="6835035" y="3037905"/>
                <a:ext cx="13528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>
                    <a:solidFill>
                      <a:schemeClr val="accent2"/>
                    </a:solidFill>
                  </a:rPr>
                  <a:t>ALICE</a:t>
                </a:r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A5A7212-923F-8290-3BD7-AF46DC7F3A1B}"/>
                </a:ext>
              </a:extLst>
            </p:cNvPr>
            <p:cNvSpPr txBox="1"/>
            <p:nvPr/>
          </p:nvSpPr>
          <p:spPr>
            <a:xfrm>
              <a:off x="7031277" y="3907115"/>
              <a:ext cx="13528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accent5"/>
                  </a:solidFill>
                </a:rPr>
                <a:t>BOB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D83D896-7BE9-E17F-C31A-BBCE6DB3DB29}"/>
              </a:ext>
            </a:extLst>
          </p:cNvPr>
          <p:cNvSpPr txBox="1"/>
          <p:nvPr/>
        </p:nvSpPr>
        <p:spPr>
          <a:xfrm>
            <a:off x="5274501" y="3072842"/>
            <a:ext cx="6079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Entangled pair (pre-established) would have to be consumed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are networks resources, and it’s are exponentially expensive to attempt to circumvent their consumption using classical networks.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4A38D9-F552-F6A7-98A2-D4F39CB26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5800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A0418-5A52-146C-6730-DE08385B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5CF48-82ED-D3EC-024B-3BBD1C8ACC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1794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Offer entanglement as a new resource!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2F2F89-C86B-46C4-9DF0-99D3D088AA91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9AF65-4DEB-3878-318D-82695A966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69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5AAB-F3C0-3729-5CC7-CA0555674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6DACC-C79B-BB3E-4D1B-698ED2A09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Quantum Networks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8F348-9783-C3F6-EFAA-4211450B7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41794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Offer entanglement as a new resource!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F0B49F-667C-F264-08AC-174DF7B7EE2C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4" name="Picture 3" descr="Qunnect and Cisco Demonstrate Quantum Entanglement over a Quantum Network  in New York City - Quantum Computing Report">
            <a:extLst>
              <a:ext uri="{FF2B5EF4-FFF2-40B4-BE49-F238E27FC236}">
                <a16:creationId xmlns:a16="http://schemas.microsoft.com/office/drawing/2014/main" id="{B7954CAA-DCDE-C4D8-F8E5-E1BDAC2DD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5078" y="2502356"/>
            <a:ext cx="7087645" cy="32485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F5AFD26-6E8C-6B2B-6CD1-813862F2F3C6}"/>
              </a:ext>
            </a:extLst>
          </p:cNvPr>
          <p:cNvSpPr/>
          <p:nvPr/>
        </p:nvSpPr>
        <p:spPr>
          <a:xfrm rot="19460927">
            <a:off x="1340285" y="1683162"/>
            <a:ext cx="1615858" cy="82671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REAL &amp; WORKING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8DF5F-A576-3682-80EF-D0C22E2E5370}"/>
              </a:ext>
            </a:extLst>
          </p:cNvPr>
          <p:cNvSpPr txBox="1"/>
          <p:nvPr/>
        </p:nvSpPr>
        <p:spPr>
          <a:xfrm>
            <a:off x="3381792" y="5956984"/>
            <a:ext cx="566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 i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Qunnet’s</a:t>
            </a:r>
            <a:r>
              <a:rPr lang="en-GB" sz="1000" i="1" dirty="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</a:rPr>
              <a:t> &amp; Cisco’s New York metropolitan quantum network</a:t>
            </a:r>
            <a:endParaRPr lang="en-US" sz="1000" i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2477FE-4D41-21DB-4BEE-26697F356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495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367FC-87E3-D007-BDED-83FAAE9C1F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439" y="1690688"/>
            <a:ext cx="2103822" cy="520700"/>
          </a:xfrm>
        </p:spPr>
        <p:txBody>
          <a:bodyPr/>
          <a:lstStyle/>
          <a:p>
            <a:pPr algn="ctr"/>
            <a:r>
              <a:rPr lang="en-US" dirty="0"/>
              <a:t>Enables DQC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03E948B-9D9B-578A-58D1-EBCF3808D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Entanglement is super nice!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7B7F3B-8520-B0BE-4284-C9B23674570B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D0CD2F-A152-E973-242B-317021C98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50" y="2870201"/>
            <a:ext cx="2260600" cy="1333500"/>
          </a:xfrm>
          <a:prstGeom prst="rect">
            <a:avLst/>
          </a:prstGeom>
        </p:spPr>
      </p:pic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E55DC6F3-2FD8-09B1-5660-9810E1782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05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9DBC0-CF48-CAAA-2E76-9B738F490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D648E-07A4-43AC-D5EC-A6B8B6F18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439" y="1690688"/>
            <a:ext cx="2103822" cy="520700"/>
          </a:xfrm>
        </p:spPr>
        <p:txBody>
          <a:bodyPr/>
          <a:lstStyle/>
          <a:p>
            <a:pPr algn="ctr"/>
            <a:r>
              <a:rPr lang="en-US" dirty="0"/>
              <a:t>Enables DQC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BB6C32-727B-5096-3364-FC9BF1A5F90F}"/>
              </a:ext>
            </a:extLst>
          </p:cNvPr>
          <p:cNvSpPr/>
          <p:nvPr/>
        </p:nvSpPr>
        <p:spPr>
          <a:xfrm>
            <a:off x="3094531" y="3301297"/>
            <a:ext cx="2903224" cy="737266"/>
          </a:xfrm>
          <a:prstGeom prst="rect">
            <a:avLst/>
          </a:prstGeom>
          <a:solidFill>
            <a:srgbClr val="FF2330">
              <a:alpha val="2823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1ECE481-80FE-F3A4-CE20-F04A7929E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Entanglement is super nice!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0139DC-84F4-84C3-7088-1ACA87E1519D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BE993A3-6883-FBA9-2684-3B864C046C0D}"/>
              </a:ext>
            </a:extLst>
          </p:cNvPr>
          <p:cNvCxnSpPr/>
          <p:nvPr/>
        </p:nvCxnSpPr>
        <p:spPr>
          <a:xfrm>
            <a:off x="2996287" y="1690688"/>
            <a:ext cx="0" cy="449897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3" descr="Earth globe drawing of world map, vector illustration minimalist design of  minimalism. Outline, line, doodle style, icon, sketch, hand drawn on Stock  Vector Image &amp; Art - Alamy">
            <a:extLst>
              <a:ext uri="{FF2B5EF4-FFF2-40B4-BE49-F238E27FC236}">
                <a16:creationId xmlns:a16="http://schemas.microsoft.com/office/drawing/2014/main" id="{787076B4-637B-8136-879B-236B67E7F4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97" b="17403"/>
          <a:stretch>
            <a:fillRect/>
          </a:stretch>
        </p:blipFill>
        <p:spPr>
          <a:xfrm>
            <a:off x="3450566" y="4283323"/>
            <a:ext cx="2191154" cy="172357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1D2FE22-4631-D62F-A08F-00489FA67C27}"/>
              </a:ext>
            </a:extLst>
          </p:cNvPr>
          <p:cNvSpPr txBox="1">
            <a:spLocks/>
          </p:cNvSpPr>
          <p:nvPr/>
        </p:nvSpPr>
        <p:spPr>
          <a:xfrm>
            <a:off x="2996286" y="1878557"/>
            <a:ext cx="3099714" cy="5207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Can correlate at any distance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0F1840-63D5-ECBB-A08B-B796F1931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50" y="2870201"/>
            <a:ext cx="2260600" cy="13335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3ECE17C-5736-9124-422C-E5360B218481}"/>
              </a:ext>
            </a:extLst>
          </p:cNvPr>
          <p:cNvSpPr/>
          <p:nvPr/>
        </p:nvSpPr>
        <p:spPr>
          <a:xfrm>
            <a:off x="3225456" y="3388696"/>
            <a:ext cx="581890" cy="58189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32DE358-507F-B7E9-9B5A-9A462E1F38DB}"/>
              </a:ext>
            </a:extLst>
          </p:cNvPr>
          <p:cNvSpPr/>
          <p:nvPr/>
        </p:nvSpPr>
        <p:spPr>
          <a:xfrm>
            <a:off x="5213796" y="3388695"/>
            <a:ext cx="581890" cy="58189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DCEDF73-792D-D51D-219A-CC20A4E903C7}"/>
              </a:ext>
            </a:extLst>
          </p:cNvPr>
          <p:cNvCxnSpPr/>
          <p:nvPr/>
        </p:nvCxnSpPr>
        <p:spPr>
          <a:xfrm>
            <a:off x="3762034" y="3089563"/>
            <a:ext cx="156821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CB70EC6-661F-B814-F717-E23A92C49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5425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032D07-7D73-75B8-5CE1-756D27F53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249D2B-2486-8B68-75FA-B37CE2012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439" y="1690688"/>
            <a:ext cx="2103822" cy="520700"/>
          </a:xfrm>
        </p:spPr>
        <p:txBody>
          <a:bodyPr/>
          <a:lstStyle/>
          <a:p>
            <a:pPr algn="ctr"/>
            <a:r>
              <a:rPr lang="en-US" dirty="0"/>
              <a:t>Enables DQC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6F03F1-2891-4AA9-56C0-D6E73BA536D7}"/>
              </a:ext>
            </a:extLst>
          </p:cNvPr>
          <p:cNvSpPr/>
          <p:nvPr/>
        </p:nvSpPr>
        <p:spPr>
          <a:xfrm>
            <a:off x="3094531" y="3301297"/>
            <a:ext cx="2903224" cy="737266"/>
          </a:xfrm>
          <a:prstGeom prst="rect">
            <a:avLst/>
          </a:prstGeom>
          <a:solidFill>
            <a:srgbClr val="FF2330">
              <a:alpha val="2823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3AC064C-F496-3EC3-67CE-0DBA49471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Entanglement is super nice!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0F80A29-920D-F871-7EC3-D2EB1A60C069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9DEA84-DEC7-D823-C2FE-4D28A2EAD3BA}"/>
              </a:ext>
            </a:extLst>
          </p:cNvPr>
          <p:cNvCxnSpPr/>
          <p:nvPr/>
        </p:nvCxnSpPr>
        <p:spPr>
          <a:xfrm>
            <a:off x="2996287" y="1690688"/>
            <a:ext cx="0" cy="449897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3" descr="Earth globe drawing of world map, vector illustration minimalist design of  minimalism. Outline, line, doodle style, icon, sketch, hand drawn on Stock  Vector Image &amp; Art - Alamy">
            <a:extLst>
              <a:ext uri="{FF2B5EF4-FFF2-40B4-BE49-F238E27FC236}">
                <a16:creationId xmlns:a16="http://schemas.microsoft.com/office/drawing/2014/main" id="{BA26C616-9538-8CBB-7C51-9080F1FC8E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97" b="17403"/>
          <a:stretch>
            <a:fillRect/>
          </a:stretch>
        </p:blipFill>
        <p:spPr>
          <a:xfrm>
            <a:off x="3450566" y="4283323"/>
            <a:ext cx="2191154" cy="172357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3E52F3F-88E5-9477-5E72-8F822FAB12B8}"/>
              </a:ext>
            </a:extLst>
          </p:cNvPr>
          <p:cNvSpPr txBox="1">
            <a:spLocks/>
          </p:cNvSpPr>
          <p:nvPr/>
        </p:nvSpPr>
        <p:spPr>
          <a:xfrm>
            <a:off x="2996286" y="1878557"/>
            <a:ext cx="3099714" cy="5207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Can correlate at any distance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1CEBAD3-CFC6-696B-2264-3613B2B669E6}"/>
              </a:ext>
            </a:extLst>
          </p:cNvPr>
          <p:cNvSpPr txBox="1">
            <a:spLocks/>
          </p:cNvSpPr>
          <p:nvPr/>
        </p:nvSpPr>
        <p:spPr>
          <a:xfrm>
            <a:off x="5906498" y="1878557"/>
            <a:ext cx="3179046" cy="5207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Communication savings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92525D-45D5-C274-03E0-C68FC91332B8}"/>
              </a:ext>
            </a:extLst>
          </p:cNvPr>
          <p:cNvCxnSpPr/>
          <p:nvPr/>
        </p:nvCxnSpPr>
        <p:spPr>
          <a:xfrm>
            <a:off x="6135666" y="1681163"/>
            <a:ext cx="0" cy="449897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C8AC04E-50D1-586B-D0C2-F892A4D6E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50" y="2870201"/>
            <a:ext cx="2260600" cy="13335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4FB21D0F-45EB-386A-FFC4-4EAC1529A7CE}"/>
              </a:ext>
            </a:extLst>
          </p:cNvPr>
          <p:cNvSpPr/>
          <p:nvPr/>
        </p:nvSpPr>
        <p:spPr>
          <a:xfrm>
            <a:off x="3225456" y="3388696"/>
            <a:ext cx="581890" cy="58189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A066956-50F6-56A7-1BE5-9D3D2A1E2989}"/>
              </a:ext>
            </a:extLst>
          </p:cNvPr>
          <p:cNvSpPr/>
          <p:nvPr/>
        </p:nvSpPr>
        <p:spPr>
          <a:xfrm>
            <a:off x="5213796" y="3388695"/>
            <a:ext cx="581890" cy="58189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79AB15-6ED8-F8A0-E36F-72068DEBD16D}"/>
              </a:ext>
            </a:extLst>
          </p:cNvPr>
          <p:cNvCxnSpPr/>
          <p:nvPr/>
        </p:nvCxnSpPr>
        <p:spPr>
          <a:xfrm>
            <a:off x="3762034" y="3089563"/>
            <a:ext cx="156821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EDA22FA-A886-D98E-6A6F-0236A6572229}"/>
              </a:ext>
            </a:extLst>
          </p:cNvPr>
          <p:cNvSpPr txBox="1"/>
          <p:nvPr/>
        </p:nvSpPr>
        <p:spPr>
          <a:xfrm>
            <a:off x="6156815" y="2711994"/>
            <a:ext cx="28679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SUPERDENSE ENCODING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2 online bits </a:t>
            </a:r>
          </a:p>
          <a:p>
            <a:pPr algn="ctr"/>
            <a:r>
              <a:rPr lang="en-US" dirty="0"/>
              <a:t>= </a:t>
            </a:r>
          </a:p>
          <a:p>
            <a:pPr algn="ctr"/>
            <a:r>
              <a:rPr lang="en-US" dirty="0"/>
              <a:t>1 pre-shared qubit </a:t>
            </a:r>
          </a:p>
          <a:p>
            <a:pPr algn="ctr"/>
            <a:r>
              <a:rPr lang="en-US" dirty="0"/>
              <a:t>+ </a:t>
            </a:r>
          </a:p>
          <a:p>
            <a:pPr algn="ctr"/>
            <a:r>
              <a:rPr lang="en-US" dirty="0"/>
              <a:t>1 online bit</a:t>
            </a:r>
          </a:p>
        </p:txBody>
      </p:sp>
      <p:pic>
        <p:nvPicPr>
          <p:cNvPr id="20" name="Picture 19" descr="All-Reduce and Ring-Reduce for Model Synchronization in Multi-GPU Training">
            <a:extLst>
              <a:ext uri="{FF2B5EF4-FFF2-40B4-BE49-F238E27FC236}">
                <a16:creationId xmlns:a16="http://schemas.microsoft.com/office/drawing/2014/main" id="{60E53E55-8EB7-A6B2-0A30-508C4B88A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484" y="4775380"/>
            <a:ext cx="2646782" cy="1414283"/>
          </a:xfrm>
          <a:prstGeom prst="rect">
            <a:avLst/>
          </a:prstGeom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5735C35B-330B-2FA9-CA7B-FA02B2BB0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879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0635D-0858-0BED-42FC-ABEF84230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C0375-2477-1FF3-F4B3-933116E85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439" y="1690688"/>
            <a:ext cx="2103822" cy="520700"/>
          </a:xfrm>
        </p:spPr>
        <p:txBody>
          <a:bodyPr/>
          <a:lstStyle/>
          <a:p>
            <a:pPr algn="ctr"/>
            <a:r>
              <a:rPr lang="en-US" dirty="0"/>
              <a:t>Enables DQC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CC1CD1-5F3E-6A48-0461-5C51D3C071AB}"/>
              </a:ext>
            </a:extLst>
          </p:cNvPr>
          <p:cNvSpPr/>
          <p:nvPr/>
        </p:nvSpPr>
        <p:spPr>
          <a:xfrm>
            <a:off x="3094531" y="3301297"/>
            <a:ext cx="2903224" cy="737266"/>
          </a:xfrm>
          <a:prstGeom prst="rect">
            <a:avLst/>
          </a:prstGeom>
          <a:solidFill>
            <a:srgbClr val="FF2330">
              <a:alpha val="28235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0411920-F209-34E4-0076-FAA0B4E5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Entanglement is super nice!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51D7E77-37BF-B362-F556-62F43D474D6B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C43A82E-509D-6901-8B6F-2D65E08EE75F}"/>
              </a:ext>
            </a:extLst>
          </p:cNvPr>
          <p:cNvCxnSpPr/>
          <p:nvPr/>
        </p:nvCxnSpPr>
        <p:spPr>
          <a:xfrm>
            <a:off x="2996287" y="1690688"/>
            <a:ext cx="0" cy="449897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" name="Picture 3" descr="Earth globe drawing of world map, vector illustration minimalist design of  minimalism. Outline, line, doodle style, icon, sketch, hand drawn on Stock  Vector Image &amp; Art - Alamy">
            <a:extLst>
              <a:ext uri="{FF2B5EF4-FFF2-40B4-BE49-F238E27FC236}">
                <a16:creationId xmlns:a16="http://schemas.microsoft.com/office/drawing/2014/main" id="{4B3DEBD2-1B54-CCC9-2D31-A3AE311E4D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97" b="17403"/>
          <a:stretch>
            <a:fillRect/>
          </a:stretch>
        </p:blipFill>
        <p:spPr>
          <a:xfrm>
            <a:off x="3450566" y="4283323"/>
            <a:ext cx="2191154" cy="1723570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EE3E81A9-2426-7425-E3BD-4E7C017656D5}"/>
              </a:ext>
            </a:extLst>
          </p:cNvPr>
          <p:cNvSpPr txBox="1">
            <a:spLocks/>
          </p:cNvSpPr>
          <p:nvPr/>
        </p:nvSpPr>
        <p:spPr>
          <a:xfrm>
            <a:off x="2996286" y="1878557"/>
            <a:ext cx="3099714" cy="5207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Can correlate at any distance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5AB6B7AE-896C-D29F-6F7A-39DFB5952B41}"/>
              </a:ext>
            </a:extLst>
          </p:cNvPr>
          <p:cNvSpPr txBox="1">
            <a:spLocks/>
          </p:cNvSpPr>
          <p:nvPr/>
        </p:nvSpPr>
        <p:spPr>
          <a:xfrm>
            <a:off x="5906498" y="1878557"/>
            <a:ext cx="3179046" cy="5207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Communication savings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B7048AC-0479-B281-268B-24FE4A64D5A8}"/>
              </a:ext>
            </a:extLst>
          </p:cNvPr>
          <p:cNvSpPr txBox="1">
            <a:spLocks/>
          </p:cNvSpPr>
          <p:nvPr/>
        </p:nvSpPr>
        <p:spPr>
          <a:xfrm>
            <a:off x="9045877" y="1968706"/>
            <a:ext cx="2867916" cy="5207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/>
              <a:t>Security </a:t>
            </a:r>
          </a:p>
          <a:p>
            <a:pPr algn="ctr"/>
            <a:r>
              <a:rPr lang="en-US" dirty="0"/>
              <a:t>guarantees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C7CCCF1-8FFC-8323-1A46-7ACCA93EC427}"/>
              </a:ext>
            </a:extLst>
          </p:cNvPr>
          <p:cNvCxnSpPr/>
          <p:nvPr/>
        </p:nvCxnSpPr>
        <p:spPr>
          <a:xfrm>
            <a:off x="6135666" y="1681163"/>
            <a:ext cx="0" cy="449897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FF4316-03DB-0AFC-3312-36F9E9287117}"/>
              </a:ext>
            </a:extLst>
          </p:cNvPr>
          <p:cNvCxnSpPr/>
          <p:nvPr/>
        </p:nvCxnSpPr>
        <p:spPr>
          <a:xfrm>
            <a:off x="9085544" y="1690688"/>
            <a:ext cx="0" cy="4498975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AC1B76A-65D1-5E16-6B1C-BCD1A9C07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050" y="2870201"/>
            <a:ext cx="2260600" cy="1333500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89FCC050-E86E-06B3-FCCB-245FC2B7439E}"/>
              </a:ext>
            </a:extLst>
          </p:cNvPr>
          <p:cNvSpPr/>
          <p:nvPr/>
        </p:nvSpPr>
        <p:spPr>
          <a:xfrm>
            <a:off x="3225456" y="3388696"/>
            <a:ext cx="581890" cy="581891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F0CFB7E-5C3C-90B7-B2A2-7FB18869F8AB}"/>
              </a:ext>
            </a:extLst>
          </p:cNvPr>
          <p:cNvSpPr/>
          <p:nvPr/>
        </p:nvSpPr>
        <p:spPr>
          <a:xfrm>
            <a:off x="5213796" y="3388695"/>
            <a:ext cx="581890" cy="581891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86467C-F7D0-9CC4-339F-F33B023F824D}"/>
              </a:ext>
            </a:extLst>
          </p:cNvPr>
          <p:cNvCxnSpPr/>
          <p:nvPr/>
        </p:nvCxnSpPr>
        <p:spPr>
          <a:xfrm>
            <a:off x="3762034" y="3089563"/>
            <a:ext cx="156821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FC00E9C-3AC3-B3A7-15BD-C377C9FD0141}"/>
              </a:ext>
            </a:extLst>
          </p:cNvPr>
          <p:cNvSpPr txBox="1"/>
          <p:nvPr/>
        </p:nvSpPr>
        <p:spPr>
          <a:xfrm>
            <a:off x="6156815" y="2711994"/>
            <a:ext cx="286791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u="sng" dirty="0"/>
              <a:t>SUPERDENSE ENCODING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2 online bits </a:t>
            </a:r>
          </a:p>
          <a:p>
            <a:pPr algn="ctr"/>
            <a:r>
              <a:rPr lang="en-US" dirty="0"/>
              <a:t>= </a:t>
            </a:r>
          </a:p>
          <a:p>
            <a:pPr algn="ctr"/>
            <a:r>
              <a:rPr lang="en-US" dirty="0"/>
              <a:t>1 pre-shared qubit </a:t>
            </a:r>
          </a:p>
          <a:p>
            <a:pPr algn="ctr"/>
            <a:r>
              <a:rPr lang="en-US" dirty="0"/>
              <a:t>+ </a:t>
            </a:r>
          </a:p>
          <a:p>
            <a:pPr algn="ctr"/>
            <a:r>
              <a:rPr lang="en-US" dirty="0"/>
              <a:t>1 online bit</a:t>
            </a:r>
          </a:p>
        </p:txBody>
      </p:sp>
      <p:pic>
        <p:nvPicPr>
          <p:cNvPr id="20" name="Picture 19" descr="All-Reduce and Ring-Reduce for Model Synchronization in Multi-GPU Training">
            <a:extLst>
              <a:ext uri="{FF2B5EF4-FFF2-40B4-BE49-F238E27FC236}">
                <a16:creationId xmlns:a16="http://schemas.microsoft.com/office/drawing/2014/main" id="{EE1B47F2-BCD4-012E-564D-EFF925946E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484" y="4775380"/>
            <a:ext cx="2646782" cy="1414283"/>
          </a:xfrm>
          <a:prstGeom prst="rect">
            <a:avLst/>
          </a:prstGeom>
        </p:spPr>
      </p:pic>
      <p:pic>
        <p:nvPicPr>
          <p:cNvPr id="21" name="Picture 20" descr="Ghost | Premium Vector">
            <a:extLst>
              <a:ext uri="{FF2B5EF4-FFF2-40B4-BE49-F238E27FC236}">
                <a16:creationId xmlns:a16="http://schemas.microsoft.com/office/drawing/2014/main" id="{D076DE9F-6DD0-10E3-B0E5-A8ECE8444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5582" y="3043630"/>
            <a:ext cx="1368051" cy="136805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259248C-15DB-DFDF-029D-1CCA56ABA05A}"/>
              </a:ext>
            </a:extLst>
          </p:cNvPr>
          <p:cNvSpPr txBox="1"/>
          <p:nvPr/>
        </p:nvSpPr>
        <p:spPr>
          <a:xfrm>
            <a:off x="9163006" y="4596573"/>
            <a:ext cx="2867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No cloning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271EAE59-1B9A-FB41-95D2-853D88A5E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579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255E7-D117-9FBF-9756-BD495331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problems galore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84143-DEBF-95B6-356B-0D7086135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359" y="4353879"/>
            <a:ext cx="7200441" cy="152350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1200" b="1" dirty="0">
                <a:solidFill>
                  <a:srgbClr val="FF0000"/>
                </a:solidFill>
              </a:rPr>
              <a:t>COMPILATION &amp; MAPPING</a:t>
            </a:r>
            <a:endParaRPr lang="en-GB" sz="1200" dirty="0">
              <a:solidFill>
                <a:srgbClr val="FF0000"/>
              </a:solidFill>
            </a:endParaRPr>
          </a:p>
          <a:p>
            <a:r>
              <a:rPr lang="en-GB" sz="1000" b="1" dirty="0"/>
              <a:t>Circuit partitioning across QPUs</a:t>
            </a:r>
            <a:r>
              <a:rPr lang="en-GB" sz="1000" dirty="0"/>
              <a:t>: graph/hypergraph min-cut + qubit mapping; NP-hard; minimize non-local gates</a:t>
            </a:r>
          </a:p>
          <a:p>
            <a:r>
              <a:rPr lang="en-GB" sz="1000" b="1" dirty="0" err="1"/>
              <a:t>Telegate</a:t>
            </a:r>
            <a:r>
              <a:rPr lang="en-GB" sz="1000" b="1" dirty="0"/>
              <a:t> vs </a:t>
            </a:r>
            <a:r>
              <a:rPr lang="en-GB" sz="1000" b="1" dirty="0" err="1"/>
              <a:t>teledata</a:t>
            </a:r>
            <a:r>
              <a:rPr lang="en-GB" sz="1000" dirty="0"/>
              <a:t>: teleport the gate, or move the qubit? a per-operation cost decision</a:t>
            </a:r>
          </a:p>
          <a:p>
            <a:r>
              <a:rPr lang="en-GB" sz="1000" b="1" dirty="0"/>
              <a:t>Entanglement-aware cost models:</a:t>
            </a:r>
            <a:r>
              <a:rPr lang="en-GB" sz="1000" dirty="0"/>
              <a:t> every non-local gate spends a scarce, decaying Bell pair; objective unlike classical placement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7088837-1416-93CF-6F58-058327A62009}"/>
              </a:ext>
            </a:extLst>
          </p:cNvPr>
          <p:cNvSpPr txBox="1">
            <a:spLocks/>
          </p:cNvSpPr>
          <p:nvPr/>
        </p:nvSpPr>
        <p:spPr>
          <a:xfrm>
            <a:off x="172402" y="301850"/>
            <a:ext cx="7200441" cy="40851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DDB2DB-1F6E-AD78-7734-93EBEC3EED8A}"/>
              </a:ext>
            </a:extLst>
          </p:cNvPr>
          <p:cNvSpPr txBox="1">
            <a:spLocks/>
          </p:cNvSpPr>
          <p:nvPr/>
        </p:nvSpPr>
        <p:spPr>
          <a:xfrm>
            <a:off x="416359" y="2976677"/>
            <a:ext cx="6743241" cy="152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solidFill>
                  <a:srgbClr val="FF0000"/>
                </a:solidFill>
              </a:rPr>
              <a:t>QUANTUM vs CLASSICAL COMMUNICATION</a:t>
            </a:r>
          </a:p>
          <a:p>
            <a:r>
              <a:rPr lang="en-GB" sz="1000" b="1" dirty="0"/>
              <a:t>Circuit knitting / wire cutting:</a:t>
            </a:r>
            <a:r>
              <a:rPr lang="en-GB" sz="1000" dirty="0"/>
              <a:t> skip the quantum link, stitch results classically &amp; pay exponential sampling overhead in # cuts</a:t>
            </a:r>
          </a:p>
          <a:p>
            <a:r>
              <a:rPr lang="en-GB" sz="1000" b="1" dirty="0"/>
              <a:t>Where's the crossover?</a:t>
            </a:r>
            <a:r>
              <a:rPr lang="en-GB" sz="1000" dirty="0"/>
              <a:t> when is a slow, noisy quantum link worth more than exponential classical shots?</a:t>
            </a:r>
          </a:p>
          <a:p>
            <a:r>
              <a:rPr lang="en-GB" sz="1000" b="1" dirty="0"/>
              <a:t>Provable comm. Advantage:</a:t>
            </a:r>
            <a:r>
              <a:rPr lang="en-GB" sz="1000" dirty="0"/>
              <a:t> which workloads actually need quantum communication? (communication-complexity results)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B631FA8-303C-BA1C-696F-F04503448B37}"/>
              </a:ext>
            </a:extLst>
          </p:cNvPr>
          <p:cNvSpPr txBox="1">
            <a:spLocks/>
          </p:cNvSpPr>
          <p:nvPr/>
        </p:nvSpPr>
        <p:spPr>
          <a:xfrm>
            <a:off x="416359" y="1328810"/>
            <a:ext cx="7410484" cy="31683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solidFill>
                  <a:srgbClr val="FF0000"/>
                </a:solidFill>
              </a:rPr>
              <a:t>ENTANGLEMENT DISTRIBUTION (resource management)</a:t>
            </a:r>
          </a:p>
          <a:p>
            <a:r>
              <a:rPr lang="en-GB" sz="1000" b="1" dirty="0"/>
              <a:t>Generation rate vs decoherence:</a:t>
            </a:r>
            <a:r>
              <a:rPr lang="en-GB" sz="1000" dirty="0"/>
              <a:t> entanglement is probabilistic + slow to make; the whole system is rate-limited</a:t>
            </a:r>
          </a:p>
          <a:p>
            <a:r>
              <a:rPr lang="en-GB" sz="1000" b="1" dirty="0"/>
              <a:t>Routing:</a:t>
            </a:r>
            <a:r>
              <a:rPr lang="en-GB" sz="1000" dirty="0"/>
              <a:t> routing a </a:t>
            </a:r>
            <a:r>
              <a:rPr lang="en-GB" sz="1000" i="1" dirty="0"/>
              <a:t>consumable</a:t>
            </a:r>
            <a:r>
              <a:rPr lang="en-GB" sz="1000" dirty="0"/>
              <a:t> with </a:t>
            </a:r>
            <a:r>
              <a:rPr lang="en-GB" sz="1000" i="1" dirty="0"/>
              <a:t>probabilistic delivery</a:t>
            </a:r>
            <a:r>
              <a:rPr lang="en-GB" sz="1000" dirty="0"/>
              <a:t> under a </a:t>
            </a:r>
            <a:r>
              <a:rPr lang="en-GB" sz="1000" i="1" dirty="0"/>
              <a:t>decoherence deadline</a:t>
            </a:r>
            <a:r>
              <a:rPr lang="en-GB" sz="1000" dirty="0"/>
              <a:t>; no classical analogue</a:t>
            </a:r>
          </a:p>
          <a:p>
            <a:r>
              <a:rPr lang="en-GB" sz="1000" b="1" dirty="0"/>
              <a:t>Swapping at repeaters:</a:t>
            </a:r>
            <a:r>
              <a:rPr lang="en-GB" sz="1000" dirty="0"/>
              <a:t> multi-hop paths via entanglement swapping, itself probabilistic; multipath to boost success</a:t>
            </a:r>
          </a:p>
          <a:p>
            <a:r>
              <a:rPr lang="en-GB" sz="1000" b="1" dirty="0"/>
              <a:t>Purification / distillation:</a:t>
            </a:r>
            <a:r>
              <a:rPr lang="en-GB" sz="1000" dirty="0"/>
              <a:t> burn many noisy pairs to forge one good one; a quality-vs-throughput knob</a:t>
            </a:r>
          </a:p>
          <a:p>
            <a:r>
              <a:rPr lang="en-GB" sz="1000" b="1" dirty="0"/>
              <a:t>Quantum memory:</a:t>
            </a:r>
            <a:r>
              <a:rPr lang="en-GB" sz="1000" dirty="0"/>
              <a:t> a buffer with a burning fuse: store entanglement while the protocol catches up, but it decoheres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76B9489-37A0-BB67-C2C0-44CC69D98BFE}"/>
              </a:ext>
            </a:extLst>
          </p:cNvPr>
          <p:cNvSpPr txBox="1">
            <a:spLocks/>
          </p:cNvSpPr>
          <p:nvPr/>
        </p:nvSpPr>
        <p:spPr>
          <a:xfrm>
            <a:off x="7475543" y="365125"/>
            <a:ext cx="4297386" cy="1636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solidFill>
                  <a:srgbClr val="FF0000"/>
                </a:solidFill>
              </a:rPr>
              <a:t>QUANTUM vs CLASSICAL COMMUNICATION</a:t>
            </a:r>
          </a:p>
          <a:p>
            <a:r>
              <a:rPr lang="en-GB" sz="1000" b="1" dirty="0"/>
              <a:t>"NUMA for qubits"</a:t>
            </a:r>
            <a:r>
              <a:rPr lang="en-GB" sz="1000" dirty="0"/>
              <a:t> : intra-chip ≪ chip-to-chip ≪ rack ≪ </a:t>
            </a:r>
            <a:r>
              <a:rPr lang="en-GB" sz="1000" dirty="0" err="1"/>
              <a:t>datacenter</a:t>
            </a:r>
            <a:r>
              <a:rPr lang="en-GB" sz="1000" dirty="0"/>
              <a:t>, by orders of magnitude in latency &amp; fidelity</a:t>
            </a:r>
          </a:p>
          <a:p>
            <a:r>
              <a:rPr lang="en-GB" sz="1000" b="1" dirty="0"/>
              <a:t>Heterogeneous QPU clusters</a:t>
            </a:r>
            <a:r>
              <a:rPr lang="en-GB" sz="1000" dirty="0"/>
              <a:t> : different sizes, topologies, error rates; placement across a quantum memory hierarchy</a:t>
            </a:r>
          </a:p>
          <a:p>
            <a:r>
              <a:rPr lang="en-GB" sz="1000" b="1" dirty="0" err="1"/>
              <a:t>Microwave→optical</a:t>
            </a:r>
            <a:r>
              <a:rPr lang="en-GB" sz="1000" b="1" dirty="0"/>
              <a:t> transduction:</a:t>
            </a:r>
            <a:r>
              <a:rPr lang="en-GB" sz="1000" dirty="0"/>
              <a:t> the physical bottleneck; why you can't just run a </a:t>
            </a:r>
            <a:r>
              <a:rPr lang="en-GB" sz="1000" dirty="0" err="1"/>
              <a:t>fiber</a:t>
            </a:r>
            <a:r>
              <a:rPr lang="en-GB" sz="1000" dirty="0"/>
              <a:t> between two fridges today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A999A9A-DC87-8951-3C33-477B25AD7CDC}"/>
              </a:ext>
            </a:extLst>
          </p:cNvPr>
          <p:cNvSpPr txBox="1">
            <a:spLocks/>
          </p:cNvSpPr>
          <p:nvPr/>
        </p:nvSpPr>
        <p:spPr>
          <a:xfrm>
            <a:off x="7475543" y="1924957"/>
            <a:ext cx="4297386" cy="1636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solidFill>
                  <a:srgbClr val="FF0000"/>
                </a:solidFill>
              </a:rPr>
              <a:t>REAL-TIME CLASSICAL CONTROL</a:t>
            </a:r>
          </a:p>
          <a:p>
            <a:r>
              <a:rPr lang="en-GB" sz="1000" b="1" dirty="0"/>
              <a:t>Feedforward within the coherence window:</a:t>
            </a:r>
            <a:r>
              <a:rPr lang="en-GB" sz="1000" dirty="0"/>
              <a:t> teleportation needs classical bits acted on </a:t>
            </a:r>
            <a:r>
              <a:rPr lang="en-GB" sz="1000" i="1" dirty="0"/>
              <a:t>before</a:t>
            </a:r>
            <a:r>
              <a:rPr lang="en-GB" sz="1000" dirty="0"/>
              <a:t> decoherence</a:t>
            </a:r>
          </a:p>
          <a:p>
            <a:r>
              <a:rPr lang="en-GB" sz="1000" b="1" dirty="0"/>
              <a:t>The deadline is physics, not an SLA: </a:t>
            </a:r>
            <a:r>
              <a:rPr lang="en-GB" sz="1000" dirty="0"/>
              <a:t> classical scheduler/network latency coupled directly to qubit lifetime (µs)</a:t>
            </a:r>
          </a:p>
          <a:p>
            <a:r>
              <a:rPr lang="en-GB" sz="1000" b="1" dirty="0"/>
              <a:t>Clock / phase synchronization: </a:t>
            </a:r>
            <a:r>
              <a:rPr lang="en-GB" sz="1000" dirty="0"/>
              <a:t> sub-ns timing across nodes for photon interference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7C3ACB58-B0F1-E1E5-11FB-48638AAF1B9B}"/>
              </a:ext>
            </a:extLst>
          </p:cNvPr>
          <p:cNvSpPr txBox="1">
            <a:spLocks/>
          </p:cNvSpPr>
          <p:nvPr/>
        </p:nvSpPr>
        <p:spPr>
          <a:xfrm>
            <a:off x="416359" y="5547048"/>
            <a:ext cx="7616800" cy="1636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GB" sz="1200" b="1" dirty="0">
                <a:solidFill>
                  <a:srgbClr val="FF0000"/>
                </a:solidFill>
              </a:rPr>
              <a:t>PROGRAMMING MODEL &amp; TOOLING</a:t>
            </a:r>
          </a:p>
          <a:p>
            <a:pPr>
              <a:lnSpc>
                <a:spcPct val="110000"/>
              </a:lnSpc>
            </a:pPr>
            <a:r>
              <a:rPr lang="en-GB" sz="1000" b="1" dirty="0"/>
              <a:t>Right abstraction?:</a:t>
            </a:r>
            <a:r>
              <a:rPr lang="en-GB" sz="1000" dirty="0"/>
              <a:t> one transparent virtual machine vs explicit nodes + links (shared-memory vs MPI, reborn)</a:t>
            </a:r>
          </a:p>
          <a:p>
            <a:pPr>
              <a:lnSpc>
                <a:spcPct val="110000"/>
              </a:lnSpc>
            </a:pPr>
            <a:r>
              <a:rPr lang="en-GB" sz="1000" b="1" dirty="0"/>
              <a:t>Verification &amp; debugging:</a:t>
            </a:r>
            <a:r>
              <a:rPr lang="en-GB" sz="1000" dirty="0"/>
              <a:t> no breakpoints: you can't inspect state without collapsing it</a:t>
            </a:r>
          </a:p>
          <a:p>
            <a:pPr>
              <a:lnSpc>
                <a:spcPct val="110000"/>
              </a:lnSpc>
            </a:pPr>
            <a:r>
              <a:rPr lang="en-GB" sz="1000" b="1" dirty="0"/>
              <a:t>Benchmarking:</a:t>
            </a:r>
            <a:r>
              <a:rPr lang="en-GB" sz="1000" dirty="0"/>
              <a:t> no agreed metrics for a DQC system</a:t>
            </a:r>
            <a:endParaRPr lang="en-GB" sz="1000" b="1" dirty="0">
              <a:solidFill>
                <a:srgbClr val="FF0000"/>
              </a:solidFill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5A98B87-8D62-D5F5-562C-4B5277095677}"/>
              </a:ext>
            </a:extLst>
          </p:cNvPr>
          <p:cNvSpPr txBox="1">
            <a:spLocks/>
          </p:cNvSpPr>
          <p:nvPr/>
        </p:nvSpPr>
        <p:spPr>
          <a:xfrm>
            <a:off x="7475543" y="3484789"/>
            <a:ext cx="4544055" cy="1636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GB" sz="1200" b="1" dirty="0">
                <a:solidFill>
                  <a:srgbClr val="FF0000"/>
                </a:solidFill>
              </a:rPr>
              <a:t>FAULT TOLERANCE ACROSS THE NETWORK</a:t>
            </a:r>
          </a:p>
          <a:p>
            <a:r>
              <a:rPr lang="en-GB" sz="1000" b="1" dirty="0"/>
              <a:t>Distributed QEC: </a:t>
            </a:r>
            <a:r>
              <a:rPr lang="en-GB" sz="1000" dirty="0"/>
              <a:t>syndrome extraction over links orders-of-magnitude noisier than on-chip</a:t>
            </a:r>
          </a:p>
          <a:p>
            <a:r>
              <a:rPr lang="en-GB" sz="1000" b="1" dirty="0"/>
              <a:t>Networked codes &amp; lattice surgery:</a:t>
            </a:r>
            <a:r>
              <a:rPr lang="en-GB" sz="1000" dirty="0"/>
              <a:t> surface-code logical qubits spanning QPUs; thresholds for modular architectures</a:t>
            </a:r>
          </a:p>
          <a:p>
            <a:r>
              <a:rPr lang="en-GB" sz="1000" b="1" dirty="0"/>
              <a:t>Reliability without copies:</a:t>
            </a:r>
            <a:r>
              <a:rPr lang="en-GB" sz="1000" dirty="0"/>
              <a:t> it's replication/consensus, except no-cloning forbids backups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6BCDD6F-0BE3-6E5D-2D92-0AD4F82D7DA5}"/>
              </a:ext>
            </a:extLst>
          </p:cNvPr>
          <p:cNvSpPr txBox="1">
            <a:spLocks/>
          </p:cNvSpPr>
          <p:nvPr/>
        </p:nvSpPr>
        <p:spPr>
          <a:xfrm>
            <a:off x="7475543" y="5069557"/>
            <a:ext cx="4544055" cy="16368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GB" sz="1200" b="1" dirty="0">
                <a:solidFill>
                  <a:srgbClr val="FF0000"/>
                </a:solidFill>
              </a:rPr>
              <a:t>SYSTEMS / HPC INTEGRATION</a:t>
            </a:r>
          </a:p>
          <a:p>
            <a:pPr>
              <a:lnSpc>
                <a:spcPct val="110000"/>
              </a:lnSpc>
            </a:pPr>
            <a:r>
              <a:rPr lang="en-GB" sz="1000" b="1" dirty="0"/>
              <a:t>QPU as accelerator:</a:t>
            </a:r>
            <a:r>
              <a:rPr lang="en-GB" sz="1000" dirty="0"/>
              <a:t> how does a QPU cluster slot into a supercomputer's job scheduler? (like GPUs, but with deadlines)</a:t>
            </a:r>
          </a:p>
          <a:p>
            <a:pPr>
              <a:lnSpc>
                <a:spcPct val="110000"/>
              </a:lnSpc>
            </a:pPr>
            <a:r>
              <a:rPr lang="en-GB" sz="1000" b="1" dirty="0"/>
              <a:t>Hybrid workflows:</a:t>
            </a:r>
            <a:r>
              <a:rPr lang="en-GB" sz="1000" dirty="0"/>
              <a:t> classical pre/post-processing tightly coupled to quantum kernels; data movement &amp; orchestration</a:t>
            </a:r>
          </a:p>
          <a:p>
            <a:pPr>
              <a:lnSpc>
                <a:spcPct val="110000"/>
              </a:lnSpc>
            </a:pPr>
            <a:r>
              <a:rPr lang="en-GB" sz="1000" b="1" dirty="0"/>
              <a:t>Standardization:</a:t>
            </a:r>
            <a:r>
              <a:rPr lang="en-GB" sz="1000" dirty="0"/>
              <a:t> no stack, no interfaces, no portability yet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6293D45-67EF-7EFF-030F-37F37D17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5946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D09B5-967D-48B5-9413-83D4EF6BF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promise of a Quantum internet</a:t>
            </a:r>
          </a:p>
        </p:txBody>
      </p:sp>
      <p:pic>
        <p:nvPicPr>
          <p:cNvPr id="4" name="Picture 3" descr="History doesn't repeat itself, but it does rhyme. ~ Mark Twain">
            <a:extLst>
              <a:ext uri="{FF2B5EF4-FFF2-40B4-BE49-F238E27FC236}">
                <a16:creationId xmlns:a16="http://schemas.microsoft.com/office/drawing/2014/main" id="{4F6EFEC1-28FF-9E79-58FF-4AE390DC9B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346" b="6357"/>
          <a:stretch>
            <a:fillRect/>
          </a:stretch>
        </p:blipFill>
        <p:spPr>
          <a:xfrm>
            <a:off x="8928848" y="215385"/>
            <a:ext cx="3039011" cy="162504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4A3113-6E2D-E035-E42F-76E4738DD6D0}"/>
              </a:ext>
            </a:extLst>
          </p:cNvPr>
          <p:cNvSpPr txBox="1">
            <a:spLocks/>
          </p:cNvSpPr>
          <p:nvPr/>
        </p:nvSpPr>
        <p:spPr>
          <a:xfrm>
            <a:off x="838200" y="6492875"/>
            <a:ext cx="10515600" cy="23426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 is  a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problem,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12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 are the kind of thing </a:t>
            </a:r>
            <a:r>
              <a:rPr lang="en-GB" sz="12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12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pic>
        <p:nvPicPr>
          <p:cNvPr id="10" name="Picture 9" descr="BYU Engineering involved in $26M National Science Foundation quantum  internet project">
            <a:extLst>
              <a:ext uri="{FF2B5EF4-FFF2-40B4-BE49-F238E27FC236}">
                <a16:creationId xmlns:a16="http://schemas.microsoft.com/office/drawing/2014/main" id="{29272589-7536-B7E0-49E5-FA25DD8658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848" y="1517753"/>
            <a:ext cx="7772400" cy="448864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1AF7E9-F5A4-0165-F91B-B7119740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5903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60C68-B82C-660F-E03C-F60192983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8663D8-1920-49A0-423F-FC0B732BAD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9142"/>
            <a:ext cx="10515600" cy="467115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40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Scaling </a:t>
            </a: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quantum computers </a:t>
            </a:r>
          </a:p>
          <a:p>
            <a:pPr marL="0" indent="0" algn="ctr">
              <a:buNone/>
            </a:pP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is </a:t>
            </a:r>
          </a:p>
          <a:p>
            <a:pPr marL="0" indent="0" algn="ctr">
              <a:buNone/>
            </a:pP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a</a:t>
            </a:r>
            <a:r>
              <a:rPr lang="en-GB" sz="40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distributed-systems &amp; networking problem</a:t>
            </a: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,</a:t>
            </a:r>
            <a:endParaRPr lang="en-GB" sz="40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  <a:p>
            <a:pPr marL="0" indent="0" algn="ctr">
              <a:buNone/>
            </a:pP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where the</a:t>
            </a:r>
            <a:r>
              <a:rPr lang="en-GB" sz="40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 hardest </a:t>
            </a: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unsolved parts </a:t>
            </a:r>
          </a:p>
          <a:p>
            <a:pPr marL="0" indent="0" algn="ctr">
              <a:buNone/>
            </a:pPr>
            <a:r>
              <a:rPr lang="en-GB" sz="4000" dirty="0">
                <a:ea typeface="ADLaM Display" panose="02010000000000000000" pitchFamily="2" charset="77"/>
                <a:cs typeface="Microsoft New Tai Lue" panose="020B0502040204020203" pitchFamily="34" charset="0"/>
              </a:rPr>
              <a:t>are the kind of thing </a:t>
            </a:r>
            <a:r>
              <a:rPr lang="en-GB" sz="4000" b="1" dirty="0">
                <a:ea typeface="ADLaM Display" panose="02010000000000000000" pitchFamily="2" charset="77"/>
                <a:cs typeface="Microsoft New Tai Lue" panose="020B0502040204020203" pitchFamily="34" charset="0"/>
              </a:rPr>
              <a:t>you are good at.</a:t>
            </a:r>
            <a:endParaRPr lang="en-US" sz="4000" b="1" dirty="0">
              <a:ea typeface="ADLaM Display" panose="02010000000000000000" pitchFamily="2" charset="77"/>
              <a:cs typeface="Microsoft New Tai Lue" panose="020B0502040204020203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A67DCB-7828-380F-464A-F0FD456BD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33A42-AD54-EA4C-B6F9-0D7D7DD68FF7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104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1154</TotalTime>
  <Words>1726</Words>
  <Application>Microsoft Macintosh PowerPoint</Application>
  <PresentationFormat>Widescreen</PresentationFormat>
  <Paragraphs>229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-webkit-standard</vt:lpstr>
      <vt:lpstr>ADLaM Display</vt:lpstr>
      <vt:lpstr>Aptos</vt:lpstr>
      <vt:lpstr>Aptos Display</vt:lpstr>
      <vt:lpstr>Arial</vt:lpstr>
      <vt:lpstr>Cambria Math</vt:lpstr>
      <vt:lpstr>Google Sans</vt:lpstr>
      <vt:lpstr>Office Theme</vt:lpstr>
      <vt:lpstr>Why should you pay attention to Distributed Quantum Computing?</vt:lpstr>
      <vt:lpstr>PowerPoint Presentation</vt:lpstr>
      <vt:lpstr>What is Quantum?</vt:lpstr>
      <vt:lpstr>What is Quantum?</vt:lpstr>
      <vt:lpstr>What is Quantum?</vt:lpstr>
      <vt:lpstr>What is Quantum?</vt:lpstr>
      <vt:lpstr>What is Quantum?</vt:lpstr>
      <vt:lpstr>What is Quantum?</vt:lpstr>
      <vt:lpstr>What quantum advantage desires</vt:lpstr>
      <vt:lpstr>What quantum advantage desires</vt:lpstr>
      <vt:lpstr>What quantum advantage needs </vt:lpstr>
      <vt:lpstr>What quantum advantage needs </vt:lpstr>
      <vt:lpstr>Classical Networks</vt:lpstr>
      <vt:lpstr>Quantum computing</vt:lpstr>
      <vt:lpstr>Quantum computing</vt:lpstr>
      <vt:lpstr>Quantum computing</vt:lpstr>
      <vt:lpstr>Quantum computing</vt:lpstr>
      <vt:lpstr>Quantum computing</vt:lpstr>
      <vt:lpstr>Quantum computing</vt:lpstr>
      <vt:lpstr>Entanglement?</vt:lpstr>
      <vt:lpstr>Entanglement?</vt:lpstr>
      <vt:lpstr>Entanglement?</vt:lpstr>
      <vt:lpstr>Entanglement</vt:lpstr>
      <vt:lpstr>Quantum Networks</vt:lpstr>
      <vt:lpstr>Quantum Networks</vt:lpstr>
      <vt:lpstr>Entanglement is super nice!</vt:lpstr>
      <vt:lpstr>Entanglement is super nice!</vt:lpstr>
      <vt:lpstr>Entanglement is super nice!</vt:lpstr>
      <vt:lpstr>Entanglement is super nice!</vt:lpstr>
      <vt:lpstr>Open problems galore</vt:lpstr>
      <vt:lpstr>The promise of a Quantum internet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María Gragera Garcés</dc:creator>
  <cp:lastModifiedBy>María Gragera Garcés</cp:lastModifiedBy>
  <cp:revision>4</cp:revision>
  <dcterms:created xsi:type="dcterms:W3CDTF">2026-06-24T09:50:46Z</dcterms:created>
  <dcterms:modified xsi:type="dcterms:W3CDTF">2026-06-25T09:36:39Z</dcterms:modified>
</cp:coreProperties>
</file>