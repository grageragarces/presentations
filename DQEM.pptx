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77" r:id="rId2"/>
    <p:sldId id="300" r:id="rId3"/>
    <p:sldId id="257" r:id="rId4"/>
    <p:sldId id="258" r:id="rId5"/>
    <p:sldId id="259" r:id="rId6"/>
    <p:sldId id="278" r:id="rId7"/>
    <p:sldId id="279" r:id="rId8"/>
    <p:sldId id="280" r:id="rId9"/>
    <p:sldId id="268" r:id="rId10"/>
    <p:sldId id="260" r:id="rId11"/>
    <p:sldId id="261" r:id="rId12"/>
    <p:sldId id="262" r:id="rId13"/>
    <p:sldId id="298" r:id="rId14"/>
    <p:sldId id="285" r:id="rId15"/>
    <p:sldId id="286" r:id="rId16"/>
    <p:sldId id="287" r:id="rId17"/>
    <p:sldId id="288" r:id="rId18"/>
    <p:sldId id="299" r:id="rId19"/>
    <p:sldId id="265" r:id="rId20"/>
    <p:sldId id="289" r:id="rId21"/>
    <p:sldId id="290" r:id="rId22"/>
    <p:sldId id="270" r:id="rId23"/>
    <p:sldId id="295" r:id="rId24"/>
    <p:sldId id="264" r:id="rId25"/>
    <p:sldId id="271" r:id="rId26"/>
    <p:sldId id="273" r:id="rId27"/>
    <p:sldId id="272" r:id="rId28"/>
    <p:sldId id="296" r:id="rId29"/>
    <p:sldId id="266" r:id="rId30"/>
    <p:sldId id="291" r:id="rId31"/>
    <p:sldId id="292" r:id="rId32"/>
    <p:sldId id="293" r:id="rId33"/>
    <p:sldId id="297" r:id="rId34"/>
    <p:sldId id="274" r:id="rId35"/>
    <p:sldId id="275" r:id="rId36"/>
    <p:sldId id="276" r:id="rId37"/>
    <p:sldId id="26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6602"/>
    <a:srgbClr val="00AFF1"/>
    <a:srgbClr val="FF3323"/>
    <a:srgbClr val="E97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65"/>
    <p:restoredTop sz="77050"/>
  </p:normalViewPr>
  <p:slideViewPr>
    <p:cSldViewPr snapToGrid="0">
      <p:cViewPr varScale="1">
        <p:scale>
          <a:sx n="91" d="100"/>
          <a:sy n="91" d="100"/>
        </p:scale>
        <p:origin x="1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EF1DB46-9D5F-E3E0-8748-82E466843D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E2E58-2A02-4F84-75B9-3A2822AAA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E360D-D242-8646-8CF9-7C712B667180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505CA-FC58-D840-3A27-B39B23877C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D620A-F5E8-2F90-755E-84622B5AAD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E3B5-D952-2147-B233-95ACA95B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107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3C4A1-E908-D140-862A-79CAA04B798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2A612-DBBC-A64E-B118-5E433B99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982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44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18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81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E33BF-6487-832D-BA3B-A1F27A92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0B9A6-4E43-33F5-56DF-4AA09C250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36D15-1405-4481-C511-045DAE10C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make bullet points appear as they come </a:t>
            </a:r>
          </a:p>
          <a:p>
            <a:r>
              <a:rPr lang="en-US" dirty="0"/>
              <a:t> paragraph above goes</a:t>
            </a:r>
          </a:p>
          <a:p>
            <a:r>
              <a:rPr lang="en-US" dirty="0"/>
              <a:t>make the bullet points shorter </a:t>
            </a:r>
          </a:p>
          <a:p>
            <a:endParaRPr lang="en-US" dirty="0"/>
          </a:p>
          <a:p>
            <a:r>
              <a:rPr lang="en-US" dirty="0"/>
              <a:t>ex. EC not yet adapter to DQC</a:t>
            </a:r>
          </a:p>
          <a:p>
            <a:r>
              <a:rPr lang="en-US" dirty="0"/>
              <a:t>we require cross-community collab</a:t>
            </a:r>
          </a:p>
          <a:p>
            <a:endParaRPr lang="en-US" dirty="0"/>
          </a:p>
          <a:p>
            <a:r>
              <a:rPr lang="en-US" dirty="0" err="1"/>
              <a:t>colour</a:t>
            </a:r>
            <a:r>
              <a:rPr lang="en-US" dirty="0"/>
              <a:t> -&gt; pop out what is important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8E838-6B76-416F-9817-794AC3262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20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F082-8247-693E-9B3D-02AA7743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7188F-14AA-7BB2-E83E-D48FC2262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24560-2491-4431-141B-6F84F3B7B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B61CB-53BB-01F0-E9B4-3814BDF34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41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CC45B-D26D-45A9-2F33-58531AB5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8C94D-FF2A-8DD8-C3F6-3DB256E03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16E9C-5F86-890D-88D4-3F3CE26E6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A6E6A-847F-2F60-1799-447F0C5DA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70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46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77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41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80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22FC4-86E3-40DB-45E2-27F02CA1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81644-C6FF-5692-AC46-CDAC4D8D5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58896-121F-0755-E0D0-73C6C400F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C78A6-C5FB-529C-882C-4F0F8BD7B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16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1977B-D945-1925-1D42-D9D1E6A6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0C562-432D-4831-C676-CD589B394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7D39E-C4AE-FA10-5264-004B63617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4407E-FB66-4861-9AAF-DD92791FE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45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01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63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93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9054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2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pink = title </a:t>
            </a:r>
          </a:p>
          <a:p>
            <a:endParaRPr lang="en-US" dirty="0"/>
          </a:p>
          <a:p>
            <a:r>
              <a:rPr lang="en-US" dirty="0"/>
              <a:t>no reminder </a:t>
            </a:r>
          </a:p>
          <a:p>
            <a:endParaRPr lang="en-US" dirty="0"/>
          </a:p>
          <a:p>
            <a:r>
              <a:rPr lang="en-US" dirty="0"/>
              <a:t>scale - graphic</a:t>
            </a:r>
          </a:p>
          <a:p>
            <a:r>
              <a:rPr lang="en-US" dirty="0"/>
              <a:t>more depth = more noise</a:t>
            </a:r>
          </a:p>
          <a:p>
            <a:r>
              <a:rPr lang="en-US" dirty="0"/>
              <a:t>more partition = less depth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29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previous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21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2A612-DBBC-A64E-B118-5E433B99F3A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9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310C-A3D7-BAAA-E5EC-B860B8344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94F1C-EBB8-B60B-6DB6-F799B0664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26685-36E2-D5F1-572C-15F2DFB9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359-B875-AF48-A4FD-BD0F8D974E69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29142-656A-AA88-FFF1-BFF0B686A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3E8E-94DB-ED03-6BA8-1A6D6DBC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4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5398-E549-BD58-43CE-D8793067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12C4-D0C2-29F4-7C28-3C65C8E61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785C9-186D-6B35-1BCE-0C506DF0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2154F-E166-B145-BB83-EF2A9C99FE87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2C71C-B630-F5EA-B62D-1B367B71E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0224B-5EC8-F886-70C1-D7548EB4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8447-7902-0312-8F3F-95FAB669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FA403-9560-26E9-0687-8EF9BF5A9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D1842-56E1-5E86-0123-713A1CD9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7F0E-3BD7-FC4D-B970-26A6C32CFC02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7714C-11E0-115E-AB56-116287E3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2B21A-43B4-F4A0-8988-A1406D3E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77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EA71-BD91-9403-3CD8-10CEA436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31F7E-1ACD-62C1-50AB-18C8A4621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82597-8939-6181-88FE-47D622C9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9D3E9-F759-D851-A0AF-4E772EF8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56ABD-3C1C-F342-AB5D-E195D37D6A75}" type="datetime1">
              <a:rPr lang="en-GB" smtClean="0"/>
              <a:t>25/06/2026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598BF-85DE-4401-A0DA-485531B8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A7670-5035-0C6A-C0EA-C2C11351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2442-1DFE-F447-FBF4-177E9523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F10F8-8721-0218-7BB0-6A42BE187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05180-BDBF-26BB-5ED7-F5B4782BA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A0B22-207F-784B-08C3-A2F54E85D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3313A-5BC5-DC4D-EF25-4552F2F68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25146-55D4-759E-CE17-30285FF0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A0D5-F7EB-F24C-88DD-042B9F12076C}" type="datetime1">
              <a:rPr lang="en-GB" smtClean="0"/>
              <a:t>25/06/2026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B973D3-64D0-70DA-10F7-F9D7BA2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D215FE-0EAE-ECF1-E751-74624639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5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1E2B-E411-4669-E864-7303C242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33B264-D0C4-ACBB-4464-DC157AC8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DF6F-DA06-A14E-9CA6-AA62BC54E9E6}" type="datetime1">
              <a:rPr lang="en-GB" smtClean="0"/>
              <a:t>25/06/2026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DADF6-3C38-F3D1-364C-D03E858F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422CE-31D8-5AE5-7C1F-8DFC3766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8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20DBD-4601-FE8A-082A-D15FFFD0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5602-B9A1-A543-BA7C-AB770B06385C}" type="datetime1">
              <a:rPr lang="en-GB" smtClean="0"/>
              <a:t>25/06/2026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30F019-B6F9-59D5-CB5E-04FD1EF3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4800F-7062-F22F-7F55-BB1958D88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2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8BFC-3170-E40A-0503-F0116FE5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9A4FF-806A-D416-D318-9E9D8741A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C79FE-D66C-FA44-1E3C-FCEACB304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4364B-40E0-5727-FCA8-2A9038F1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52266-5C54-5941-8C6A-A2151048B5C7}" type="datetime1">
              <a:rPr lang="en-GB" smtClean="0"/>
              <a:t>25/06/2026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400A8-A759-5204-5ECF-667C1398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ECAD7-2C9A-A57D-C75C-8D7F0058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2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F025-C333-DF27-1231-D8A394D4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FD9534-FC58-C1A3-6696-7C5FAB4FD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68290-0964-4454-9788-95A68AD24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9C237-2D88-FE4E-C1C2-1CE41DF6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0C8A-DDAC-C840-A8F9-41FCC154699D}" type="datetime1">
              <a:rPr lang="en-GB" smtClean="0"/>
              <a:t>25/06/2026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A8093-A1E9-C121-322C-6D9678A2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2221F-CE6A-3924-0E04-2D941059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3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822D3-BA24-DDEE-D4DE-D06EE098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52EB9-B95B-51B0-7214-504191577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692D9-EBDD-0256-C000-41D7DC0C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71809-7BCD-D345-BA6F-B45DC657784C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2C473-D382-6C1E-0798-DE8D2AD02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CC86D-0E14-E790-6F68-0225C31E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803565-658C-66FF-C84B-65BE93958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D680F-912A-4A0E-61BF-EAE00ECDB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7826D-298B-9D69-0587-6A9498C8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7F6E-8A82-E249-BE07-ACE9AC694BDF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E5C-C8FE-E1CE-367A-654F27C1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FA014-EAD0-95F4-CEE3-BB76FA56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8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A9591-9EE5-69BF-37EE-7609541C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72C1A-FA8C-EFEB-157A-37F9131D2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ACB1B-E60A-4542-D126-F592A1FCB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E3129-2DF1-7E43-B2A6-B4E0485E0388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73829-083B-3F20-4B05-697FD04C7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Distributed Quantum Error Mitigation | Maria Gragera Garces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0930A-75FE-8182-6FB1-3AE118F8C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67557-5B85-224A-8198-27673339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7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hyperlink" Target="mailto:m.gragera.garces@ed.ac.uk" TargetMode="External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2FE92-BBA5-F28D-805E-92DCF516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a printed circuit board">
            <a:extLst>
              <a:ext uri="{FF2B5EF4-FFF2-40B4-BE49-F238E27FC236}">
                <a16:creationId xmlns:a16="http://schemas.microsoft.com/office/drawing/2014/main" id="{DBB8B4E2-5C67-FEF5-CF67-2A40D0AB05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rcRect t="8391" r="1468" b="8391"/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6667450-CD11-0786-C89B-C3EBC88B62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Maria Gragera Garces</a:t>
            </a:r>
          </a:p>
          <a:p>
            <a:r>
              <a:rPr lang="en-GB" sz="1800" dirty="0"/>
              <a:t>Quantum Software Lab, University of Edinburgh</a:t>
            </a:r>
          </a:p>
          <a:p>
            <a:r>
              <a:rPr lang="en-GB" sz="1800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m.gragera.garces@ed.ac.</a:t>
            </a:r>
            <a:r>
              <a:rPr lang="en-GB" sz="1800" dirty="0">
                <a:solidFill>
                  <a:schemeClr val="accent3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uk</a:t>
            </a:r>
            <a:endParaRPr lang="en-GB" sz="18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GB" sz="1800" b="1" dirty="0"/>
              <a:t>INFOCOM QuNAP 2026</a:t>
            </a:r>
          </a:p>
          <a:p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C0B59C-ABD5-1417-B15E-ECDDFADD1C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076871" y="2186670"/>
            <a:ext cx="8195012" cy="1069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61874" tIns="39675" rIns="0" bIns="84111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4000" b="1" dirty="0"/>
              <a:t>Distributed Quantum Error Mitigation</a:t>
            </a:r>
            <a:br>
              <a:rPr lang="en-GB" sz="4000" dirty="0"/>
            </a:br>
            <a:r>
              <a:rPr lang="en-GB" sz="2800" dirty="0"/>
              <a:t>Global and Local ZNE encodings</a:t>
            </a:r>
          </a:p>
        </p:txBody>
      </p:sp>
      <p:pic>
        <p:nvPicPr>
          <p:cNvPr id="6" name="Graphic 5" descr="Email outline">
            <a:extLst>
              <a:ext uri="{FF2B5EF4-FFF2-40B4-BE49-F238E27FC236}">
                <a16:creationId xmlns:a16="http://schemas.microsoft.com/office/drawing/2014/main" id="{85C4B8A6-0DA2-F4FF-4171-4F01189A6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5635" y="4267199"/>
            <a:ext cx="416719" cy="41671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1FF2F6-9CEC-64C6-2DC7-CCB332A0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4011" y="6356349"/>
            <a:ext cx="5155474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56E41-24AC-1338-6F31-4EAA38D6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</a:t>
            </a:fld>
            <a:endParaRPr lang="en-US"/>
          </a:p>
        </p:txBody>
      </p:sp>
      <p:pic>
        <p:nvPicPr>
          <p:cNvPr id="1028" name="Picture 4" descr="The University of Edinburgh | Edinburgh">
            <a:extLst>
              <a:ext uri="{FF2B5EF4-FFF2-40B4-BE49-F238E27FC236}">
                <a16:creationId xmlns:a16="http://schemas.microsoft.com/office/drawing/2014/main" id="{EF582340-E474-8DF1-B2F0-0A20D6FC6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556" y1="29778" x2="44000" y2="37778"/>
                        <a14:foregroundMark x1="20889" y1="51556" x2="20889" y2="43111"/>
                        <a14:foregroundMark x1="76444" y1="43111" x2="76444" y2="49778"/>
                        <a14:foregroundMark x1="52889" y1="35111" x2="62222" y2="28000"/>
                        <a14:foregroundMark x1="36889" y1="73778" x2="62667" y2="41333"/>
                        <a14:foregroundMark x1="62667" y1="41333" x2="36000" y2="45778"/>
                        <a14:foregroundMark x1="36000" y1="45333" x2="36000" y2="56444"/>
                        <a14:foregroundMark x1="64444" y1="39111" x2="64000" y2="57778"/>
                        <a14:foregroundMark x1="50667" y1="82222" x2="58667" y2="78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014" y="136525"/>
            <a:ext cx="1171249" cy="117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Quantum Software Lab · GitHub">
            <a:extLst>
              <a:ext uri="{FF2B5EF4-FFF2-40B4-BE49-F238E27FC236}">
                <a16:creationId xmlns:a16="http://schemas.microsoft.com/office/drawing/2014/main" id="{EF4BCCFE-CA55-6F54-FB86-45DA70B6D8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8000" b="65500" l="5500" r="95500">
                        <a14:foregroundMark x1="5500" y1="50500" x2="5500" y2="50500"/>
                        <a14:foregroundMark x1="40500" y1="45500" x2="40500" y2="45500"/>
                        <a14:foregroundMark x1="26000" y1="61500" x2="26000" y2="61500"/>
                        <a14:foregroundMark x1="7500" y1="54000" x2="7500" y2="54000"/>
                        <a14:foregroundMark x1="46500" y1="51000" x2="46500" y2="51000"/>
                        <a14:foregroundMark x1="65500" y1="49000" x2="65500" y2="49000"/>
                        <a14:foregroundMark x1="93000" y1="49500" x2="93000" y2="49500"/>
                        <a14:foregroundMark x1="95500" y1="51000" x2="95500" y2="51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813" b="30875"/>
          <a:stretch>
            <a:fillRect/>
          </a:stretch>
        </p:blipFill>
        <p:spPr bwMode="auto">
          <a:xfrm>
            <a:off x="8975069" y="534467"/>
            <a:ext cx="1613560" cy="55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566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D57B-1DC3-239C-14F5-4C2BFCE7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22F5-F3D2-7D33-3F46-C9C47B795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29D24-53F2-032D-50F5-B4E1AE05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59036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9CB30-7AA3-7EB2-AD72-FC5304CA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7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4F88-DD65-CD40-E49E-2B3891F3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Quantum Computing (DQC)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DBC3F-9988-DFA0-FD3C-813996F4A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40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Multiple quantum computers interconnected</a:t>
            </a:r>
            <a:r>
              <a:rPr lang="en-US" dirty="0">
                <a:solidFill>
                  <a:srgbClr val="7030A0"/>
                </a:solidFill>
              </a:rPr>
              <a:t>*</a:t>
            </a:r>
            <a:r>
              <a:rPr lang="en-US" dirty="0"/>
              <a:t> to perform a joint computation larger than their individual capacities.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D3D6E-883A-6B1E-FB37-DDB8DF30A299}"/>
              </a:ext>
            </a:extLst>
          </p:cNvPr>
          <p:cNvSpPr txBox="1"/>
          <p:nvPr/>
        </p:nvSpPr>
        <p:spPr>
          <a:xfrm>
            <a:off x="70539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*via a quantum network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FCC5B64-2A71-7239-3360-4B5ED5322E58}"/>
              </a:ext>
            </a:extLst>
          </p:cNvPr>
          <p:cNvGrpSpPr/>
          <p:nvPr/>
        </p:nvGrpSpPr>
        <p:grpSpPr>
          <a:xfrm>
            <a:off x="2488996" y="3033612"/>
            <a:ext cx="7052168" cy="1603043"/>
            <a:chOff x="2442814" y="3560084"/>
            <a:chExt cx="6441916" cy="119651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E3D131B-1548-3FA7-669F-28BCF9356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2669" t="4325" r="20700" b="5410"/>
            <a:stretch>
              <a:fillRect/>
            </a:stretch>
          </p:blipFill>
          <p:spPr>
            <a:xfrm>
              <a:off x="4880232" y="3560084"/>
              <a:ext cx="4004498" cy="11965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AD5FE41-EDAC-629F-F478-8DC839D1C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83" t="9158" r="76045" b="5297"/>
            <a:stretch>
              <a:fillRect/>
            </a:stretch>
          </p:blipFill>
          <p:spPr>
            <a:xfrm>
              <a:off x="2442814" y="3591363"/>
              <a:ext cx="2489405" cy="1133961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236DDA9-FB21-113C-5ED3-94CB9F98CB51}"/>
              </a:ext>
            </a:extLst>
          </p:cNvPr>
          <p:cNvSpPr txBox="1"/>
          <p:nvPr/>
        </p:nvSpPr>
        <p:spPr>
          <a:xfrm>
            <a:off x="2198254" y="4636655"/>
            <a:ext cx="2060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 computation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A3FE74-88B5-3ECA-4AD4-454C9F0E8E41}"/>
              </a:ext>
            </a:extLst>
          </p:cNvPr>
          <p:cNvSpPr txBox="1"/>
          <p:nvPr/>
        </p:nvSpPr>
        <p:spPr>
          <a:xfrm>
            <a:off x="5319154" y="4636655"/>
            <a:ext cx="133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Abstraction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8FC6FF-E59E-1A25-9699-B4F11E21ED80}"/>
              </a:ext>
            </a:extLst>
          </p:cNvPr>
          <p:cNvSpPr txBox="1"/>
          <p:nvPr/>
        </p:nvSpPr>
        <p:spPr>
          <a:xfrm>
            <a:off x="7826827" y="4638163"/>
            <a:ext cx="246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&amp; Assignment</a:t>
            </a:r>
          </a:p>
          <a:p>
            <a:r>
              <a:rPr lang="en-US" dirty="0"/>
              <a:t>To QPUs in the network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A1C33-2D12-A37D-0E0F-DA7D95905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70217" y="6338026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8D552-40D0-8364-5846-69F4FF6E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7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3F6E-35F3-FB82-7B94-F9E799D5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noise problem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1AA543-CBD6-7DF3-C231-1692AE8EA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6656"/>
            <a:ext cx="10515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Quantum computation is fundamentally limited by noise. In a distributed setting, this challenge compounds.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More QPUs → more communication → more noise.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118A80-E645-61CA-BA97-19CA9BD36751}"/>
              </a:ext>
            </a:extLst>
          </p:cNvPr>
          <p:cNvGrpSpPr/>
          <p:nvPr/>
        </p:nvGrpSpPr>
        <p:grpSpPr>
          <a:xfrm>
            <a:off x="2483747" y="3958506"/>
            <a:ext cx="7498453" cy="2293182"/>
            <a:chOff x="2058554" y="4484800"/>
            <a:chExt cx="6379377" cy="1755737"/>
          </a:xfrm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BA1C8078-99D4-3AA3-89C9-221FEE4D7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8554" y="4546387"/>
              <a:ext cx="13773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 b="1" dirty="0">
                  <a:solidFill>
                    <a:srgbClr val="E97131"/>
                  </a:solidFill>
                  <a:latin typeface="ACADEMY ENGRAVED LET PLAIN:1.0" panose="02000000000000000000" pitchFamily="2" charset="0"/>
                </a:rPr>
                <a:t>QPU noise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086D7A-2737-9C9B-E004-D97325623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06" t="-716" r="49666" b="716"/>
            <a:stretch>
              <a:fillRect/>
            </a:stretch>
          </p:blipFill>
          <p:spPr>
            <a:xfrm>
              <a:off x="2222088" y="5104465"/>
              <a:ext cx="948294" cy="1136072"/>
            </a:xfrm>
            <a:prstGeom prst="rect">
              <a:avLst/>
            </a:prstGeom>
          </p:spPr>
        </p:pic>
        <p:pic>
          <p:nvPicPr>
            <p:cNvPr id="10" name="Graphic 9" descr="Lightning bolt with solid fill">
              <a:extLst>
                <a:ext uri="{FF2B5EF4-FFF2-40B4-BE49-F238E27FC236}">
                  <a16:creationId xmlns:a16="http://schemas.microsoft.com/office/drawing/2014/main" id="{BFDC5444-C300-A343-9A0E-BB682B226C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2088" y="4895320"/>
              <a:ext cx="299439" cy="299439"/>
            </a:xfrm>
            <a:prstGeom prst="rect">
              <a:avLst/>
            </a:prstGeom>
          </p:spPr>
        </p:pic>
        <p:pic>
          <p:nvPicPr>
            <p:cNvPr id="11" name="Graphic 10" descr="Lightning bolt with solid fill">
              <a:extLst>
                <a:ext uri="{FF2B5EF4-FFF2-40B4-BE49-F238E27FC236}">
                  <a16:creationId xmlns:a16="http://schemas.microsoft.com/office/drawing/2014/main" id="{D240636B-F6C6-A957-B7CE-044E982777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11096" y="4905520"/>
              <a:ext cx="299439" cy="299439"/>
            </a:xfrm>
            <a:prstGeom prst="rect">
              <a:avLst/>
            </a:prstGeom>
          </p:spPr>
        </p:pic>
        <p:pic>
          <p:nvPicPr>
            <p:cNvPr id="12" name="Graphic 11" descr="Lightning bolt with solid fill">
              <a:extLst>
                <a:ext uri="{FF2B5EF4-FFF2-40B4-BE49-F238E27FC236}">
                  <a16:creationId xmlns:a16="http://schemas.microsoft.com/office/drawing/2014/main" id="{2E78827B-2F90-8B24-20BF-4E1694C031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23792" y="4892004"/>
              <a:ext cx="299439" cy="299439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A822D0-64FC-B001-91AE-858796E362FA}"/>
                </a:ext>
              </a:extLst>
            </p:cNvPr>
            <p:cNvCxnSpPr/>
            <p:nvPr/>
          </p:nvCxnSpPr>
          <p:spPr>
            <a:xfrm>
              <a:off x="3535218" y="5646357"/>
              <a:ext cx="372225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9" name="Graphic 18" descr="Infinity outline">
              <a:extLst>
                <a:ext uri="{FF2B5EF4-FFF2-40B4-BE49-F238E27FC236}">
                  <a16:creationId xmlns:a16="http://schemas.microsoft.com/office/drawing/2014/main" id="{E0FA9EE6-6B34-C10B-AC62-B60DEB3C6A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54752" y="4855885"/>
              <a:ext cx="914400" cy="914400"/>
            </a:xfrm>
            <a:prstGeom prst="rect">
              <a:avLst/>
            </a:prstGeom>
          </p:spPr>
        </p:pic>
        <p:pic>
          <p:nvPicPr>
            <p:cNvPr id="23" name="Graphic 22" descr="Infinity outline">
              <a:extLst>
                <a:ext uri="{FF2B5EF4-FFF2-40B4-BE49-F238E27FC236}">
                  <a16:creationId xmlns:a16="http://schemas.microsoft.com/office/drawing/2014/main" id="{1436CA24-3220-BF5D-BA10-DBBF219377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39145" y="4850327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Infinity outline">
              <a:extLst>
                <a:ext uri="{FF2B5EF4-FFF2-40B4-BE49-F238E27FC236}">
                  <a16:creationId xmlns:a16="http://schemas.microsoft.com/office/drawing/2014/main" id="{C94B1562-D11A-4E8A-3D18-0460382B82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23538" y="4855885"/>
              <a:ext cx="914400" cy="91440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7C75004-106E-3BAD-B341-87EADBE8F105}"/>
                </a:ext>
              </a:extLst>
            </p:cNvPr>
            <p:cNvGrpSpPr/>
            <p:nvPr/>
          </p:nvGrpSpPr>
          <p:grpSpPr>
            <a:xfrm>
              <a:off x="5060807" y="5204959"/>
              <a:ext cx="655059" cy="226291"/>
              <a:chOff x="5060807" y="5204959"/>
              <a:chExt cx="655059" cy="22629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A9156F1-7BBD-E4B2-018B-B7E30CD33CBF}"/>
                  </a:ext>
                </a:extLst>
              </p:cNvPr>
              <p:cNvSpPr/>
              <p:nvPr/>
            </p:nvSpPr>
            <p:spPr>
              <a:xfrm>
                <a:off x="5060807" y="5223165"/>
                <a:ext cx="175490" cy="179841"/>
              </a:xfrm>
              <a:prstGeom prst="ellipse">
                <a:avLst/>
              </a:prstGeom>
              <a:solidFill>
                <a:srgbClr val="FF3323">
                  <a:alpha val="85490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705D8F9-62BD-2B23-3256-0C7C7DD3F3CE}"/>
                  </a:ext>
                </a:extLst>
              </p:cNvPr>
              <p:cNvSpPr/>
              <p:nvPr/>
            </p:nvSpPr>
            <p:spPr>
              <a:xfrm>
                <a:off x="5540376" y="5223165"/>
                <a:ext cx="175490" cy="179841"/>
              </a:xfrm>
              <a:prstGeom prst="ellipse">
                <a:avLst/>
              </a:prstGeom>
              <a:solidFill>
                <a:srgbClr val="00AFF1">
                  <a:alpha val="85098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" name="Graphic 27" descr="Atom outline">
                <a:extLst>
                  <a:ext uri="{FF2B5EF4-FFF2-40B4-BE49-F238E27FC236}">
                    <a16:creationId xmlns:a16="http://schemas.microsoft.com/office/drawing/2014/main" id="{8B1CBBBE-FA64-6D89-BA97-771B87973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94745" y="5204959"/>
                <a:ext cx="226291" cy="226291"/>
              </a:xfrm>
              <a:prstGeom prst="rect">
                <a:avLst/>
              </a:prstGeom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A2C2A50-1A73-05BB-037A-8267674C2D03}"/>
                </a:ext>
              </a:extLst>
            </p:cNvPr>
            <p:cNvGrpSpPr/>
            <p:nvPr/>
          </p:nvGrpSpPr>
          <p:grpSpPr>
            <a:xfrm>
              <a:off x="4072815" y="5204958"/>
              <a:ext cx="655059" cy="226291"/>
              <a:chOff x="5060807" y="5204959"/>
              <a:chExt cx="655059" cy="226291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27CBEB6-6D89-E9C4-509F-9DEC059F59F4}"/>
                  </a:ext>
                </a:extLst>
              </p:cNvPr>
              <p:cNvSpPr/>
              <p:nvPr/>
            </p:nvSpPr>
            <p:spPr>
              <a:xfrm>
                <a:off x="5060807" y="5223165"/>
                <a:ext cx="175490" cy="179841"/>
              </a:xfrm>
              <a:prstGeom prst="ellipse">
                <a:avLst/>
              </a:prstGeom>
              <a:solidFill>
                <a:srgbClr val="FF3323">
                  <a:alpha val="85490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3A4735F-3BDE-D3FB-80EB-BCEFA26EEE02}"/>
                  </a:ext>
                </a:extLst>
              </p:cNvPr>
              <p:cNvSpPr/>
              <p:nvPr/>
            </p:nvSpPr>
            <p:spPr>
              <a:xfrm>
                <a:off x="5540376" y="5223165"/>
                <a:ext cx="175490" cy="179841"/>
              </a:xfrm>
              <a:prstGeom prst="ellipse">
                <a:avLst/>
              </a:prstGeom>
              <a:solidFill>
                <a:srgbClr val="00AFF1">
                  <a:alpha val="85098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Graphic 31" descr="Atom outline">
                <a:extLst>
                  <a:ext uri="{FF2B5EF4-FFF2-40B4-BE49-F238E27FC236}">
                    <a16:creationId xmlns:a16="http://schemas.microsoft.com/office/drawing/2014/main" id="{FF3FEC86-CB1A-FF6A-6BA7-649FE625F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94745" y="5204959"/>
                <a:ext cx="226291" cy="226291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651E066-D924-B96F-990F-232F6D015096}"/>
                </a:ext>
              </a:extLst>
            </p:cNvPr>
            <p:cNvGrpSpPr/>
            <p:nvPr/>
          </p:nvGrpSpPr>
          <p:grpSpPr>
            <a:xfrm>
              <a:off x="6036262" y="5204958"/>
              <a:ext cx="655059" cy="226291"/>
              <a:chOff x="5060807" y="5204959"/>
              <a:chExt cx="655059" cy="22629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3F5A86F-258E-E805-806E-933081F3C8AC}"/>
                  </a:ext>
                </a:extLst>
              </p:cNvPr>
              <p:cNvSpPr/>
              <p:nvPr/>
            </p:nvSpPr>
            <p:spPr>
              <a:xfrm>
                <a:off x="5060807" y="5223165"/>
                <a:ext cx="175490" cy="179841"/>
              </a:xfrm>
              <a:prstGeom prst="ellipse">
                <a:avLst/>
              </a:prstGeom>
              <a:solidFill>
                <a:srgbClr val="FF3323">
                  <a:alpha val="85490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2C240A7-9D48-C9ED-8A74-DA91A973142F}"/>
                  </a:ext>
                </a:extLst>
              </p:cNvPr>
              <p:cNvSpPr/>
              <p:nvPr/>
            </p:nvSpPr>
            <p:spPr>
              <a:xfrm>
                <a:off x="5540376" y="5223165"/>
                <a:ext cx="175490" cy="179841"/>
              </a:xfrm>
              <a:prstGeom prst="ellipse">
                <a:avLst/>
              </a:prstGeom>
              <a:solidFill>
                <a:srgbClr val="00AFF1">
                  <a:alpha val="85098"/>
                </a:srgbClr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Graphic 35" descr="Atom outline">
                <a:extLst>
                  <a:ext uri="{FF2B5EF4-FFF2-40B4-BE49-F238E27FC236}">
                    <a16:creationId xmlns:a16="http://schemas.microsoft.com/office/drawing/2014/main" id="{D5FF37DF-B796-8C50-67BB-AB50E07BA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94745" y="5204959"/>
                <a:ext cx="226291" cy="226291"/>
              </a:xfrm>
              <a:prstGeom prst="rect">
                <a:avLst/>
              </a:prstGeom>
            </p:spPr>
          </p:pic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885C620-AC4F-85D4-3499-7773F9081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06" t="-716" r="49666" b="716"/>
            <a:stretch>
              <a:fillRect/>
            </a:stretch>
          </p:blipFill>
          <p:spPr>
            <a:xfrm>
              <a:off x="7310518" y="5104465"/>
              <a:ext cx="948294" cy="1136072"/>
            </a:xfrm>
            <a:prstGeom prst="rect">
              <a:avLst/>
            </a:prstGeom>
          </p:spPr>
        </p:pic>
        <p:pic>
          <p:nvPicPr>
            <p:cNvPr id="38" name="Graphic 37" descr="Lightning bolt with solid fill">
              <a:extLst>
                <a:ext uri="{FF2B5EF4-FFF2-40B4-BE49-F238E27FC236}">
                  <a16:creationId xmlns:a16="http://schemas.microsoft.com/office/drawing/2014/main" id="{4A364CE7-3EA4-8C33-7246-9683F54418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10518" y="4895320"/>
              <a:ext cx="299439" cy="299439"/>
            </a:xfrm>
            <a:prstGeom prst="rect">
              <a:avLst/>
            </a:prstGeom>
          </p:spPr>
        </p:pic>
        <p:pic>
          <p:nvPicPr>
            <p:cNvPr id="39" name="Graphic 38" descr="Lightning bolt with solid fill">
              <a:extLst>
                <a:ext uri="{FF2B5EF4-FFF2-40B4-BE49-F238E27FC236}">
                  <a16:creationId xmlns:a16="http://schemas.microsoft.com/office/drawing/2014/main" id="{3ECB4BB8-79F6-2C1F-2ECD-16F39DB039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99526" y="4905520"/>
              <a:ext cx="299439" cy="299439"/>
            </a:xfrm>
            <a:prstGeom prst="rect">
              <a:avLst/>
            </a:prstGeom>
          </p:spPr>
        </p:pic>
        <p:pic>
          <p:nvPicPr>
            <p:cNvPr id="40" name="Graphic 39" descr="Lightning bolt with solid fill">
              <a:extLst>
                <a:ext uri="{FF2B5EF4-FFF2-40B4-BE49-F238E27FC236}">
                  <a16:creationId xmlns:a16="http://schemas.microsoft.com/office/drawing/2014/main" id="{F995301C-2268-BF90-8C7D-672DBDD5F8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12222" y="4892004"/>
              <a:ext cx="299439" cy="299439"/>
            </a:xfrm>
            <a:prstGeom prst="rect">
              <a:avLst/>
            </a:prstGeom>
          </p:spPr>
        </p:pic>
        <p:sp>
          <p:nvSpPr>
            <p:cNvPr id="41" name="Rectangle 2">
              <a:extLst>
                <a:ext uri="{FF2B5EF4-FFF2-40B4-BE49-F238E27FC236}">
                  <a16:creationId xmlns:a16="http://schemas.microsoft.com/office/drawing/2014/main" id="{6041B197-3AC2-7159-C67C-45ED84D72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0558" y="4512856"/>
              <a:ext cx="13773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 b="1" dirty="0">
                  <a:solidFill>
                    <a:srgbClr val="E97131"/>
                  </a:solidFill>
                  <a:latin typeface="ACADEMY ENGRAVED LET PLAIN:1.0" panose="02000000000000000000" pitchFamily="2" charset="0"/>
                </a:rPr>
                <a:t>QPU noise</a:t>
              </a:r>
            </a:p>
          </p:txBody>
        </p:sp>
        <p:sp>
          <p:nvSpPr>
            <p:cNvPr id="42" name="Rectangle 2">
              <a:extLst>
                <a:ext uri="{FF2B5EF4-FFF2-40B4-BE49-F238E27FC236}">
                  <a16:creationId xmlns:a16="http://schemas.microsoft.com/office/drawing/2014/main" id="{16E9B2DA-024C-DA6B-7370-24A3850CF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1588" y="4484800"/>
              <a:ext cx="17454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CADEMY ENGRAVED LET PLAIN:1.0" panose="02000000000000000000" pitchFamily="2" charset="0"/>
                </a:rPr>
                <a:t>Network noise</a:t>
              </a:r>
            </a:p>
          </p:txBody>
        </p:sp>
        <p:pic>
          <p:nvPicPr>
            <p:cNvPr id="43" name="Graphic 42" descr="Lightning bolt with solid fill">
              <a:extLst>
                <a:ext uri="{FF2B5EF4-FFF2-40B4-BE49-F238E27FC236}">
                  <a16:creationId xmlns:a16="http://schemas.microsoft.com/office/drawing/2014/main" id="{ACD95347-68F0-E905-8759-C92CD6767B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57340" y="4825687"/>
              <a:ext cx="299439" cy="299439"/>
            </a:xfrm>
            <a:prstGeom prst="rect">
              <a:avLst/>
            </a:prstGeom>
          </p:spPr>
        </p:pic>
        <p:pic>
          <p:nvPicPr>
            <p:cNvPr id="44" name="Graphic 43" descr="Lightning bolt with solid fill">
              <a:extLst>
                <a:ext uri="{FF2B5EF4-FFF2-40B4-BE49-F238E27FC236}">
                  <a16:creationId xmlns:a16="http://schemas.microsoft.com/office/drawing/2014/main" id="{89041074-A015-ACAC-2DEB-00487071F1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46348" y="4835887"/>
              <a:ext cx="299439" cy="299439"/>
            </a:xfrm>
            <a:prstGeom prst="rect">
              <a:avLst/>
            </a:prstGeom>
          </p:spPr>
        </p:pic>
        <p:pic>
          <p:nvPicPr>
            <p:cNvPr id="45" name="Graphic 44" descr="Lightning bolt with solid fill">
              <a:extLst>
                <a:ext uri="{FF2B5EF4-FFF2-40B4-BE49-F238E27FC236}">
                  <a16:creationId xmlns:a16="http://schemas.microsoft.com/office/drawing/2014/main" id="{4B1CA938-B7FA-CBD9-D690-7C2870AAD6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59044" y="4822371"/>
              <a:ext cx="299439" cy="299439"/>
            </a:xfrm>
            <a:prstGeom prst="rect">
              <a:avLst/>
            </a:prstGeom>
          </p:spPr>
        </p:pic>
        <p:pic>
          <p:nvPicPr>
            <p:cNvPr id="46" name="Graphic 45" descr="Lightning bolt with solid fill">
              <a:extLst>
                <a:ext uri="{FF2B5EF4-FFF2-40B4-BE49-F238E27FC236}">
                  <a16:creationId xmlns:a16="http://schemas.microsoft.com/office/drawing/2014/main" id="{BD1B1464-3B31-8BDC-E790-6AA56E0DF6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4442" y="4818457"/>
              <a:ext cx="299439" cy="299439"/>
            </a:xfrm>
            <a:prstGeom prst="rect">
              <a:avLst/>
            </a:prstGeom>
          </p:spPr>
        </p:pic>
        <p:pic>
          <p:nvPicPr>
            <p:cNvPr id="47" name="Graphic 46" descr="Lightning bolt with solid fill">
              <a:extLst>
                <a:ext uri="{FF2B5EF4-FFF2-40B4-BE49-F238E27FC236}">
                  <a16:creationId xmlns:a16="http://schemas.microsoft.com/office/drawing/2014/main" id="{5D42B801-4205-3921-A30D-1B76354E6F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53450" y="4828657"/>
              <a:ext cx="299439" cy="299439"/>
            </a:xfrm>
            <a:prstGeom prst="rect">
              <a:avLst/>
            </a:prstGeom>
          </p:spPr>
        </p:pic>
        <p:pic>
          <p:nvPicPr>
            <p:cNvPr id="48" name="Graphic 47" descr="Lightning bolt with solid fill">
              <a:extLst>
                <a:ext uri="{FF2B5EF4-FFF2-40B4-BE49-F238E27FC236}">
                  <a16:creationId xmlns:a16="http://schemas.microsoft.com/office/drawing/2014/main" id="{3ADD052B-F2FE-F88E-1133-C800EE8A18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66146" y="4815141"/>
              <a:ext cx="299439" cy="299439"/>
            </a:xfrm>
            <a:prstGeom prst="rect">
              <a:avLst/>
            </a:prstGeom>
          </p:spPr>
        </p:pic>
        <p:pic>
          <p:nvPicPr>
            <p:cNvPr id="49" name="Graphic 48" descr="Lightning bolt with solid fill">
              <a:extLst>
                <a:ext uri="{FF2B5EF4-FFF2-40B4-BE49-F238E27FC236}">
                  <a16:creationId xmlns:a16="http://schemas.microsoft.com/office/drawing/2014/main" id="{4C919DF8-11F9-3810-6DCA-61DB3469BD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94787" y="4812091"/>
              <a:ext cx="299439" cy="299439"/>
            </a:xfrm>
            <a:prstGeom prst="rect">
              <a:avLst/>
            </a:prstGeom>
          </p:spPr>
        </p:pic>
        <p:pic>
          <p:nvPicPr>
            <p:cNvPr id="50" name="Graphic 49" descr="Lightning bolt with solid fill">
              <a:extLst>
                <a:ext uri="{FF2B5EF4-FFF2-40B4-BE49-F238E27FC236}">
                  <a16:creationId xmlns:a16="http://schemas.microsoft.com/office/drawing/2014/main" id="{385153AB-BC29-FAD9-CE67-54EFAEA0E9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3795" y="4822291"/>
              <a:ext cx="299439" cy="299439"/>
            </a:xfrm>
            <a:prstGeom prst="rect">
              <a:avLst/>
            </a:prstGeom>
          </p:spPr>
        </p:pic>
        <p:pic>
          <p:nvPicPr>
            <p:cNvPr id="51" name="Graphic 50" descr="Lightning bolt with solid fill">
              <a:extLst>
                <a:ext uri="{FF2B5EF4-FFF2-40B4-BE49-F238E27FC236}">
                  <a16:creationId xmlns:a16="http://schemas.microsoft.com/office/drawing/2014/main" id="{BF183D70-33EB-0851-378C-87871DBC32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96491" y="4808775"/>
              <a:ext cx="299439" cy="299439"/>
            </a:xfrm>
            <a:prstGeom prst="rect">
              <a:avLst/>
            </a:prstGeom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F6986-CAD7-C42E-6D3B-7EED9BA1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2263" y="6362415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8B8BA3-F8EE-AE8C-51A8-3D353D332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CD51-096C-645D-94E8-66D0226C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DQC &amp; Noise: A Gap in the Literature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2B1FF-040A-12CD-5B08-3D2E418C5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dirty="0">
                <a:solidFill>
                  <a:srgbClr val="C00000"/>
                </a:solidFill>
              </a:rPr>
              <a:t>Noise </a:t>
            </a:r>
            <a:r>
              <a:rPr lang="en-GB" b="1" dirty="0">
                <a:solidFill>
                  <a:srgbClr val="C00000"/>
                </a:solidFill>
              </a:rPr>
              <a:t>characterisation</a:t>
            </a:r>
            <a:r>
              <a:rPr lang="en-GB" dirty="0">
                <a:solidFill>
                  <a:srgbClr val="C00000"/>
                </a:solidFill>
              </a:rPr>
              <a:t> in distributed settings is </a:t>
            </a:r>
            <a:r>
              <a:rPr lang="en-GB" b="1" dirty="0">
                <a:solidFill>
                  <a:srgbClr val="C00000"/>
                </a:solidFill>
              </a:rPr>
              <a:t>sparse</a:t>
            </a:r>
            <a:r>
              <a:rPr lang="en-GB" dirty="0">
                <a:solidFill>
                  <a:srgbClr val="C00000"/>
                </a:solidFill>
              </a:rPr>
              <a:t> and nascent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7614F3E1-F07D-F8A1-E321-C0BDE862DA52}"/>
              </a:ext>
            </a:extLst>
          </p:cNvPr>
          <p:cNvSpPr/>
          <p:nvPr/>
        </p:nvSpPr>
        <p:spPr>
          <a:xfrm>
            <a:off x="9867900" y="365125"/>
            <a:ext cx="1800225" cy="1196975"/>
          </a:xfrm>
          <a:prstGeom prst="cloud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badi MT Condensed Light" panose="020B0306030101010103" pitchFamily="34" charset="77"/>
              </a:rPr>
              <a:t>Field observation</a:t>
            </a:r>
            <a:endParaRPr lang="en-US" dirty="0">
              <a:latin typeface="Abadi MT Condensed Light" panose="020B0306030101010103" pitchFamily="34" charset="77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BD45A57-1DEA-2EC0-4B7B-A2156419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21135" y="6356349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C461-11E0-446C-5333-4AC4614B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9AB416-B903-D27B-1320-041D8F63F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924" y="3210738"/>
            <a:ext cx="3844939" cy="2608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FC03F6-1A49-4F1D-DEAA-5303C96F55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682"/>
          <a:stretch>
            <a:fillRect/>
          </a:stretch>
        </p:blipFill>
        <p:spPr>
          <a:xfrm>
            <a:off x="1788137" y="3260802"/>
            <a:ext cx="4558805" cy="2508266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36F6FED-B810-5713-C363-D98EF071CDFC}"/>
              </a:ext>
            </a:extLst>
          </p:cNvPr>
          <p:cNvSpPr/>
          <p:nvPr/>
        </p:nvSpPr>
        <p:spPr>
          <a:xfrm>
            <a:off x="1788137" y="4623000"/>
            <a:ext cx="357904" cy="747530"/>
          </a:xfrm>
          <a:prstGeom prst="ellipse">
            <a:avLst/>
          </a:prstGeom>
          <a:noFill/>
          <a:ln>
            <a:solidFill>
              <a:srgbClr val="F666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81EC61-6EB2-C4C8-E2CF-5E65A8A774AC}"/>
              </a:ext>
            </a:extLst>
          </p:cNvPr>
          <p:cNvSpPr/>
          <p:nvPr/>
        </p:nvSpPr>
        <p:spPr>
          <a:xfrm>
            <a:off x="6558924" y="4368076"/>
            <a:ext cx="357904" cy="747530"/>
          </a:xfrm>
          <a:prstGeom prst="ellipse">
            <a:avLst/>
          </a:prstGeom>
          <a:noFill/>
          <a:ln>
            <a:solidFill>
              <a:srgbClr val="F666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9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BE572-F24C-E932-2586-B5DBDD50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2844-4AC3-21D6-9EE6-C2086A7E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DQC &amp; Noise: A Gap in the Literature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E9D59-03F9-D874-DF38-C328C93B5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Noise </a:t>
            </a:r>
            <a:r>
              <a:rPr lang="en-GB" b="1" dirty="0"/>
              <a:t>characterisation</a:t>
            </a:r>
            <a:r>
              <a:rPr lang="en-GB" dirty="0"/>
              <a:t> in distributed settings is </a:t>
            </a:r>
            <a:r>
              <a:rPr lang="en-GB" b="1" dirty="0"/>
              <a:t>sparse</a:t>
            </a:r>
            <a:r>
              <a:rPr lang="en-GB" dirty="0"/>
              <a:t> and nascent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Many</a:t>
            </a:r>
            <a:r>
              <a:rPr lang="en-GB" b="1" dirty="0">
                <a:solidFill>
                  <a:srgbClr val="C00000"/>
                </a:solidFill>
              </a:rPr>
              <a:t> error correction </a:t>
            </a:r>
            <a:r>
              <a:rPr lang="en-GB" dirty="0">
                <a:solidFill>
                  <a:srgbClr val="C00000"/>
                </a:solidFill>
              </a:rPr>
              <a:t>techniques have </a:t>
            </a:r>
            <a:r>
              <a:rPr lang="en-GB" b="1" dirty="0">
                <a:solidFill>
                  <a:srgbClr val="C00000"/>
                </a:solidFill>
              </a:rPr>
              <a:t>not yet</a:t>
            </a:r>
            <a:r>
              <a:rPr lang="en-GB" dirty="0">
                <a:solidFill>
                  <a:srgbClr val="C00000"/>
                </a:solidFill>
              </a:rPr>
              <a:t> been adapted to the distributed regime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28067CB2-FF38-A8AF-8302-0BD3840F4BA6}"/>
              </a:ext>
            </a:extLst>
          </p:cNvPr>
          <p:cNvSpPr/>
          <p:nvPr/>
        </p:nvSpPr>
        <p:spPr>
          <a:xfrm>
            <a:off x="9867900" y="365125"/>
            <a:ext cx="1800225" cy="1196975"/>
          </a:xfrm>
          <a:prstGeom prst="cloud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badi MT Condensed Light" panose="020B0306030101010103" pitchFamily="34" charset="77"/>
              </a:rPr>
              <a:t>Field observation</a:t>
            </a:r>
            <a:endParaRPr lang="en-US" dirty="0">
              <a:latin typeface="Abadi MT Condensed Light" panose="020B0306030101010103" pitchFamily="34" charset="77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C626E3-2E72-7285-5F5A-784CCA51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21135" y="6356349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D5AFF-7F78-B710-5652-FE7CC470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55B790-BD96-9402-D8AE-05E89B2DE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982" y="3342473"/>
            <a:ext cx="4182035" cy="283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5362-1163-3AAB-002C-2437E04C2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99F8-1AA5-6B36-2488-D9F2BF93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DQC &amp; Noise: A Gap in the Literature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729E8-241D-BDB0-A3F8-F6F790588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Noise </a:t>
            </a:r>
            <a:r>
              <a:rPr lang="en-GB" b="1" dirty="0"/>
              <a:t>characterisation</a:t>
            </a:r>
            <a:r>
              <a:rPr lang="en-GB" dirty="0"/>
              <a:t> in distributed settings is </a:t>
            </a:r>
            <a:r>
              <a:rPr lang="en-GB" b="1" dirty="0"/>
              <a:t>sparse</a:t>
            </a:r>
            <a:r>
              <a:rPr lang="en-GB" dirty="0"/>
              <a:t> and nascent</a:t>
            </a:r>
          </a:p>
          <a:p>
            <a:pPr lvl="1"/>
            <a:r>
              <a:rPr lang="en-GB" b="1" dirty="0"/>
              <a:t>Error correction </a:t>
            </a:r>
            <a:r>
              <a:rPr lang="en-GB" dirty="0"/>
              <a:t>techniques have </a:t>
            </a:r>
            <a:r>
              <a:rPr lang="en-GB" b="1" dirty="0"/>
              <a:t>not yet</a:t>
            </a:r>
            <a:r>
              <a:rPr lang="en-GB" dirty="0"/>
              <a:t> been adapted to the distributed regime</a:t>
            </a:r>
          </a:p>
          <a:p>
            <a:pPr lvl="1"/>
            <a:r>
              <a:rPr lang="en-GB" b="1" dirty="0">
                <a:solidFill>
                  <a:srgbClr val="C00000"/>
                </a:solidFill>
              </a:rPr>
              <a:t>DQC</a:t>
            </a:r>
            <a:r>
              <a:rPr lang="en-GB" dirty="0">
                <a:solidFill>
                  <a:srgbClr val="C00000"/>
                </a:solidFill>
              </a:rPr>
              <a:t> itself is an emerging field, lacking the </a:t>
            </a:r>
            <a:r>
              <a:rPr lang="en-GB" b="1" dirty="0">
                <a:solidFill>
                  <a:srgbClr val="C00000"/>
                </a:solidFill>
              </a:rPr>
              <a:t>maturity</a:t>
            </a:r>
            <a:r>
              <a:rPr lang="en-GB" dirty="0">
                <a:solidFill>
                  <a:srgbClr val="C00000"/>
                </a:solidFill>
              </a:rPr>
              <a:t> of standalone quantum computing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599BBC0D-46AF-A493-4397-F7F26A0CC881}"/>
              </a:ext>
            </a:extLst>
          </p:cNvPr>
          <p:cNvSpPr/>
          <p:nvPr/>
        </p:nvSpPr>
        <p:spPr>
          <a:xfrm>
            <a:off x="9867900" y="365125"/>
            <a:ext cx="1800225" cy="1196975"/>
          </a:xfrm>
          <a:prstGeom prst="cloud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badi MT Condensed Light" panose="020B0306030101010103" pitchFamily="34" charset="77"/>
              </a:rPr>
              <a:t>Field observation</a:t>
            </a:r>
            <a:endParaRPr lang="en-US" dirty="0">
              <a:latin typeface="Abadi MT Condensed Light" panose="020B0306030101010103" pitchFamily="34" charset="77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ED366D4-912E-E8EC-D394-5564BCDA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21135" y="6356349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1C892-FBE7-EF0A-9839-935FD1F6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36557E-697F-F9EB-B22A-4BC0A3F4B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498692"/>
            <a:ext cx="7772400" cy="134785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07A9C8B-D98B-71D2-5D6E-D2702282EBD7}"/>
              </a:ext>
            </a:extLst>
          </p:cNvPr>
          <p:cNvSpPr/>
          <p:nvPr/>
        </p:nvSpPr>
        <p:spPr>
          <a:xfrm>
            <a:off x="2625347" y="4498692"/>
            <a:ext cx="1044128" cy="234008"/>
          </a:xfrm>
          <a:prstGeom prst="ellipse">
            <a:avLst/>
          </a:prstGeom>
          <a:noFill/>
          <a:ln>
            <a:solidFill>
              <a:srgbClr val="F666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3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CF22A-77EF-1BA2-549E-1B69D0DB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0877-E525-1881-0A24-93153C7C7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DQC &amp; Noise: A Gap in the Literature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7102-41AC-BE88-93AC-E07427AE3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Noise </a:t>
            </a:r>
            <a:r>
              <a:rPr lang="en-GB" b="1" dirty="0"/>
              <a:t>characterisation</a:t>
            </a:r>
            <a:r>
              <a:rPr lang="en-GB" dirty="0"/>
              <a:t> in distributed settings is </a:t>
            </a:r>
            <a:r>
              <a:rPr lang="en-GB" b="1" dirty="0"/>
              <a:t>sparse</a:t>
            </a:r>
            <a:r>
              <a:rPr lang="en-GB" dirty="0"/>
              <a:t> and nascent</a:t>
            </a:r>
          </a:p>
          <a:p>
            <a:pPr lvl="1"/>
            <a:r>
              <a:rPr lang="en-GB" b="1" dirty="0"/>
              <a:t>Error correction </a:t>
            </a:r>
            <a:r>
              <a:rPr lang="en-GB" dirty="0"/>
              <a:t>techniques have </a:t>
            </a:r>
            <a:r>
              <a:rPr lang="en-GB" b="1" dirty="0"/>
              <a:t>not yet</a:t>
            </a:r>
            <a:r>
              <a:rPr lang="en-GB" dirty="0"/>
              <a:t> been adapted to the distributed regime</a:t>
            </a:r>
          </a:p>
          <a:p>
            <a:pPr lvl="1"/>
            <a:r>
              <a:rPr lang="en-GB" b="1" dirty="0"/>
              <a:t>DQC</a:t>
            </a:r>
            <a:r>
              <a:rPr lang="en-GB" dirty="0"/>
              <a:t> itself is an emerging field, lacking the </a:t>
            </a:r>
            <a:r>
              <a:rPr lang="en-GB" b="1" dirty="0"/>
              <a:t>maturity</a:t>
            </a:r>
            <a:r>
              <a:rPr lang="en-GB" dirty="0"/>
              <a:t> of standalone quantum computing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Progress requires </a:t>
            </a:r>
            <a:r>
              <a:rPr lang="en-GB" b="1" dirty="0">
                <a:solidFill>
                  <a:srgbClr val="C00000"/>
                </a:solidFill>
              </a:rPr>
              <a:t>cross-community collaboration </a:t>
            </a:r>
            <a:r>
              <a:rPr lang="en-GB" dirty="0">
                <a:solidFill>
                  <a:srgbClr val="C00000"/>
                </a:solidFill>
              </a:rPr>
              <a:t>between the error correction and networking communities (two groups with distinct toolkits and vocabularies)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F6542939-EB34-D8CE-B736-0329FF7561B6}"/>
              </a:ext>
            </a:extLst>
          </p:cNvPr>
          <p:cNvSpPr/>
          <p:nvPr/>
        </p:nvSpPr>
        <p:spPr>
          <a:xfrm>
            <a:off x="9867900" y="365125"/>
            <a:ext cx="1800225" cy="1196975"/>
          </a:xfrm>
          <a:prstGeom prst="cloud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badi MT Condensed Light" panose="020B0306030101010103" pitchFamily="34" charset="77"/>
              </a:rPr>
              <a:t>Field observation</a:t>
            </a:r>
            <a:endParaRPr lang="en-US" dirty="0">
              <a:latin typeface="Abadi MT Condensed Light" panose="020B0306030101010103" pitchFamily="34" charset="77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5530988-9855-1991-C550-5383367D4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21135" y="6356349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CD77B-882A-4545-89E6-201DD8B5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20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1519-6054-E6EA-40CC-DD62C4676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551A06-5BBF-7E6D-1C0C-8567BC6D51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Maria Gragera Garces</a:t>
            </a:r>
          </a:p>
          <a:p>
            <a:r>
              <a:rPr lang="en-GB" sz="1800" dirty="0"/>
              <a:t>Quantum Software Lab, University of Edinburgh</a:t>
            </a:r>
          </a:p>
          <a:p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6D6377-5AC7-40E6-753C-6F3E1C3698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03696" y="2186670"/>
            <a:ext cx="7741362" cy="1069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61874" tIns="39675" rIns="0" bIns="84111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4000" dirty="0"/>
              <a:t>Distributed Quantum Error Mitigation</a:t>
            </a:r>
            <a:br>
              <a:rPr lang="en-GB" sz="4000" dirty="0"/>
            </a:br>
            <a:r>
              <a:rPr lang="en-GB" sz="2800" dirty="0"/>
              <a:t>Global and Local ZNE encodings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1A5E10-3E1B-37A9-78B8-D62C71C219CC}"/>
              </a:ext>
            </a:extLst>
          </p:cNvPr>
          <p:cNvSpPr/>
          <p:nvPr/>
        </p:nvSpPr>
        <p:spPr>
          <a:xfrm>
            <a:off x="7080070" y="2804160"/>
            <a:ext cx="1558834" cy="3309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D23F1C-4716-F3AF-E4B4-94EB5CB4C0EF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7859487" y="1497875"/>
            <a:ext cx="671196" cy="130628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EE0E851-03A2-2C3E-C49A-7E03C61D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713" y="364499"/>
            <a:ext cx="5138428" cy="6815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4198BD-E69B-B4C3-F971-19D782B03B5D}"/>
              </a:ext>
            </a:extLst>
          </p:cNvPr>
          <p:cNvSpPr txBox="1"/>
          <p:nvPr/>
        </p:nvSpPr>
        <p:spPr>
          <a:xfrm>
            <a:off x="6670713" y="1090302"/>
            <a:ext cx="56446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Taken from </a:t>
            </a:r>
            <a:r>
              <a:rPr lang="en-US" sz="1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wikipedia.org</a:t>
            </a:r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/wiki/</a:t>
            </a:r>
            <a:r>
              <a:rPr lang="en-US" sz="1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Quantum_error_correction</a:t>
            </a:r>
            <a:endParaRPr lang="en-US" sz="1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F13B-F9E7-45E1-2467-5184E6AD6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758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6B289-9094-6B8C-DDE3-2237D8E2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6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B64C-FFB5-19B2-7CA3-55CAD5D1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is an alternative: Error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1669-A4B6-C5B5-414A-77AB8BE80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164" cy="4351338"/>
          </a:xfrm>
        </p:spPr>
        <p:txBody>
          <a:bodyPr/>
          <a:lstStyle/>
          <a:p>
            <a:r>
              <a:rPr lang="en-US" dirty="0"/>
              <a:t>Cheaper</a:t>
            </a:r>
          </a:p>
          <a:p>
            <a:r>
              <a:rPr lang="en-US" dirty="0"/>
              <a:t>More implementable and arguably more advanced (in terms of what we can actually do with it) </a:t>
            </a:r>
          </a:p>
          <a:p>
            <a:r>
              <a:rPr lang="en-US" dirty="0"/>
              <a:t>A parallel* field to quantum error correction.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</a:rPr>
              <a:t>It does not ensure fault tolerance, but it enables noise reductions.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2856B-B93A-13CD-08BA-1F5B26A9EBA4}"/>
              </a:ext>
            </a:extLst>
          </p:cNvPr>
          <p:cNvSpPr txBox="1"/>
          <p:nvPr/>
        </p:nvSpPr>
        <p:spPr>
          <a:xfrm>
            <a:off x="2410691" y="3814907"/>
            <a:ext cx="9781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*hybrid mitigation-correction solutions are seriously considered: </a:t>
            </a:r>
          </a:p>
          <a:p>
            <a:pPr algn="r"/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Quantum Error Correction on Error-Mitigated Physical Qubits" (</a:t>
            </a:r>
            <a:r>
              <a:rPr lang="en-GB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arxiv.org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/abs/2601.18384, 2026)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B256AFA-28E8-440C-80F6-DD944D2D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4679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E4DA4-A9FC-563B-EDBF-0EF114BC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10</a:t>
            </a:fld>
            <a:endParaRPr lang="en-US"/>
          </a:p>
        </p:txBody>
      </p:sp>
      <p:pic>
        <p:nvPicPr>
          <p:cNvPr id="8" name="Graphic 7" descr="Money outline">
            <a:extLst>
              <a:ext uri="{FF2B5EF4-FFF2-40B4-BE49-F238E27FC236}">
                <a16:creationId xmlns:a16="http://schemas.microsoft.com/office/drawing/2014/main" id="{22837FC6-685D-1710-C848-0B1F8FFFB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8425" y="1448666"/>
            <a:ext cx="914400" cy="914400"/>
          </a:xfrm>
          <a:prstGeom prst="rect">
            <a:avLst/>
          </a:prstGeom>
        </p:spPr>
      </p:pic>
      <p:pic>
        <p:nvPicPr>
          <p:cNvPr id="10" name="Graphic 9" descr="Crops outline">
            <a:extLst>
              <a:ext uri="{FF2B5EF4-FFF2-40B4-BE49-F238E27FC236}">
                <a16:creationId xmlns:a16="http://schemas.microsoft.com/office/drawing/2014/main" id="{0C34EEF1-C5A0-BDDA-333D-864007912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0031" y="2750705"/>
            <a:ext cx="584775" cy="584775"/>
          </a:xfrm>
          <a:prstGeom prst="rect">
            <a:avLst/>
          </a:prstGeom>
        </p:spPr>
      </p:pic>
      <p:pic>
        <p:nvPicPr>
          <p:cNvPr id="12" name="Graphic 11" descr="Group outline">
            <a:extLst>
              <a:ext uri="{FF2B5EF4-FFF2-40B4-BE49-F238E27FC236}">
                <a16:creationId xmlns:a16="http://schemas.microsoft.com/office/drawing/2014/main" id="{3215F0B5-6F08-C075-2701-69E162738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4134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7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81ED-2687-F8AA-B111-222DC399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Noise Extrapolation (ZNE)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EE430-799A-0D72-DEC6-4180B209C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60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particular error mitigation strategy that is well studied and the object of this study is Zero Noise Extrapolation.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D49078-8ACC-384B-0EA2-5C180B3E45C5}"/>
              </a:ext>
            </a:extLst>
          </p:cNvPr>
          <p:cNvSpPr txBox="1">
            <a:spLocks/>
          </p:cNvSpPr>
          <p:nvPr/>
        </p:nvSpPr>
        <p:spPr>
          <a:xfrm>
            <a:off x="602672" y="3261013"/>
            <a:ext cx="3627583" cy="936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STEP 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Intentionally scale noise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C8472C-3F28-8FB8-4E24-BDCA9454E05B}"/>
              </a:ext>
            </a:extLst>
          </p:cNvPr>
          <p:cNvSpPr txBox="1">
            <a:spLocks/>
          </p:cNvSpPr>
          <p:nvPr/>
        </p:nvSpPr>
        <p:spPr>
          <a:xfrm>
            <a:off x="602672" y="5195742"/>
            <a:ext cx="3627583" cy="936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STEP 2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Extrapolate to the noiseless limit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5A0989-6ECE-AF15-2C31-FAC55541AB39}"/>
              </a:ext>
            </a:extLst>
          </p:cNvPr>
          <p:cNvGrpSpPr/>
          <p:nvPr/>
        </p:nvGrpSpPr>
        <p:grpSpPr>
          <a:xfrm>
            <a:off x="4406537" y="3261013"/>
            <a:ext cx="6860574" cy="1236517"/>
            <a:chOff x="4406537" y="3049586"/>
            <a:chExt cx="6860574" cy="1236517"/>
          </a:xfrm>
        </p:grpSpPr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96713E0E-A0D4-FC89-6635-86E5F2A129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765" y="3049586"/>
              <a:ext cx="5933622" cy="12365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7E0798B6-D4F2-34E6-603B-8E50D1AD4253}"/>
                </a:ext>
              </a:extLst>
            </p:cNvPr>
            <p:cNvSpPr txBox="1">
              <a:spLocks/>
            </p:cNvSpPr>
            <p:nvPr/>
          </p:nvSpPr>
          <p:spPr>
            <a:xfrm>
              <a:off x="4406537" y="3987532"/>
              <a:ext cx="6860574" cy="21759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100" dirty="0">
                  <a:solidFill>
                    <a:srgbClr val="0070C0"/>
                  </a:solidFill>
                </a:rPr>
                <a:t>Image taken from </a:t>
              </a:r>
              <a:r>
                <a:rPr lang="en-US" sz="1100" dirty="0" err="1">
                  <a:solidFill>
                    <a:srgbClr val="0070C0"/>
                  </a:solidFill>
                </a:rPr>
                <a:t>mitiq.readthedocs</a:t>
              </a:r>
              <a:r>
                <a:rPr lang="en-US" sz="1100" dirty="0">
                  <a:solidFill>
                    <a:srgbClr val="0070C0"/>
                  </a:solidFill>
                </a:rPr>
                <a:t>. It </a:t>
              </a:r>
              <a:r>
                <a:rPr lang="en-US" sz="1100" dirty="0" err="1">
                  <a:solidFill>
                    <a:srgbClr val="0070C0"/>
                  </a:solidFill>
                </a:rPr>
                <a:t>depics</a:t>
              </a:r>
              <a:r>
                <a:rPr lang="en-US" sz="1100" dirty="0">
                  <a:solidFill>
                    <a:srgbClr val="0070C0"/>
                  </a:solidFill>
                </a:rPr>
                <a:t> a local folding (the strategy used in this work to implement unitary folding)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01F975-306A-0BAF-385D-49364BA306FD}"/>
                  </a:ext>
                </a:extLst>
              </p:cNvPr>
              <p:cNvSpPr txBox="1"/>
              <p:nvPr/>
            </p:nvSpPr>
            <p:spPr>
              <a:xfrm>
                <a:off x="6779623" y="2869284"/>
                <a:ext cx="1182568" cy="284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⟼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01F975-306A-0BAF-385D-49364BA30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623" y="2869284"/>
                <a:ext cx="1182568" cy="284117"/>
              </a:xfrm>
              <a:prstGeom prst="rect">
                <a:avLst/>
              </a:prstGeom>
              <a:blipFill>
                <a:blip r:embed="rId4"/>
                <a:stretch>
                  <a:fillRect l="-4255" t="-8696" r="-4255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AA5D8F-AA81-513B-F634-1B23304CA9BB}"/>
              </a:ext>
            </a:extLst>
          </p:cNvPr>
          <p:cNvCxnSpPr>
            <a:cxnSpLocks/>
          </p:cNvCxnSpPr>
          <p:nvPr/>
        </p:nvCxnSpPr>
        <p:spPr>
          <a:xfrm>
            <a:off x="5425463" y="4605142"/>
            <a:ext cx="1" cy="1753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6801C4-2348-54B0-5837-4B7C880B041E}"/>
              </a:ext>
            </a:extLst>
          </p:cNvPr>
          <p:cNvCxnSpPr>
            <a:cxnSpLocks/>
          </p:cNvCxnSpPr>
          <p:nvPr/>
        </p:nvCxnSpPr>
        <p:spPr>
          <a:xfrm flipH="1" flipV="1">
            <a:off x="5425464" y="6359042"/>
            <a:ext cx="3300621" cy="298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AC4E1B-415E-CD9E-ABC1-C1FE29326ED4}"/>
              </a:ext>
            </a:extLst>
          </p:cNvPr>
          <p:cNvCxnSpPr>
            <a:cxnSpLocks/>
            <a:stCxn id="22" idx="7"/>
          </p:cNvCxnSpPr>
          <p:nvPr/>
        </p:nvCxnSpPr>
        <p:spPr>
          <a:xfrm flipH="1">
            <a:off x="5425464" y="4627787"/>
            <a:ext cx="2066526" cy="1303792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3E7906E-1B43-1B96-9A19-91E9C98A2F05}"/>
              </a:ext>
            </a:extLst>
          </p:cNvPr>
          <p:cNvSpPr/>
          <p:nvPr/>
        </p:nvSpPr>
        <p:spPr>
          <a:xfrm>
            <a:off x="5337647" y="5854265"/>
            <a:ext cx="175632" cy="15463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AF4377-DEAE-1177-E8A8-E344C36D971E}"/>
              </a:ext>
            </a:extLst>
          </p:cNvPr>
          <p:cNvSpPr/>
          <p:nvPr/>
        </p:nvSpPr>
        <p:spPr>
          <a:xfrm>
            <a:off x="7342079" y="4605142"/>
            <a:ext cx="175632" cy="15463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544FDD-2D31-A6DC-C066-0DDF37AB7F63}"/>
              </a:ext>
            </a:extLst>
          </p:cNvPr>
          <p:cNvSpPr/>
          <p:nvPr/>
        </p:nvSpPr>
        <p:spPr>
          <a:xfrm>
            <a:off x="6359193" y="5188854"/>
            <a:ext cx="175632" cy="15463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5A563B-392E-85EC-3D7A-D9D5B3B34C5D}"/>
              </a:ext>
            </a:extLst>
          </p:cNvPr>
          <p:cNvSpPr/>
          <p:nvPr/>
        </p:nvSpPr>
        <p:spPr>
          <a:xfrm>
            <a:off x="6837727" y="4887148"/>
            <a:ext cx="175632" cy="15463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C7BE26-BDDB-207D-4C38-9327F361FEB7}"/>
              </a:ext>
            </a:extLst>
          </p:cNvPr>
          <p:cNvSpPr txBox="1"/>
          <p:nvPr/>
        </p:nvSpPr>
        <p:spPr>
          <a:xfrm>
            <a:off x="3998140" y="5650196"/>
            <a:ext cx="1515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Mitigated value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C57EF6-0982-1EBE-1153-C51B7846966E}"/>
              </a:ext>
            </a:extLst>
          </p:cNvPr>
          <p:cNvSpPr txBox="1"/>
          <p:nvPr/>
        </p:nvSpPr>
        <p:spPr>
          <a:xfrm>
            <a:off x="6764190" y="5166950"/>
            <a:ext cx="1961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Noise amplified values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8B0BF1-5227-64F1-F9FB-4AA55AC916D3}"/>
              </a:ext>
            </a:extLst>
          </p:cNvPr>
          <p:cNvSpPr txBox="1"/>
          <p:nvPr/>
        </p:nvSpPr>
        <p:spPr>
          <a:xfrm>
            <a:off x="5456748" y="6388860"/>
            <a:ext cx="250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Noise amplification factor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25C804-E9BD-BC12-3937-9A5356CE9418}"/>
              </a:ext>
            </a:extLst>
          </p:cNvPr>
          <p:cNvSpPr txBox="1"/>
          <p:nvPr/>
        </p:nvSpPr>
        <p:spPr>
          <a:xfrm>
            <a:off x="4288350" y="4756903"/>
            <a:ext cx="1137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Expectation value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99D4CA7-7E1A-BCCC-0637-5F2D06A17D3C}"/>
              </a:ext>
            </a:extLst>
          </p:cNvPr>
          <p:cNvCxnSpPr>
            <a:cxnSpLocks/>
          </p:cNvCxnSpPr>
          <p:nvPr/>
        </p:nvCxnSpPr>
        <p:spPr>
          <a:xfrm flipH="1">
            <a:off x="5425463" y="6156961"/>
            <a:ext cx="3300622" cy="0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BFDDF97-C05C-D815-020C-7FC965E3C191}"/>
              </a:ext>
            </a:extLst>
          </p:cNvPr>
          <p:cNvSpPr txBox="1"/>
          <p:nvPr/>
        </p:nvSpPr>
        <p:spPr>
          <a:xfrm>
            <a:off x="6089580" y="5881906"/>
            <a:ext cx="250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Exact value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3F58E53-CABF-B6DE-3129-B0EFBC5A0877}"/>
              </a:ext>
            </a:extLst>
          </p:cNvPr>
          <p:cNvSpPr/>
          <p:nvPr/>
        </p:nvSpPr>
        <p:spPr>
          <a:xfrm>
            <a:off x="5888943" y="5495566"/>
            <a:ext cx="175632" cy="15463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E09CFE-E165-93B4-7B3D-59863572CCAB}"/>
              </a:ext>
            </a:extLst>
          </p:cNvPr>
          <p:cNvSpPr txBox="1"/>
          <p:nvPr/>
        </p:nvSpPr>
        <p:spPr>
          <a:xfrm>
            <a:off x="6062564" y="5554593"/>
            <a:ext cx="1961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Un-mitigated value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79F41E0-B872-BA76-4053-7DB0A7E1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8352" y="6368374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DQEM | Maria Gragera Garces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45461-06DF-A283-9736-0FE57245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1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FE13-471D-91B5-A48A-1EA8B264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 Local encodings: a wider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014A3-7147-177A-1520-4F4EB8A6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469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/>
              <a:t>Where should </a:t>
            </a:r>
            <a:r>
              <a:rPr lang="en-GB" sz="2400" dirty="0"/>
              <a:t>error management techniques</a:t>
            </a:r>
            <a:r>
              <a:rPr lang="en-US" sz="2400" dirty="0"/>
              <a:t> (such as circuit optimization, error mitigation or error correction) be implemented in the DQC pipeline?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830EF80-3759-C6CA-1888-9118AD8EBF8A}"/>
              </a:ext>
            </a:extLst>
          </p:cNvPr>
          <p:cNvGrpSpPr/>
          <p:nvPr/>
        </p:nvGrpSpPr>
        <p:grpSpPr>
          <a:xfrm>
            <a:off x="1315977" y="3299760"/>
            <a:ext cx="8378119" cy="1196517"/>
            <a:chOff x="421896" y="3317966"/>
            <a:chExt cx="8378119" cy="11965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C63A749-E610-85BA-B9DD-40C498354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5663" t="9736"/>
            <a:stretch>
              <a:fillRect/>
            </a:stretch>
          </p:blipFill>
          <p:spPr>
            <a:xfrm>
              <a:off x="3953162" y="3317966"/>
              <a:ext cx="4846853" cy="119651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52C3FDA-EEFC-48AB-7B08-EB96181D7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611" r="66684" b="5844"/>
            <a:stretch>
              <a:fillRect/>
            </a:stretch>
          </p:blipFill>
          <p:spPr>
            <a:xfrm>
              <a:off x="421896" y="3317966"/>
              <a:ext cx="3642104" cy="1133961"/>
            </a:xfrm>
            <a:prstGeom prst="rect">
              <a:avLst/>
            </a:prstGeom>
          </p:spPr>
        </p:pic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BDF9AE-23EE-1069-26A0-102F10E962AB}"/>
              </a:ext>
            </a:extLst>
          </p:cNvPr>
          <p:cNvSpPr txBox="1">
            <a:spLocks/>
          </p:cNvSpPr>
          <p:nvPr/>
        </p:nvSpPr>
        <p:spPr>
          <a:xfrm>
            <a:off x="2708104" y="2932413"/>
            <a:ext cx="3325091" cy="73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b="1" dirty="0">
                <a:solidFill>
                  <a:srgbClr val="F66602"/>
                </a:solidFill>
              </a:rPr>
              <a:t>Before</a:t>
            </a:r>
            <a:r>
              <a:rPr lang="en-GB" sz="2400" dirty="0">
                <a:solidFill>
                  <a:srgbClr val="F66602"/>
                </a:solidFill>
              </a:rPr>
              <a:t> partitioning?</a:t>
            </a:r>
            <a:endParaRPr lang="en-US" sz="2400" dirty="0">
              <a:solidFill>
                <a:srgbClr val="F66602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CF9E0-0666-5ED4-8AF8-D51901A0947F}"/>
              </a:ext>
            </a:extLst>
          </p:cNvPr>
          <p:cNvSpPr txBox="1">
            <a:spLocks/>
          </p:cNvSpPr>
          <p:nvPr/>
        </p:nvSpPr>
        <p:spPr>
          <a:xfrm>
            <a:off x="7610050" y="2992317"/>
            <a:ext cx="2713182" cy="73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b="1" dirty="0">
                <a:solidFill>
                  <a:srgbClr val="F66602"/>
                </a:solidFill>
              </a:rPr>
              <a:t>After</a:t>
            </a:r>
            <a:r>
              <a:rPr lang="en-GB" sz="2400" dirty="0">
                <a:solidFill>
                  <a:srgbClr val="F66602"/>
                </a:solidFill>
              </a:rPr>
              <a:t> partitioning?</a:t>
            </a:r>
            <a:endParaRPr lang="en-US" sz="2400" dirty="0">
              <a:solidFill>
                <a:srgbClr val="F66602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0FACF16-1828-003B-9928-CA4B127C1410}"/>
              </a:ext>
            </a:extLst>
          </p:cNvPr>
          <p:cNvSpPr txBox="1">
            <a:spLocks/>
          </p:cNvSpPr>
          <p:nvPr/>
        </p:nvSpPr>
        <p:spPr>
          <a:xfrm>
            <a:off x="2832795" y="4456939"/>
            <a:ext cx="3325091" cy="73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b="1" dirty="0">
                <a:solidFill>
                  <a:srgbClr val="FF0000"/>
                </a:solidFill>
              </a:rPr>
              <a:t>Global </a:t>
            </a:r>
            <a:r>
              <a:rPr lang="en-GB" sz="2400" dirty="0">
                <a:solidFill>
                  <a:srgbClr val="FF0000"/>
                </a:solidFill>
              </a:rPr>
              <a:t>encoding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75398F3-563E-E732-4169-8D1C738248E6}"/>
              </a:ext>
            </a:extLst>
          </p:cNvPr>
          <p:cNvSpPr txBox="1">
            <a:spLocks/>
          </p:cNvSpPr>
          <p:nvPr/>
        </p:nvSpPr>
        <p:spPr>
          <a:xfrm>
            <a:off x="7714213" y="4433721"/>
            <a:ext cx="3325091" cy="73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b="1" dirty="0">
                <a:solidFill>
                  <a:srgbClr val="FF0000"/>
                </a:solidFill>
              </a:rPr>
              <a:t>Local </a:t>
            </a:r>
            <a:r>
              <a:rPr lang="en-GB" sz="2400" dirty="0">
                <a:solidFill>
                  <a:srgbClr val="FF0000"/>
                </a:solidFill>
              </a:rPr>
              <a:t>encoding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5DCF17-84A9-B593-169C-A0F8F98C4753}"/>
              </a:ext>
            </a:extLst>
          </p:cNvPr>
          <p:cNvSpPr txBox="1"/>
          <p:nvPr/>
        </p:nvSpPr>
        <p:spPr>
          <a:xfrm>
            <a:off x="2355273" y="4845250"/>
            <a:ext cx="4387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-webkit-standard"/>
              </a:rPr>
              <a:t>O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ptimisation/correction is performed on the </a:t>
            </a:r>
            <a:r>
              <a:rPr lang="en-GB" b="0" i="1" dirty="0">
                <a:solidFill>
                  <a:srgbClr val="000000"/>
                </a:solidFill>
                <a:effectLst/>
                <a:latin typeface="-webkit-standard"/>
              </a:rPr>
              <a:t>entire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computation prior to distribution.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53EA60-DE83-3142-30AB-4C1EFBEB836D}"/>
              </a:ext>
            </a:extLst>
          </p:cNvPr>
          <p:cNvSpPr txBox="1"/>
          <p:nvPr/>
        </p:nvSpPr>
        <p:spPr>
          <a:xfrm>
            <a:off x="7370618" y="4845249"/>
            <a:ext cx="4304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Optimisation/correction is performed on the </a:t>
            </a:r>
            <a:r>
              <a:rPr lang="en-GB" b="0" i="1" dirty="0">
                <a:solidFill>
                  <a:srgbClr val="000000"/>
                </a:solidFill>
                <a:effectLst/>
                <a:latin typeface="-webkit-standard"/>
              </a:rPr>
              <a:t>sub-computations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post distribution.</a:t>
            </a:r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8D8A5E9-B561-DA4D-CF49-4514B6411917}"/>
              </a:ext>
            </a:extLst>
          </p:cNvPr>
          <p:cNvSpPr txBox="1">
            <a:spLocks/>
          </p:cNvSpPr>
          <p:nvPr/>
        </p:nvSpPr>
        <p:spPr>
          <a:xfrm>
            <a:off x="7008221" y="6356350"/>
            <a:ext cx="41820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4D29E26-D64C-9EE6-1A58-943C3D6B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045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39C40-18AA-13AA-146D-A2EBECDC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ABBD-0A75-3FAA-BB93-8743F9D4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experiment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F109D-F5BB-0C80-3070-B92B36D8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5F2D8F2-C721-CB4A-842B-EB448B5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59036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</p:spTree>
    <p:extLst>
      <p:ext uri="{BB962C8B-B14F-4D97-AF65-F5344CB8AC3E}">
        <p14:creationId xmlns:p14="http://schemas.microsoft.com/office/powerpoint/2010/main" val="2617783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0C1C-D32A-D5F3-6D6A-97718A2A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88747-5464-3AA2-FFED-71F9581B8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59623"/>
            <a:ext cx="2789236" cy="8239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3 Algorithms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57776-B28F-5D8C-748C-B5594E284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369" y="3036887"/>
            <a:ext cx="3669771" cy="36845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Greenberger-Horne-Zeilinger (GHZ) state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Deutsch-Jozsa (DJ)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 state preparation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551F548-B232-B405-B046-4C851258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38861" y="6286519"/>
            <a:ext cx="4114800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D96CE2-C296-30FE-4D04-BB0D5EB5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14</a:t>
            </a:fld>
            <a:endParaRPr lang="en-US" dirty="0"/>
          </a:p>
        </p:txBody>
      </p:sp>
      <p:pic>
        <p:nvPicPr>
          <p:cNvPr id="2054" name="Picture 6" descr="Prepare Greenberger–Horne–Zeilinger state with Quantum Circuit · Yao.jl">
            <a:extLst>
              <a:ext uri="{FF2B5EF4-FFF2-40B4-BE49-F238E27FC236}">
                <a16:creationId xmlns:a16="http://schemas.microsoft.com/office/drawing/2014/main" id="{F4225AF7-2A52-27E4-0602-9192A64D7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106" y="1584020"/>
            <a:ext cx="3585255" cy="215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eutsch-Jozsa Algorithm: Quantum Computing Basics | by Saptashwa  Bhattacharyya | A Bit of Qubit | Medium">
            <a:extLst>
              <a:ext uri="{FF2B5EF4-FFF2-40B4-BE49-F238E27FC236}">
                <a16:creationId xmlns:a16="http://schemas.microsoft.com/office/drawing/2014/main" id="{0E82EA7B-A8CB-5CDB-C4A1-AD7154F1B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619" y="1737158"/>
            <a:ext cx="4083727" cy="156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quantum algorithms - General construction of $W_n$-state - Quantum  Computing Stack Exchange">
            <a:extLst>
              <a:ext uri="{FF2B5EF4-FFF2-40B4-BE49-F238E27FC236}">
                <a16:creationId xmlns:a16="http://schemas.microsoft.com/office/drawing/2014/main" id="{07A668D4-5CF6-A56B-4178-CB28F4B56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676" y="3800066"/>
            <a:ext cx="4871585" cy="215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33ABE54F-0379-285D-3CFA-DCD592728763}"/>
              </a:ext>
            </a:extLst>
          </p:cNvPr>
          <p:cNvSpPr txBox="1">
            <a:spLocks/>
          </p:cNvSpPr>
          <p:nvPr/>
        </p:nvSpPr>
        <p:spPr>
          <a:xfrm>
            <a:off x="5265200" y="3467767"/>
            <a:ext cx="781068" cy="3578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GHZ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16DDFE91-E7FF-064B-8F51-F5F679ABE24A}"/>
              </a:ext>
            </a:extLst>
          </p:cNvPr>
          <p:cNvSpPr txBox="1">
            <a:spLocks/>
          </p:cNvSpPr>
          <p:nvPr/>
        </p:nvSpPr>
        <p:spPr>
          <a:xfrm>
            <a:off x="9515193" y="3442210"/>
            <a:ext cx="781068" cy="3578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DJ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6EB29894-78B7-22FA-20DA-56B6488AC8A3}"/>
              </a:ext>
            </a:extLst>
          </p:cNvPr>
          <p:cNvSpPr txBox="1">
            <a:spLocks/>
          </p:cNvSpPr>
          <p:nvPr/>
        </p:nvSpPr>
        <p:spPr>
          <a:xfrm>
            <a:off x="7295085" y="5880659"/>
            <a:ext cx="1094172" cy="612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W prep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167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E6B0-8028-3FDC-8F04-ECBB1A2E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45BA-09C3-6D4F-6FE4-F55795F2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D1E32-2797-154E-475F-59396F26B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59623"/>
            <a:ext cx="2789236" cy="823912"/>
          </a:xfrm>
        </p:spPr>
        <p:txBody>
          <a:bodyPr/>
          <a:lstStyle/>
          <a:p>
            <a:r>
              <a:rPr lang="en-US" dirty="0"/>
              <a:t>3 Algorithms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5DFE2-BAA3-D6B0-1E81-E6F995E99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370" y="3036887"/>
            <a:ext cx="2789237" cy="36845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Greenberger-Horne-Zeilinger (GHZ) state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Deutsch-Jozsa (DJ)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 state preparation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5610CE-91D9-CEA8-A2D5-6A5DBB16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38861" y="6286519"/>
            <a:ext cx="4114800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51547C-561A-0269-7C7E-DB3E8EE5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15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C9719B6-4E4C-7615-498F-900E9530A3BD}"/>
              </a:ext>
            </a:extLst>
          </p:cNvPr>
          <p:cNvSpPr txBox="1">
            <a:spLocks/>
          </p:cNvSpPr>
          <p:nvPr/>
        </p:nvSpPr>
        <p:spPr>
          <a:xfrm>
            <a:off x="3439320" y="1459623"/>
            <a:ext cx="278923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Custom noise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E82909B-8B50-C11E-E514-47259F83CC5A}"/>
              </a:ext>
            </a:extLst>
          </p:cNvPr>
          <p:cNvSpPr txBox="1">
            <a:spLocks/>
          </p:cNvSpPr>
          <p:nvPr/>
        </p:nvSpPr>
        <p:spPr>
          <a:xfrm>
            <a:off x="3306763" y="3036887"/>
            <a:ext cx="278923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Depolarizing</a:t>
            </a:r>
            <a:r>
              <a:rPr lang="en-US" sz="2000" dirty="0"/>
              <a:t> noise with: </a:t>
            </a:r>
          </a:p>
          <a:p>
            <a:r>
              <a:rPr lang="en-US" sz="2000" dirty="0"/>
              <a:t>device noise ranging from 0.001% to 0.02%</a:t>
            </a:r>
          </a:p>
          <a:p>
            <a:r>
              <a:rPr lang="en-US" sz="2000" dirty="0"/>
              <a:t>Network noise being equal, or having an additional 10% and 20% error rate </a:t>
            </a:r>
            <a:r>
              <a:rPr lang="en-US" sz="2000" dirty="0" err="1"/>
              <a:t>w.r.t</a:t>
            </a:r>
            <a:r>
              <a:rPr lang="en-US" sz="2000" dirty="0"/>
              <a:t> device noise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8BAC280-1AB8-8BAE-1B34-973ACA9271EE}"/>
              </a:ext>
            </a:extLst>
          </p:cNvPr>
          <p:cNvCxnSpPr>
            <a:cxnSpLocks/>
          </p:cNvCxnSpPr>
          <p:nvPr/>
        </p:nvCxnSpPr>
        <p:spPr>
          <a:xfrm>
            <a:off x="3072607" y="1861751"/>
            <a:ext cx="0" cy="4789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06A84F0-0C23-9847-4A97-034F900F96ED}"/>
              </a:ext>
            </a:extLst>
          </p:cNvPr>
          <p:cNvSpPr txBox="1">
            <a:spLocks/>
          </p:cNvSpPr>
          <p:nvPr/>
        </p:nvSpPr>
        <p:spPr>
          <a:xfrm>
            <a:off x="6614893" y="3246437"/>
            <a:ext cx="5114654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1% -&gt; 1/100 gates is faulty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1/3) chance each of having a Pauli (X), (Y), or (Z) error applied)</a:t>
            </a:r>
            <a:endParaRPr lang="en-US" sz="32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870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A6E3-1542-EE84-1951-1876FDD1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C5A1-2092-0A3F-0D3E-ED04BBB7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C28FE-B218-6FB3-F827-D584916E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59623"/>
            <a:ext cx="2789236" cy="823912"/>
          </a:xfrm>
        </p:spPr>
        <p:txBody>
          <a:bodyPr/>
          <a:lstStyle/>
          <a:p>
            <a:r>
              <a:rPr lang="en-US" dirty="0"/>
              <a:t>3 Algorithms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B4350-DA3D-1FC3-76F6-42B439E6D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370" y="3036887"/>
            <a:ext cx="2789237" cy="36845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Greenberger-Horne-Zeilinger (GHZ) state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Deutsch-Jozsa (DJ)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 state preparation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FCCAD3E-9999-40B5-0FAF-76B00946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38861" y="6286519"/>
            <a:ext cx="4114800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80DFDE-3C57-C816-A932-B31D6403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16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5F34858-88AA-C457-D268-3553ECCA54C7}"/>
              </a:ext>
            </a:extLst>
          </p:cNvPr>
          <p:cNvSpPr txBox="1">
            <a:spLocks/>
          </p:cNvSpPr>
          <p:nvPr/>
        </p:nvSpPr>
        <p:spPr>
          <a:xfrm>
            <a:off x="3439320" y="1459623"/>
            <a:ext cx="278923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 noise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6F43447-25B9-AA92-89C5-D0B54C0CCB3F}"/>
              </a:ext>
            </a:extLst>
          </p:cNvPr>
          <p:cNvSpPr txBox="1">
            <a:spLocks/>
          </p:cNvSpPr>
          <p:nvPr/>
        </p:nvSpPr>
        <p:spPr>
          <a:xfrm>
            <a:off x="6225380" y="1449795"/>
            <a:ext cx="22526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2-6 partitions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B73CAA4-0B04-8DCD-1323-3EA4E94DFFFF}"/>
              </a:ext>
            </a:extLst>
          </p:cNvPr>
          <p:cNvSpPr txBox="1">
            <a:spLocks/>
          </p:cNvSpPr>
          <p:nvPr/>
        </p:nvSpPr>
        <p:spPr>
          <a:xfrm>
            <a:off x="3306763" y="3036887"/>
            <a:ext cx="278923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Depolarizing</a:t>
            </a:r>
            <a:r>
              <a:rPr lang="en-US" sz="2000" dirty="0"/>
              <a:t> noise with: </a:t>
            </a:r>
          </a:p>
          <a:p>
            <a:r>
              <a:rPr lang="en-US" sz="2000" dirty="0"/>
              <a:t>device noise ranging from 0.001% to 0.02%</a:t>
            </a:r>
          </a:p>
          <a:p>
            <a:r>
              <a:rPr lang="en-US" sz="2000" dirty="0"/>
              <a:t>Network noise being equal, or having an additional 10% and 20% error rate </a:t>
            </a:r>
            <a:r>
              <a:rPr lang="en-US" sz="2000" dirty="0" err="1"/>
              <a:t>w.r.t</a:t>
            </a:r>
            <a:r>
              <a:rPr lang="en-US" sz="2000" dirty="0"/>
              <a:t> device noise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2A71BA53-6705-BF85-7A03-76942E509485}"/>
              </a:ext>
            </a:extLst>
          </p:cNvPr>
          <p:cNvSpPr txBox="1">
            <a:spLocks/>
          </p:cNvSpPr>
          <p:nvPr/>
        </p:nvSpPr>
        <p:spPr>
          <a:xfrm>
            <a:off x="7023557" y="3431301"/>
            <a:ext cx="2080819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DD4BA6-2BDB-940B-52A2-1B5F3D886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704"/>
          <a:stretch>
            <a:fillRect/>
          </a:stretch>
        </p:blipFill>
        <p:spPr>
          <a:xfrm>
            <a:off x="6679391" y="5856954"/>
            <a:ext cx="1232710" cy="6888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5E9089-2091-5AA8-D10B-5E795F0C3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704"/>
          <a:stretch>
            <a:fillRect/>
          </a:stretch>
        </p:blipFill>
        <p:spPr>
          <a:xfrm>
            <a:off x="6696520" y="4979232"/>
            <a:ext cx="1232710" cy="6888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6B3E18-A3DA-DDCE-29C3-84F2288BC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704"/>
          <a:stretch>
            <a:fillRect/>
          </a:stretch>
        </p:blipFill>
        <p:spPr>
          <a:xfrm>
            <a:off x="6679391" y="4129814"/>
            <a:ext cx="1232710" cy="6888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C103FE-F3DD-4B79-80C1-47D5E943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704"/>
          <a:stretch>
            <a:fillRect/>
          </a:stretch>
        </p:blipFill>
        <p:spPr>
          <a:xfrm>
            <a:off x="6679391" y="2903364"/>
            <a:ext cx="1232710" cy="6888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5CDB98-3283-F518-5F6E-3EA51D41B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0" t="32985" r="39079" b="43697"/>
          <a:stretch>
            <a:fillRect/>
          </a:stretch>
        </p:blipFill>
        <p:spPr>
          <a:xfrm rot="5400000">
            <a:off x="6849463" y="4816820"/>
            <a:ext cx="254932" cy="1606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4D959-63AF-0836-A314-7451864A6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0" t="32985" r="39079" b="43697"/>
          <a:stretch>
            <a:fillRect/>
          </a:stretch>
        </p:blipFill>
        <p:spPr>
          <a:xfrm rot="5400000">
            <a:off x="7530290" y="4816820"/>
            <a:ext cx="254932" cy="1606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59D6557-6E5D-0771-9402-9D21AC685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0" t="32985" r="39079" b="43697"/>
          <a:stretch>
            <a:fillRect/>
          </a:stretch>
        </p:blipFill>
        <p:spPr>
          <a:xfrm rot="5400000">
            <a:off x="6849463" y="5668212"/>
            <a:ext cx="254932" cy="1606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0E7CF12-2660-9A17-F26D-EEDC1E249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0" t="32985" r="39079" b="43697"/>
          <a:stretch>
            <a:fillRect/>
          </a:stretch>
        </p:blipFill>
        <p:spPr>
          <a:xfrm rot="5400000">
            <a:off x="7530290" y="5686110"/>
            <a:ext cx="254932" cy="16061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B288F63-483E-B520-34E6-739CCED81CAB}"/>
              </a:ext>
            </a:extLst>
          </p:cNvPr>
          <p:cNvCxnSpPr>
            <a:cxnSpLocks/>
          </p:cNvCxnSpPr>
          <p:nvPr/>
        </p:nvCxnSpPr>
        <p:spPr>
          <a:xfrm>
            <a:off x="3072607" y="1861751"/>
            <a:ext cx="0" cy="4789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200057-FCFC-B9F6-A596-2F34833E6A37}"/>
              </a:ext>
            </a:extLst>
          </p:cNvPr>
          <p:cNvCxnSpPr>
            <a:cxnSpLocks/>
          </p:cNvCxnSpPr>
          <p:nvPr/>
        </p:nvCxnSpPr>
        <p:spPr>
          <a:xfrm>
            <a:off x="6096000" y="1871579"/>
            <a:ext cx="0" cy="4789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1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9AD3-8305-CA17-9CF4-B13DFE9A7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E68B-9791-554F-770E-F58F43AE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4DC25-DACB-977D-BCA9-49EC87FD3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59623"/>
            <a:ext cx="2789236" cy="823912"/>
          </a:xfrm>
        </p:spPr>
        <p:txBody>
          <a:bodyPr/>
          <a:lstStyle/>
          <a:p>
            <a:r>
              <a:rPr lang="en-US" dirty="0"/>
              <a:t>3 Algorithms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DF7DD-2917-960E-0093-3296408CC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370" y="3036887"/>
            <a:ext cx="2789237" cy="36845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Greenberger-Horne-Zeilinger (GHZ) state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Deutsch-Jozsa (DJ)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 state preparation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9B524D-7E50-6441-F803-04E2E625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38861" y="6286519"/>
            <a:ext cx="4114800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AA9139-2CA9-A1A7-855F-A1665BA0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17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AD90DD9-4E6D-E1BD-B988-B9D858F9BF45}"/>
              </a:ext>
            </a:extLst>
          </p:cNvPr>
          <p:cNvSpPr txBox="1">
            <a:spLocks/>
          </p:cNvSpPr>
          <p:nvPr/>
        </p:nvSpPr>
        <p:spPr>
          <a:xfrm>
            <a:off x="3439320" y="1459623"/>
            <a:ext cx="278923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 noise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A6EBCD7-00E8-BBF0-BA5E-828DF8F72094}"/>
              </a:ext>
            </a:extLst>
          </p:cNvPr>
          <p:cNvSpPr txBox="1">
            <a:spLocks/>
          </p:cNvSpPr>
          <p:nvPr/>
        </p:nvSpPr>
        <p:spPr>
          <a:xfrm>
            <a:off x="6225380" y="1449795"/>
            <a:ext cx="22526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2-6 partitions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B9D2973-D0E1-7B06-8F98-A88D3F5A48A6}"/>
              </a:ext>
            </a:extLst>
          </p:cNvPr>
          <p:cNvSpPr txBox="1">
            <a:spLocks/>
          </p:cNvSpPr>
          <p:nvPr/>
        </p:nvSpPr>
        <p:spPr>
          <a:xfrm>
            <a:off x="9011440" y="1475736"/>
            <a:ext cx="278923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Standard Software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C62F84C-3598-C7AC-920B-4F00EC2B46CA}"/>
              </a:ext>
            </a:extLst>
          </p:cNvPr>
          <p:cNvSpPr txBox="1">
            <a:spLocks/>
          </p:cNvSpPr>
          <p:nvPr/>
        </p:nvSpPr>
        <p:spPr>
          <a:xfrm>
            <a:off x="3306763" y="3036887"/>
            <a:ext cx="278923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Depolarizing</a:t>
            </a:r>
            <a:r>
              <a:rPr lang="en-US" sz="2000" dirty="0"/>
              <a:t> noise with: </a:t>
            </a:r>
          </a:p>
          <a:p>
            <a:r>
              <a:rPr lang="en-US" sz="2000" dirty="0"/>
              <a:t>device noise ranging from 0.001% to 0.02%</a:t>
            </a:r>
          </a:p>
          <a:p>
            <a:r>
              <a:rPr lang="en-US" sz="2000" dirty="0"/>
              <a:t>Network noise being equal, or having an additional 10% and 20% error rate </a:t>
            </a:r>
            <a:r>
              <a:rPr lang="en-US" sz="2000" dirty="0" err="1"/>
              <a:t>w.r.t</a:t>
            </a:r>
            <a:r>
              <a:rPr lang="en-US" sz="2000" dirty="0"/>
              <a:t> device noise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997C11D-CB0C-5DD8-7743-831D00C12075}"/>
              </a:ext>
            </a:extLst>
          </p:cNvPr>
          <p:cNvSpPr txBox="1">
            <a:spLocks/>
          </p:cNvSpPr>
          <p:nvPr/>
        </p:nvSpPr>
        <p:spPr>
          <a:xfrm>
            <a:off x="9017791" y="3036887"/>
            <a:ext cx="278923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Qiskit</a:t>
            </a:r>
            <a:r>
              <a:rPr lang="en-US" sz="2000" dirty="0"/>
              <a:t> Aer simulator</a:t>
            </a:r>
          </a:p>
          <a:p>
            <a:r>
              <a:rPr lang="en-US" sz="2000" dirty="0" err="1"/>
              <a:t>Mitiq</a:t>
            </a:r>
            <a:endParaRPr lang="en-US" sz="2000" dirty="0"/>
          </a:p>
        </p:txBody>
      </p:sp>
      <p:pic>
        <p:nvPicPr>
          <p:cNvPr id="2050" name="Picture 2" descr="Mitiq 1.0.0 documentation">
            <a:extLst>
              <a:ext uri="{FF2B5EF4-FFF2-40B4-BE49-F238E27FC236}">
                <a16:creationId xmlns:a16="http://schemas.microsoft.com/office/drawing/2014/main" id="{48A3D937-76D9-B543-F997-CBB414848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311" y="3963927"/>
            <a:ext cx="2362196" cy="73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tiq 1.0.0 documentation">
            <a:extLst>
              <a:ext uri="{FF2B5EF4-FFF2-40B4-BE49-F238E27FC236}">
                <a16:creationId xmlns:a16="http://schemas.microsoft.com/office/drawing/2014/main" id="{3BE1BEB1-DE44-D38F-DF06-83117158E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4826" y="4991913"/>
            <a:ext cx="2133600" cy="84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EF2CD39-8124-1CD1-17A1-ABCAAB742E9C}"/>
              </a:ext>
            </a:extLst>
          </p:cNvPr>
          <p:cNvSpPr txBox="1">
            <a:spLocks/>
          </p:cNvSpPr>
          <p:nvPr/>
        </p:nvSpPr>
        <p:spPr>
          <a:xfrm>
            <a:off x="7023557" y="3431301"/>
            <a:ext cx="2080819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1EA0B1-4798-4FE0-8ED2-B56948DC58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2704"/>
          <a:stretch>
            <a:fillRect/>
          </a:stretch>
        </p:blipFill>
        <p:spPr>
          <a:xfrm>
            <a:off x="6679391" y="5856954"/>
            <a:ext cx="1232710" cy="6888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DBC94C-168B-DF83-8ECB-2A669B730D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2704"/>
          <a:stretch>
            <a:fillRect/>
          </a:stretch>
        </p:blipFill>
        <p:spPr>
          <a:xfrm>
            <a:off x="6696520" y="4979232"/>
            <a:ext cx="1232710" cy="6888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B6D930D-C9CC-00A0-C780-CB14A90836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2704"/>
          <a:stretch>
            <a:fillRect/>
          </a:stretch>
        </p:blipFill>
        <p:spPr>
          <a:xfrm>
            <a:off x="6679391" y="4129814"/>
            <a:ext cx="1232710" cy="6888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5DCCB6D-4BB3-BD79-076B-D6664719C1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2704"/>
          <a:stretch>
            <a:fillRect/>
          </a:stretch>
        </p:blipFill>
        <p:spPr>
          <a:xfrm>
            <a:off x="6679391" y="2903364"/>
            <a:ext cx="1232710" cy="6888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161E0C6-57F2-E59B-6800-5549B76C6A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00" t="32985" r="39079" b="43697"/>
          <a:stretch>
            <a:fillRect/>
          </a:stretch>
        </p:blipFill>
        <p:spPr>
          <a:xfrm rot="5400000">
            <a:off x="6849463" y="4816820"/>
            <a:ext cx="254932" cy="1606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1BE4499-3A7C-9186-66BE-C167CF69C8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00" t="32985" r="39079" b="43697"/>
          <a:stretch>
            <a:fillRect/>
          </a:stretch>
        </p:blipFill>
        <p:spPr>
          <a:xfrm rot="5400000">
            <a:off x="7530290" y="4816820"/>
            <a:ext cx="254932" cy="1606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F4D81B-8AF9-0554-6F5D-00BAC0AD8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00" t="32985" r="39079" b="43697"/>
          <a:stretch>
            <a:fillRect/>
          </a:stretch>
        </p:blipFill>
        <p:spPr>
          <a:xfrm rot="5400000">
            <a:off x="6849463" y="5668212"/>
            <a:ext cx="254932" cy="1606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8B565C8-03BD-D413-9696-38DDD328AD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00" t="32985" r="39079" b="43697"/>
          <a:stretch>
            <a:fillRect/>
          </a:stretch>
        </p:blipFill>
        <p:spPr>
          <a:xfrm rot="5400000">
            <a:off x="7530290" y="5686110"/>
            <a:ext cx="254932" cy="16061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DC22A1-3B0F-62D9-C366-A03FEFFBC033}"/>
              </a:ext>
            </a:extLst>
          </p:cNvPr>
          <p:cNvCxnSpPr>
            <a:cxnSpLocks/>
          </p:cNvCxnSpPr>
          <p:nvPr/>
        </p:nvCxnSpPr>
        <p:spPr>
          <a:xfrm>
            <a:off x="3072607" y="1861751"/>
            <a:ext cx="0" cy="4789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2DC95EA-6935-F5BC-589F-BD29C57D64C6}"/>
              </a:ext>
            </a:extLst>
          </p:cNvPr>
          <p:cNvCxnSpPr>
            <a:cxnSpLocks/>
          </p:cNvCxnSpPr>
          <p:nvPr/>
        </p:nvCxnSpPr>
        <p:spPr>
          <a:xfrm>
            <a:off x="6096000" y="1871579"/>
            <a:ext cx="0" cy="4789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11113A-8EC4-3FDC-8B53-4933A339E10B}"/>
              </a:ext>
            </a:extLst>
          </p:cNvPr>
          <p:cNvCxnSpPr>
            <a:cxnSpLocks/>
          </p:cNvCxnSpPr>
          <p:nvPr/>
        </p:nvCxnSpPr>
        <p:spPr>
          <a:xfrm>
            <a:off x="8610600" y="1981673"/>
            <a:ext cx="0" cy="39122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887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7264-5EDA-BF92-8A8E-FB02FC3A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98B2-353A-74E7-E99C-500EA00F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we tested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48E59-19E6-BC11-6C8F-E48F5AE7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73DBA11-7F81-6F85-7A86-ECD51014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59036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</p:spTree>
    <p:extLst>
      <p:ext uri="{BB962C8B-B14F-4D97-AF65-F5344CB8AC3E}">
        <p14:creationId xmlns:p14="http://schemas.microsoft.com/office/powerpoint/2010/main" val="3416059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2468-AA37-A19A-4B0C-B7792BBF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B048-A494-5A68-05E4-2E618883A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ZNE error</a:t>
            </a:r>
            <a:r>
              <a:rPr lang="en-GB" dirty="0"/>
              <a:t>: Difference between measured and ideal expectation values.</a:t>
            </a:r>
          </a:p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21BE28B-FFA1-D566-7D20-0C9A0011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5341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701F-A59F-4E8B-C909-1879DBEC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6A547-A02B-8568-41FB-E13193F4AA0C}"/>
              </a:ext>
            </a:extLst>
          </p:cNvPr>
          <p:cNvSpPr txBox="1"/>
          <p:nvPr/>
        </p:nvSpPr>
        <p:spPr>
          <a:xfrm>
            <a:off x="3049621" y="3249198"/>
            <a:ext cx="64834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Expected result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vs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Obtained with EM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09387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89F4-C243-6266-1376-09599BB4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11AF-1715-492C-3D91-C2A69F6C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7763C-7E64-A881-1E17-3C1F8E73C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ZNE error: Difference between measured and ideal expectation values.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solidFill>
                  <a:srgbClr val="C00000"/>
                </a:solidFill>
              </a:rPr>
              <a:t>Error reduction</a:t>
            </a:r>
            <a:r>
              <a:rPr lang="en-GB" dirty="0"/>
              <a:t>: Fractional improvement in expectation value error when ZNE is applied</a:t>
            </a:r>
          </a:p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26E9D69-0370-5058-2828-53AB5B77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5341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F5AEC-880B-D644-3CCA-8BA0C3BC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3F438-6E73-2799-FE25-FD9996BD50A4}"/>
              </a:ext>
            </a:extLst>
          </p:cNvPr>
          <p:cNvSpPr txBox="1"/>
          <p:nvPr/>
        </p:nvSpPr>
        <p:spPr>
          <a:xfrm>
            <a:off x="1974870" y="4444037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Expected result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vs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Obtained with EM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b="1" i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Given noise level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i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49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F046-6FFF-E7F2-C5D2-F6360C35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6FD6-1EB9-2299-FDEC-3937ACF0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67775-1378-9FD1-DFC3-07117DF29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ZNE error: Difference between measured and ideal expectation values.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Error reduction: Fractional improvement in expectation value error when ZNE is applied</a:t>
            </a:r>
          </a:p>
          <a:p>
            <a:endParaRPr lang="en-GB" dirty="0"/>
          </a:p>
          <a:p>
            <a:r>
              <a:rPr lang="en-GB" dirty="0">
                <a:solidFill>
                  <a:srgbClr val="C00000"/>
                </a:solidFill>
              </a:rPr>
              <a:t>Depth overhead</a:t>
            </a:r>
            <a:r>
              <a:rPr lang="en-GB" dirty="0"/>
              <a:t>: Ratio of the amplified circuit depth to the original circuit depth.</a:t>
            </a:r>
          </a:p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FFE07A3-A77D-9BDA-257D-47836F03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5341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46815-0864-E987-409C-E91A4CA4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DA73-85A6-D4DA-41EE-13E148B2DEDD}"/>
              </a:ext>
            </a:extLst>
          </p:cNvPr>
          <p:cNvSpPr txBox="1"/>
          <p:nvPr/>
        </p:nvSpPr>
        <p:spPr>
          <a:xfrm>
            <a:off x="3049621" y="5288340"/>
            <a:ext cx="6483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New circuit size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5825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227BF-D782-EA0E-D0B4-511B53A0F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C89E5B-5385-C656-307C-459078E34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159" y="3583709"/>
            <a:ext cx="3217054" cy="2679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7FA11-5A88-EE2A-04B8-8A99F8C1F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Performed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3348-DDD4-BC4A-9174-4A69998A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27" y="1465407"/>
            <a:ext cx="11492345" cy="36977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dirty="0"/>
              <a:t>Computation -&gt; Graph -&gt; Greedy partitioning strategy -&gt; Distributed Circuit </a:t>
            </a:r>
          </a:p>
          <a:p>
            <a:pPr marL="0" indent="0" algn="ctr">
              <a:buNone/>
            </a:pPr>
            <a:endParaRPr lang="en-GB" dirty="0"/>
          </a:p>
          <a:p>
            <a:r>
              <a:rPr lang="en-US" dirty="0"/>
              <a:t>Greedy partitioning strategy: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Greedy cluster identification (dense inter-qubit connectivity)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Iterative cluster merging/splitting to match target partition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Partition assignments (network is fully interconnected)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Cross-partition operations: non-local multi-qubit gates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58A0E4-0F7A-4AE7-2E21-9A7ED4885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" y="6250376"/>
            <a:ext cx="3529542" cy="365125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8E202E2-B572-94A6-76F8-6C0FB01D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71141" y="6356349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4C79B-E204-5536-1DE6-BE1EF490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95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D345-131F-05A8-1CCB-2542398F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Findings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DF78E-2F41-C0AC-1F1B-BC768BDD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3E460DE-4C5C-DE21-3CAF-8EA923BD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59036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</p:spTree>
    <p:extLst>
      <p:ext uri="{BB962C8B-B14F-4D97-AF65-F5344CB8AC3E}">
        <p14:creationId xmlns:p14="http://schemas.microsoft.com/office/powerpoint/2010/main" val="3275195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38C4-3B6C-02D4-11E6-9254AA0D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i="1" dirty="0">
                <a:solidFill>
                  <a:srgbClr val="FF0000"/>
                </a:solidFill>
              </a:rPr>
              <a:t>Global ZNE is the more effective and scalable strategy.</a:t>
            </a:r>
            <a:endParaRPr lang="en-US" altLang="en-US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9C1BA4-8052-2D0F-207B-44B60B80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405"/>
          <a:stretch>
            <a:fillRect/>
          </a:stretch>
        </p:blipFill>
        <p:spPr>
          <a:xfrm>
            <a:off x="2341007" y="2157323"/>
            <a:ext cx="7271952" cy="386891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04960E-1ABC-96D2-5742-040E94CB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446" y="6492875"/>
            <a:ext cx="2743200" cy="365125"/>
          </a:xfrm>
        </p:spPr>
        <p:txBody>
          <a:bodyPr/>
          <a:lstStyle/>
          <a:p>
            <a:fld id="{21A67557-5B85-224A-8198-27673339368F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5F1A90E-571A-749B-14FF-0BC73271E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7610" y="6474113"/>
            <a:ext cx="4759036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</p:spTree>
    <p:extLst>
      <p:ext uri="{BB962C8B-B14F-4D97-AF65-F5344CB8AC3E}">
        <p14:creationId xmlns:p14="http://schemas.microsoft.com/office/powerpoint/2010/main" val="352482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6390F-1191-29F9-23EA-B6C61A70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FAF9-E483-67A6-2D6A-423B61C3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i="1" dirty="0">
                <a:solidFill>
                  <a:srgbClr val="FF0000"/>
                </a:solidFill>
              </a:rPr>
              <a:t>Global ZNE's performance advantage comes at a significant computational cost.</a:t>
            </a:r>
            <a:endParaRPr lang="en-US" alt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95335-AFBB-0F61-4F1C-C99968E5A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919"/>
          <a:stretch>
            <a:fillRect/>
          </a:stretch>
        </p:blipFill>
        <p:spPr>
          <a:xfrm>
            <a:off x="2660574" y="2105891"/>
            <a:ext cx="6870852" cy="3784545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5D9E276-9896-FE48-7867-99071FBB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29845" y="6356349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7CFFC-45D6-889C-0EE8-921CF1FD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18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1B2B-F1DD-17BD-55E6-FA16E038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DF5B-AA09-E4AB-9711-947866CA8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i="1" dirty="0">
                <a:solidFill>
                  <a:srgbClr val="FF0000"/>
                </a:solidFill>
              </a:rPr>
              <a:t>More QPUs can improve (not harm) mitigation effectiveness.</a:t>
            </a:r>
            <a:endParaRPr lang="en-US" alt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1CCD5-DE0A-AE6C-DBCB-4530CC632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9196"/>
          <a:stretch>
            <a:fillRect/>
          </a:stretch>
        </p:blipFill>
        <p:spPr>
          <a:xfrm>
            <a:off x="296145" y="2092037"/>
            <a:ext cx="5973332" cy="4229708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49A9147-6323-E9BE-DF36-80E59E8F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B0B2F-8A15-3484-D668-E814EAC5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39537" y="6492875"/>
            <a:ext cx="2743200" cy="365125"/>
          </a:xfrm>
        </p:spPr>
        <p:txBody>
          <a:bodyPr/>
          <a:lstStyle/>
          <a:p>
            <a:fld id="{21A67557-5B85-224A-8198-27673339368F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C53394-326F-A223-35B1-D593F4CC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033" b="17683"/>
          <a:stretch>
            <a:fillRect/>
          </a:stretch>
        </p:blipFill>
        <p:spPr>
          <a:xfrm>
            <a:off x="6001760" y="2092038"/>
            <a:ext cx="6050447" cy="422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7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8E7F-5189-C657-946E-F9764274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4A0D-AEBA-761B-7169-17A4D5EF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i="1" dirty="0">
                <a:solidFill>
                  <a:srgbClr val="FF0000"/>
                </a:solidFill>
              </a:rPr>
              <a:t>Global ZNE offers higher reward  but </a:t>
            </a:r>
            <a:r>
              <a:rPr lang="en-US" altLang="en-US" i="1" u="sng" dirty="0">
                <a:solidFill>
                  <a:srgbClr val="FF0000"/>
                </a:solidFill>
              </a:rPr>
              <a:t>less predictable </a:t>
            </a:r>
            <a:r>
              <a:rPr lang="en-US" altLang="en-US" i="1" u="sng" dirty="0" err="1">
                <a:solidFill>
                  <a:srgbClr val="FF0000"/>
                </a:solidFill>
              </a:rPr>
              <a:t>behaviour</a:t>
            </a:r>
            <a:r>
              <a:rPr lang="en-US" altLang="en-US" i="1" dirty="0">
                <a:solidFill>
                  <a:srgbClr val="FF0000"/>
                </a:solidFill>
              </a:rPr>
              <a:t>; </a:t>
            </a:r>
            <a:br>
              <a:rPr lang="en-US" altLang="en-US" i="1" dirty="0">
                <a:solidFill>
                  <a:srgbClr val="FF0000"/>
                </a:solidFill>
              </a:rPr>
            </a:br>
            <a:r>
              <a:rPr lang="en-US" altLang="en-US" i="1" dirty="0">
                <a:solidFill>
                  <a:srgbClr val="FF0000"/>
                </a:solidFill>
              </a:rPr>
              <a:t>Local ZNE is “safer” but offers more modest gains.</a:t>
            </a:r>
            <a:endParaRPr lang="en-US" alt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D6A9C-B0CE-3C82-1ED1-3BA4831BB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686" b="12596"/>
          <a:stretch>
            <a:fillRect/>
          </a:stretch>
        </p:blipFill>
        <p:spPr>
          <a:xfrm>
            <a:off x="6370441" y="2479963"/>
            <a:ext cx="5821560" cy="371243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7BB94-D930-EAD8-0786-B60C69B4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AB3D8A-017E-E0BE-95E9-4F5CECC1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30830" y="6492875"/>
            <a:ext cx="2743200" cy="365125"/>
          </a:xfrm>
        </p:spPr>
        <p:txBody>
          <a:bodyPr/>
          <a:lstStyle/>
          <a:p>
            <a:fld id="{21A67557-5B85-224A-8198-27673339368F}" type="slidenum">
              <a:rPr lang="en-US" smtClean="0"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61943F-1635-1106-802E-7D8CA87DCD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3196"/>
          <a:stretch>
            <a:fillRect/>
          </a:stretch>
        </p:blipFill>
        <p:spPr>
          <a:xfrm>
            <a:off x="0" y="2479963"/>
            <a:ext cx="6475627" cy="339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78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D8BE-8A17-36D4-12DB-EFA261B9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5443-A944-8565-296E-82A06CC5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F3B17-CB98-8D9A-E0D3-83B68680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D588F16-C44D-CB66-376B-A11C53E3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59036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</p:spTree>
    <p:extLst>
      <p:ext uri="{BB962C8B-B14F-4D97-AF65-F5344CB8AC3E}">
        <p14:creationId xmlns:p14="http://schemas.microsoft.com/office/powerpoint/2010/main" val="3854559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B891-EB83-5E9B-745E-FBAD47F9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results and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A5DE7-BE84-1129-9BBB-A2DE5C214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Simulator fidelity</a:t>
            </a:r>
            <a:r>
              <a:rPr lang="en-US" dirty="0"/>
              <a:t>: limitations of depolarizing noise models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7F2AB49-D200-CE34-09A9-124C972F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03719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217A0-8EDD-03B3-B349-B5FE2F19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74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A7D94-2A4E-D100-8969-DC6F0561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4A05-1DC1-FCB1-F5F1-2A3C03827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results and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20B5B-619F-F0B1-950F-0A0C2EA19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Simulator fidelity: limitations of depolarizing noise 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Algorithm coverage</a:t>
            </a:r>
            <a:r>
              <a:rPr lang="en-US" dirty="0"/>
              <a:t>: 3 algorithms tested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5583BC7-615B-A811-E098-39015365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03719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F9C02-C872-9ED6-0C5A-C335B6D5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50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81EBB-C81B-A7BE-A917-6E0E9CCD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3827-8744-09ED-DB79-6368557B3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results and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3C7C6-59AB-514D-6A02-A8258DF6A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Simulator fidelity: limitations of depolarizing noise 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Algorithm coverage: 3 algorithms tested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Network realism</a:t>
            </a:r>
            <a:r>
              <a:rPr lang="en-US" dirty="0"/>
              <a:t>: assumed full inter-connection (no multi-hop)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5F29216-0532-F39A-C97C-5096DFD0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03719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DBCA9-D7A0-8DAF-A91A-3CCB2EA6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94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8119-48BA-1881-C4A6-B59D70D1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E45D-65DD-CF61-2A38-D96A7E82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results and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BDABA-5F19-800B-A0C9-CE4B72F08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Simulator fidelity: limitations of depolarizing noise 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Algorithm coverage: 3 algorithms tested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Network realism: assumed full inter-connection (no multi-hop)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Mitigation technique scope</a:t>
            </a:r>
            <a:r>
              <a:rPr lang="en-US" dirty="0"/>
              <a:t>: one version of ZNE was tested, further exploration on ZNE variants + other EM methods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31CABAD-50FA-0FE9-ADB7-80534461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03719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79517-AD59-160F-B493-316312DB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13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E0D8-94BC-6112-06E5-DDBBE0DC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59ED-5808-E96F-58B7-79A4466AC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5A858-3748-701B-C5FD-2C01C773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ADCDE5B-D8F7-4E23-6072-1C4D822E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59036" cy="365125"/>
          </a:xfrm>
        </p:spPr>
        <p:txBody>
          <a:bodyPr/>
          <a:lstStyle/>
          <a:p>
            <a:r>
              <a:rPr lang="en-US" dirty="0"/>
              <a:t>Distributed Quantum Error Mitigation | Maria Gragera Garces</a:t>
            </a:r>
          </a:p>
        </p:txBody>
      </p:sp>
    </p:spTree>
    <p:extLst>
      <p:ext uri="{BB962C8B-B14F-4D97-AF65-F5344CB8AC3E}">
        <p14:creationId xmlns:p14="http://schemas.microsoft.com/office/powerpoint/2010/main" val="3442086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DA49-6C7C-7097-58F2-39719674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27F7-F1A6-CC61-8145-E2C80F95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vs Local for Distributed ZNE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75694-609D-9688-12FE-171958AAC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Global</a:t>
            </a:r>
            <a:r>
              <a:rPr lang="en-US" dirty="0"/>
              <a:t> encodings seem to </a:t>
            </a:r>
            <a:r>
              <a:rPr lang="en-US" b="1" dirty="0"/>
              <a:t>better</a:t>
            </a:r>
            <a:r>
              <a:rPr lang="en-US" dirty="0"/>
              <a:t> capture error correlations across the entire computation leading to increased performance.</a:t>
            </a:r>
          </a:p>
          <a:p>
            <a:pPr marL="0" indent="0">
              <a:buNone/>
            </a:pPr>
            <a:r>
              <a:rPr lang="en-US" dirty="0"/>
              <a:t>Nonetheless </a:t>
            </a:r>
            <a:r>
              <a:rPr lang="en-US" b="1" dirty="0"/>
              <a:t>Local</a:t>
            </a:r>
            <a:r>
              <a:rPr lang="en-US" dirty="0"/>
              <a:t> encodings do not significantly underperform and could be considered as a more </a:t>
            </a:r>
            <a:r>
              <a:rPr lang="en-US" b="1" dirty="0"/>
              <a:t>stable</a:t>
            </a:r>
            <a:r>
              <a:rPr lang="en-US" dirty="0"/>
              <a:t> and QPU aware alternative.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kumimoji="0" lang="en-US" altLang="en-US" sz="3600" b="1" i="1" u="sng" strike="noStrike" cap="none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Global encodings are more effective,</a:t>
            </a:r>
          </a:p>
          <a:p>
            <a:pPr marL="0" indent="0" algn="ctr">
              <a:buNone/>
            </a:pPr>
            <a:r>
              <a:rPr lang="en-US" altLang="en-US" sz="3600" b="1" i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  <a:r>
              <a:rPr kumimoji="0" lang="en-US" altLang="en-US" sz="3600" b="1" i="1" u="sng" strike="noStrike" cap="none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ut </a:t>
            </a:r>
            <a:r>
              <a:rPr lang="en-US" altLang="en-US" sz="3600" b="1" i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Local encodings show promise.</a:t>
            </a:r>
            <a:endParaRPr kumimoji="0" lang="en-US" altLang="en-US" sz="3600" b="1" i="0" u="sng" strike="noStrike" cap="none" normalizeH="0" baseline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0DC6906-2228-193C-6029-7843576E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1467" y="6356349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58784-8EC0-0DD6-BFC5-C30FC28B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91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70BA-1938-2759-67B6-B6C80E0A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07EB-59E4-0838-381A-49E9568E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Overhead-Resilience Trade-off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DF5F4B-9177-20CE-6C30-3AF4FFFC27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4912"/>
            <a:ext cx="111506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Global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ZNE's 6–10×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depth inflation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risks negating the size-reduction benefits of distribution*.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However, at high partition counts, per-device depth approaches the original circuit depth.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1" u="none" strike="noStrike" cap="none" normalizeH="0" baseline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i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overhead cost diminishes at scale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CF7828-B701-CFF0-F481-C93812BA40BF}"/>
              </a:ext>
            </a:extLst>
          </p:cNvPr>
          <p:cNvSpPr/>
          <p:nvPr/>
        </p:nvSpPr>
        <p:spPr>
          <a:xfrm>
            <a:off x="247072" y="5211533"/>
            <a:ext cx="11658601" cy="344921"/>
          </a:xfrm>
          <a:prstGeom prst="rect">
            <a:avLst/>
          </a:prstGeom>
          <a:solidFill>
            <a:schemeClr val="bg2">
              <a:lumMod val="90000"/>
              <a:alpha val="361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9C6E7E-EAAF-AA90-9169-F125244A8271}"/>
              </a:ext>
            </a:extLst>
          </p:cNvPr>
          <p:cNvSpPr txBox="1">
            <a:spLocks/>
          </p:cNvSpPr>
          <p:nvPr/>
        </p:nvSpPr>
        <p:spPr>
          <a:xfrm>
            <a:off x="247073" y="5211533"/>
            <a:ext cx="11741727" cy="874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*Multiple quantum computers interconnected to perform a joint computation </a:t>
            </a:r>
            <a:r>
              <a:rPr lang="en-US" sz="1800" b="1" dirty="0"/>
              <a:t>larger than their individual capacities</a:t>
            </a:r>
            <a:r>
              <a:rPr lang="en-US" sz="1800" dirty="0"/>
              <a:t>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DDDEBC-66C2-9631-B648-1D7C712C3D9F}"/>
              </a:ext>
            </a:extLst>
          </p:cNvPr>
          <p:cNvSpPr txBox="1">
            <a:spLocks/>
          </p:cNvSpPr>
          <p:nvPr/>
        </p:nvSpPr>
        <p:spPr>
          <a:xfrm>
            <a:off x="190499" y="5079255"/>
            <a:ext cx="889002" cy="2645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Condensed" panose="020B0506020202020204" pitchFamily="34" charset="0"/>
              </a:rPr>
              <a:t>Reminder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7AD88D5-9E85-1F3D-9C78-C96D1888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8884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59AE7-8157-E058-7DCE-81FC991F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19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E3225-44A9-2C88-26AD-3BC87839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DA14-D724-6459-BCEE-2AF92911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Challenging the expected noise hierarchy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A5BCD3-6B1D-E4DD-F0DA-E79EAE7880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1568"/>
            <a:ext cx="109381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partitions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communication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noise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consistently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degrade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Global ZNE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i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Noise in DQC does not behave monotonically.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1B93947-BDF8-C76C-4071-80F1AAFD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21135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1E5C0-1BD0-BA46-0D74-32B2DA29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67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D616-7A9B-6EE0-ADC1-90DA5D9B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7" y="5030787"/>
            <a:ext cx="11263008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Thank you! Any 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CBCC2-D4CB-62A3-A062-0D9CDA2E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03718" y="6356350"/>
            <a:ext cx="4182035" cy="365125"/>
          </a:xfrm>
        </p:spPr>
        <p:txBody>
          <a:bodyPr/>
          <a:lstStyle/>
          <a:p>
            <a:pPr algn="r"/>
            <a:r>
              <a:rPr lang="en-US" dirty="0"/>
              <a:t>Distributed Quantum Error Mitigation | Maria Gragera Garces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4479B3-B6C6-90AF-3D1C-B21CA226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FD4AD-73D8-FE19-8B11-59D6D84E6080}"/>
              </a:ext>
            </a:extLst>
          </p:cNvPr>
          <p:cNvSpPr txBox="1"/>
          <p:nvPr/>
        </p:nvSpPr>
        <p:spPr>
          <a:xfrm>
            <a:off x="674452" y="695344"/>
            <a:ext cx="112630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3600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sz="3600" b="1" i="1" dirty="0"/>
              <a:t>Global</a:t>
            </a:r>
            <a:r>
              <a:rPr lang="en-US" altLang="en-US" sz="3600" i="1" dirty="0"/>
              <a:t> encodings are more effective, but Local encodings show promise.</a:t>
            </a:r>
            <a:endParaRPr lang="en-US" altLang="en-US" sz="3600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3600" i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600" i="1" dirty="0"/>
              <a:t>The overhead </a:t>
            </a:r>
            <a:r>
              <a:rPr lang="en-US" altLang="en-US" sz="3600" b="1" i="1" dirty="0"/>
              <a:t>cost diminishes </a:t>
            </a:r>
            <a:r>
              <a:rPr lang="en-US" altLang="en-US" sz="3600" i="1" dirty="0"/>
              <a:t>at </a:t>
            </a:r>
            <a:r>
              <a:rPr lang="en-US" altLang="en-US" sz="3600" b="1" i="1" dirty="0"/>
              <a:t>scale</a:t>
            </a:r>
            <a:r>
              <a:rPr lang="en-US" altLang="en-US" sz="3600" i="1" dirty="0"/>
              <a:t>.</a:t>
            </a:r>
            <a:endParaRPr lang="en-US" altLang="en-US" sz="3600" dirty="0"/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3600" i="1" dirty="0"/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600" b="1" i="1" dirty="0"/>
              <a:t>Noise</a:t>
            </a:r>
            <a:r>
              <a:rPr lang="en-US" altLang="en-US" sz="3600" i="1" dirty="0"/>
              <a:t> in DQC does </a:t>
            </a:r>
            <a:r>
              <a:rPr lang="en-US" altLang="en-US" sz="3600" b="1" i="1" dirty="0"/>
              <a:t>not</a:t>
            </a:r>
            <a:r>
              <a:rPr lang="en-US" altLang="en-US" sz="3600" i="1" dirty="0"/>
              <a:t> behave </a:t>
            </a:r>
            <a:r>
              <a:rPr lang="en-US" altLang="en-US" sz="3600" b="1" i="1" dirty="0"/>
              <a:t>monotonically</a:t>
            </a:r>
            <a:r>
              <a:rPr lang="en-US" altLang="en-US" sz="3600" i="1" dirty="0"/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0598DF-2088-03AD-EA53-BA57BA4B6D89}"/>
              </a:ext>
            </a:extLst>
          </p:cNvPr>
          <p:cNvSpPr txBox="1">
            <a:spLocks/>
          </p:cNvSpPr>
          <p:nvPr/>
        </p:nvSpPr>
        <p:spPr>
          <a:xfrm>
            <a:off x="464496" y="136525"/>
            <a:ext cx="112630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46211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4207</TotalTime>
  <Words>1653</Words>
  <Application>Microsoft Macintosh PowerPoint</Application>
  <PresentationFormat>Widescreen</PresentationFormat>
  <Paragraphs>309</Paragraphs>
  <Slides>37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-webkit-standard</vt:lpstr>
      <vt:lpstr>Abadi MT Condensed Light</vt:lpstr>
      <vt:lpstr>ACADEMY ENGRAVED LET PLAIN:1.0</vt:lpstr>
      <vt:lpstr>Aptos</vt:lpstr>
      <vt:lpstr>Aptos Display</vt:lpstr>
      <vt:lpstr>Arial</vt:lpstr>
      <vt:lpstr>Avenir Next Condensed</vt:lpstr>
      <vt:lpstr>Cambria Math</vt:lpstr>
      <vt:lpstr>Office Theme</vt:lpstr>
      <vt:lpstr>Distributed Quantum Error Mitigation Global and Local ZNE encodings</vt:lpstr>
      <vt:lpstr>Context</vt:lpstr>
      <vt:lpstr>Distributed Quantum Computing (DQC)</vt:lpstr>
      <vt:lpstr>The noise problem</vt:lpstr>
      <vt:lpstr>DQC &amp; Noise: A Gap in the Literature</vt:lpstr>
      <vt:lpstr>DQC &amp; Noise: A Gap in the Literature</vt:lpstr>
      <vt:lpstr>DQC &amp; Noise: A Gap in the Literature</vt:lpstr>
      <vt:lpstr>DQC &amp; Noise: A Gap in the Literature</vt:lpstr>
      <vt:lpstr>Distributed Quantum Error Mitigation Global and Local ZNE encodings</vt:lpstr>
      <vt:lpstr>There is an alternative: Error mitigation</vt:lpstr>
      <vt:lpstr>Zero Noise Extrapolation (ZNE) </vt:lpstr>
      <vt:lpstr>Global vs Local encodings: a wider question</vt:lpstr>
      <vt:lpstr>The experiment</vt:lpstr>
      <vt:lpstr>Experimental setup</vt:lpstr>
      <vt:lpstr>Experimental setup</vt:lpstr>
      <vt:lpstr>Experimental setup</vt:lpstr>
      <vt:lpstr>Experimental setup</vt:lpstr>
      <vt:lpstr>How we tested it</vt:lpstr>
      <vt:lpstr>Evaluation metrics</vt:lpstr>
      <vt:lpstr>Evaluation metrics</vt:lpstr>
      <vt:lpstr>Evaluation metrics</vt:lpstr>
      <vt:lpstr>Performed partitioning</vt:lpstr>
      <vt:lpstr>Findings</vt:lpstr>
      <vt:lpstr>Global ZNE is the more effective and scalable strategy.</vt:lpstr>
      <vt:lpstr>Global ZNE's performance advantage comes at a significant computational cost.</vt:lpstr>
      <vt:lpstr>More QPUs can improve (not harm) mitigation effectiveness.</vt:lpstr>
      <vt:lpstr>Global ZNE offers higher reward  but less predictable behaviour;  Local ZNE is “safer” but offers more modest gains.</vt:lpstr>
      <vt:lpstr>Limitations</vt:lpstr>
      <vt:lpstr>Limitations of results and research</vt:lpstr>
      <vt:lpstr>Limitations of results and research</vt:lpstr>
      <vt:lpstr>Limitations of results and research</vt:lpstr>
      <vt:lpstr>Limitations of results and research</vt:lpstr>
      <vt:lpstr>Conclusions</vt:lpstr>
      <vt:lpstr>Global vs Local for Distributed ZNE</vt:lpstr>
      <vt:lpstr>The Overhead-Resilience Trade-off</vt:lpstr>
      <vt:lpstr>Challenging the expected noise hierarchy</vt:lpstr>
      <vt:lpstr>Thank you!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Gragera Garcés</dc:creator>
  <cp:lastModifiedBy>María Gragera Garcés</cp:lastModifiedBy>
  <cp:revision>19</cp:revision>
  <dcterms:created xsi:type="dcterms:W3CDTF">2026-04-17T09:51:40Z</dcterms:created>
  <dcterms:modified xsi:type="dcterms:W3CDTF">2026-06-25T09:45:00Z</dcterms:modified>
</cp:coreProperties>
</file>