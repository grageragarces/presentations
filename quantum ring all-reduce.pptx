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6" r:id="rId2"/>
    <p:sldId id="267" r:id="rId3"/>
    <p:sldId id="257" r:id="rId4"/>
    <p:sldId id="269" r:id="rId5"/>
    <p:sldId id="268" r:id="rId6"/>
    <p:sldId id="272" r:id="rId7"/>
    <p:sldId id="273" r:id="rId8"/>
    <p:sldId id="274" r:id="rId9"/>
    <p:sldId id="275" r:id="rId10"/>
    <p:sldId id="276" r:id="rId11"/>
    <p:sldId id="277" r:id="rId12"/>
    <p:sldId id="278" r:id="rId13"/>
    <p:sldId id="279" r:id="rId14"/>
    <p:sldId id="282" r:id="rId15"/>
    <p:sldId id="280" r:id="rId16"/>
    <p:sldId id="281" r:id="rId17"/>
    <p:sldId id="283" r:id="rId18"/>
    <p:sldId id="258" r:id="rId19"/>
    <p:sldId id="259" r:id="rId20"/>
    <p:sldId id="287" r:id="rId21"/>
    <p:sldId id="289" r:id="rId22"/>
    <p:sldId id="291" r:id="rId23"/>
    <p:sldId id="293" r:id="rId24"/>
    <p:sldId id="294" r:id="rId25"/>
    <p:sldId id="295" r:id="rId26"/>
    <p:sldId id="296" r:id="rId27"/>
    <p:sldId id="297" r:id="rId28"/>
    <p:sldId id="298" r:id="rId29"/>
    <p:sldId id="284" r:id="rId30"/>
    <p:sldId id="299" r:id="rId31"/>
    <p:sldId id="263" r:id="rId32"/>
    <p:sldId id="301" r:id="rId33"/>
    <p:sldId id="303" r:id="rId34"/>
    <p:sldId id="304" r:id="rId35"/>
    <p:sldId id="307" r:id="rId36"/>
    <p:sldId id="300" r:id="rId37"/>
    <p:sldId id="308" r:id="rId38"/>
    <p:sldId id="315" r:id="rId39"/>
    <p:sldId id="317" r:id="rId40"/>
    <p:sldId id="318" r:id="rId41"/>
    <p:sldId id="316" r:id="rId42"/>
    <p:sldId id="311" r:id="rId43"/>
    <p:sldId id="309" r:id="rId44"/>
    <p:sldId id="310" r:id="rId45"/>
    <p:sldId id="312" r:id="rId46"/>
    <p:sldId id="319" r:id="rId47"/>
    <p:sldId id="320" r:id="rId48"/>
    <p:sldId id="314" r:id="rId49"/>
    <p:sldId id="321" r:id="rId50"/>
    <p:sldId id="323" r:id="rId51"/>
    <p:sldId id="324" r:id="rId52"/>
    <p:sldId id="325" r:id="rId53"/>
    <p:sldId id="328" r:id="rId54"/>
    <p:sldId id="329" r:id="rId55"/>
    <p:sldId id="330" r:id="rId56"/>
    <p:sldId id="331" r:id="rId57"/>
    <p:sldId id="327" r:id="rId58"/>
    <p:sldId id="265" r:id="rId59"/>
    <p:sldId id="266" r:id="rId60"/>
    <p:sldId id="271" r:id="rId61"/>
    <p:sldId id="302" r:id="rId62"/>
    <p:sldId id="332"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E5F5"/>
    <a:srgbClr val="B1470E"/>
    <a:srgbClr val="E75C10"/>
    <a:srgbClr val="D35524"/>
    <a:srgbClr val="F44235"/>
    <a:srgbClr val="FF0000"/>
    <a:srgbClr val="FFFF00"/>
    <a:srgbClr val="6DB2D2"/>
    <a:srgbClr val="0095D4"/>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86390"/>
  </p:normalViewPr>
  <p:slideViewPr>
    <p:cSldViewPr snapToGrid="0">
      <p:cViewPr varScale="1">
        <p:scale>
          <a:sx n="100" d="100"/>
          <a:sy n="100" d="100"/>
        </p:scale>
        <p:origin x="168" y="2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C59B14-9716-5B45-A910-01F02795D297}" type="datetimeFigureOut">
              <a:rPr lang="en-US" smtClean="0"/>
              <a:t>6/24/26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5A482F-D220-C445-8DBF-483DC8F1ADF6}" type="slidenum">
              <a:rPr lang="en-US" smtClean="0"/>
              <a:t>‹#›</a:t>
            </a:fld>
            <a:endParaRPr lang="en-US"/>
          </a:p>
        </p:txBody>
      </p:sp>
    </p:spTree>
    <p:extLst>
      <p:ext uri="{BB962C8B-B14F-4D97-AF65-F5344CB8AC3E}">
        <p14:creationId xmlns:p14="http://schemas.microsoft.com/office/powerpoint/2010/main" val="4068970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5A482F-D220-C445-8DBF-483DC8F1ADF6}" type="slidenum">
              <a:rPr lang="en-US" smtClean="0"/>
              <a:t>27</a:t>
            </a:fld>
            <a:endParaRPr lang="en-US"/>
          </a:p>
        </p:txBody>
      </p:sp>
    </p:spTree>
    <p:extLst>
      <p:ext uri="{BB962C8B-B14F-4D97-AF65-F5344CB8AC3E}">
        <p14:creationId xmlns:p14="http://schemas.microsoft.com/office/powerpoint/2010/main" val="237602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B4207-ECF1-FC37-19A2-56BAA9DA0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1A7F8-9A96-9ED1-C122-422EDF166D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A0406-1C17-5055-DE9F-A9215B3A5D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B68F98-FCA6-DB19-433C-E60077677D50}"/>
              </a:ext>
            </a:extLst>
          </p:cNvPr>
          <p:cNvSpPr>
            <a:spLocks noGrp="1"/>
          </p:cNvSpPr>
          <p:nvPr>
            <p:ph type="sldNum" sz="quarter" idx="5"/>
          </p:nvPr>
        </p:nvSpPr>
        <p:spPr/>
        <p:txBody>
          <a:bodyPr/>
          <a:lstStyle/>
          <a:p>
            <a:fld id="{6C5A482F-D220-C445-8DBF-483DC8F1ADF6}" type="slidenum">
              <a:rPr lang="en-US" smtClean="0"/>
              <a:t>28</a:t>
            </a:fld>
            <a:endParaRPr lang="en-US"/>
          </a:p>
        </p:txBody>
      </p:sp>
    </p:spTree>
    <p:extLst>
      <p:ext uri="{BB962C8B-B14F-4D97-AF65-F5344CB8AC3E}">
        <p14:creationId xmlns:p14="http://schemas.microsoft.com/office/powerpoint/2010/main" val="2014655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these complexities correct? Do they show the amount of info we are sending?</a:t>
            </a:r>
          </a:p>
          <a:p>
            <a:r>
              <a:rPr lang="en-US" dirty="0"/>
              <a:t>Is quantum always worse in terms of time because of the rounds or could it be better because of the amount of info needing to be sent one way being stupid big compared to the two way?</a:t>
            </a:r>
          </a:p>
        </p:txBody>
      </p:sp>
      <p:sp>
        <p:nvSpPr>
          <p:cNvPr id="4" name="Slide Number Placeholder 3"/>
          <p:cNvSpPr>
            <a:spLocks noGrp="1"/>
          </p:cNvSpPr>
          <p:nvPr>
            <p:ph type="sldNum" sz="quarter" idx="5"/>
          </p:nvPr>
        </p:nvSpPr>
        <p:spPr/>
        <p:txBody>
          <a:bodyPr/>
          <a:lstStyle/>
          <a:p>
            <a:fld id="{6C5A482F-D220-C445-8DBF-483DC8F1ADF6}" type="slidenum">
              <a:rPr lang="en-US" smtClean="0"/>
              <a:t>47</a:t>
            </a:fld>
            <a:endParaRPr lang="en-US"/>
          </a:p>
        </p:txBody>
      </p:sp>
    </p:spTree>
    <p:extLst>
      <p:ext uri="{BB962C8B-B14F-4D97-AF65-F5344CB8AC3E}">
        <p14:creationId xmlns:p14="http://schemas.microsoft.com/office/powerpoint/2010/main" val="1383268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server sends a compressed update — just the </a:t>
            </a:r>
            <a:r>
              <a:rPr lang="en-GB" sz="1200" b="1" i="0" kern="1200" dirty="0">
                <a:solidFill>
                  <a:schemeClr val="tx1"/>
                </a:solidFill>
                <a:effectLst/>
                <a:latin typeface="+mn-lt"/>
                <a:ea typeface="+mn-ea"/>
                <a:cs typeface="+mn-cs"/>
              </a:rPr>
              <a:t>sign</a:t>
            </a:r>
            <a:r>
              <a:rPr lang="en-GB" sz="1200" b="0" i="0" kern="1200" dirty="0">
                <a:solidFill>
                  <a:schemeClr val="tx1"/>
                </a:solidFill>
                <a:effectLst/>
                <a:latin typeface="+mn-lt"/>
                <a:ea typeface="+mn-ea"/>
                <a:cs typeface="+mn-cs"/>
              </a:rPr>
              <a:t> of each parameter (up or down). The client knows which parameters its model ties together, and wants to check: does the update push tied pairs the </a:t>
            </a:r>
            <a:r>
              <a:rPr lang="en-GB" sz="1200" b="0" i="1" kern="1200" dirty="0">
                <a:solidFill>
                  <a:schemeClr val="tx1"/>
                </a:solidFill>
                <a:effectLst/>
                <a:latin typeface="+mn-lt"/>
                <a:ea typeface="+mn-ea"/>
                <a:cs typeface="+mn-cs"/>
              </a:rPr>
              <a:t>same</a:t>
            </a:r>
            <a:r>
              <a:rPr lang="en-GB" sz="1200" b="0" i="0" kern="1200" dirty="0">
                <a:solidFill>
                  <a:schemeClr val="tx1"/>
                </a:solidFill>
                <a:effectLst/>
                <a:latin typeface="+mn-lt"/>
                <a:ea typeface="+mn-ea"/>
                <a:cs typeface="+mn-cs"/>
              </a:rPr>
              <a:t> way, or pull them apart?</a:t>
            </a:r>
          </a:p>
          <a:p>
            <a:r>
              <a:rPr lang="en-GB" sz="1200" b="1" i="0" kern="1200" dirty="0">
                <a:solidFill>
                  <a:schemeClr val="tx1"/>
                </a:solidFill>
                <a:effectLst/>
                <a:latin typeface="+mn-lt"/>
                <a:ea typeface="+mn-ea"/>
                <a:cs typeface="+mn-cs"/>
              </a:rPr>
              <a:t>Classically</a:t>
            </a:r>
            <a:r>
              <a:rPr lang="en-GB" sz="1200" b="0" i="0" kern="1200" dirty="0">
                <a:solidFill>
                  <a:schemeClr val="tx1"/>
                </a:solidFill>
                <a:effectLst/>
                <a:latin typeface="+mn-lt"/>
                <a:ea typeface="+mn-ea"/>
                <a:cs typeface="+mn-cs"/>
              </a:rPr>
              <a:t>, the server's message is fixed before it knows which pairs the client will ask about — and with ~P² possible pairs, no summary shorter than </a:t>
            </a:r>
            <a:r>
              <a:rPr lang="en-GB" sz="1200" b="1" i="0" kern="1200" dirty="0">
                <a:solidFill>
                  <a:schemeClr val="tx1"/>
                </a:solidFill>
                <a:effectLst/>
                <a:latin typeface="+mn-lt"/>
                <a:ea typeface="+mn-ea"/>
                <a:cs typeface="+mn-cs"/>
              </a:rPr>
              <a:t>√P</a:t>
            </a:r>
            <a:r>
              <a:rPr lang="en-GB" sz="1200" b="0" i="0" kern="1200" dirty="0">
                <a:solidFill>
                  <a:schemeClr val="tx1"/>
                </a:solidFill>
                <a:effectLst/>
                <a:latin typeface="+mn-lt"/>
                <a:ea typeface="+mn-ea"/>
                <a:cs typeface="+mn-cs"/>
              </a:rPr>
              <a:t> can answer for whatever pairing the client holds. (That's the Boolean Hidden Matching bound.)</a:t>
            </a:r>
          </a:p>
          <a:p>
            <a:r>
              <a:rPr lang="en-GB" sz="1200" b="1" i="0" kern="1200" dirty="0">
                <a:solidFill>
                  <a:schemeClr val="tx1"/>
                </a:solidFill>
                <a:effectLst/>
                <a:latin typeface="+mn-lt"/>
                <a:ea typeface="+mn-ea"/>
                <a:cs typeface="+mn-cs"/>
              </a:rPr>
              <a:t>Quantum:</a:t>
            </a:r>
            <a:r>
              <a:rPr lang="en-GB" sz="1200" b="0" i="0" kern="1200" dirty="0">
                <a:solidFill>
                  <a:schemeClr val="tx1"/>
                </a:solidFill>
                <a:effectLst/>
                <a:latin typeface="+mn-lt"/>
                <a:ea typeface="+mn-ea"/>
                <a:cs typeface="+mn-cs"/>
              </a:rPr>
              <a:t> the server packs </a:t>
            </a:r>
            <a:r>
              <a:rPr lang="en-GB" sz="1200" b="1" i="0" kern="1200" dirty="0">
                <a:solidFill>
                  <a:schemeClr val="tx1"/>
                </a:solidFill>
                <a:effectLst/>
                <a:latin typeface="+mn-lt"/>
                <a:ea typeface="+mn-ea"/>
                <a:cs typeface="+mn-cs"/>
              </a:rPr>
              <a:t>all P signs into one tiny state</a:t>
            </a:r>
            <a:r>
              <a:rPr lang="en-GB" sz="1200" b="0" i="0" kern="1200" dirty="0">
                <a:solidFill>
                  <a:schemeClr val="tx1"/>
                </a:solidFill>
                <a:effectLst/>
                <a:latin typeface="+mn-lt"/>
                <a:ea typeface="+mn-ea"/>
                <a:cs typeface="+mn-cs"/>
              </a:rPr>
              <a:t> (log P qubits). The client measures it </a:t>
            </a:r>
            <a:r>
              <a:rPr lang="en-GB" sz="1200" b="1" i="0" kern="1200" dirty="0">
                <a:solidFill>
                  <a:schemeClr val="tx1"/>
                </a:solidFill>
                <a:effectLst/>
                <a:latin typeface="+mn-lt"/>
                <a:ea typeface="+mn-ea"/>
                <a:cs typeface="+mn-cs"/>
              </a:rPr>
              <a:t>in the basis of its own tied pairs</a:t>
            </a:r>
            <a:r>
              <a:rPr lang="en-GB" sz="1200" b="0" i="0" kern="1200" dirty="0">
                <a:solidFill>
                  <a:schemeClr val="tx1"/>
                </a:solidFill>
                <a:effectLst/>
                <a:latin typeface="+mn-lt"/>
                <a:ea typeface="+mn-ea"/>
                <a:cs typeface="+mn-cs"/>
              </a:rPr>
              <a:t> — and each measurement lands on one random pair and reveals whether it agrees or disagrees, </a:t>
            </a:r>
            <a:r>
              <a:rPr lang="en-GB" sz="1200" b="0" i="1" kern="1200" dirty="0">
                <a:solidFill>
                  <a:schemeClr val="tx1"/>
                </a:solidFill>
                <a:effectLst/>
                <a:latin typeface="+mn-lt"/>
                <a:ea typeface="+mn-ea"/>
                <a:cs typeface="+mn-cs"/>
              </a:rPr>
              <a:t>exactly</a:t>
            </a:r>
            <a:r>
              <a:rPr lang="en-GB" sz="1200" b="0" i="0" kern="1200" dirty="0">
                <a:solidFill>
                  <a:schemeClr val="tx1"/>
                </a:solidFill>
                <a:effectLst/>
                <a:latin typeface="+mn-lt"/>
                <a:ea typeface="+mn-ea"/>
                <a:cs typeface="+mn-cs"/>
              </a:rPr>
              <a:t>. The client's choice of measurement is the question; the server never had to anticipate it.</a:t>
            </a:r>
          </a:p>
          <a:p>
            <a:endParaRPr lang="en-US" dirty="0"/>
          </a:p>
        </p:txBody>
      </p:sp>
      <p:sp>
        <p:nvSpPr>
          <p:cNvPr id="4" name="Slide Number Placeholder 3"/>
          <p:cNvSpPr>
            <a:spLocks noGrp="1"/>
          </p:cNvSpPr>
          <p:nvPr>
            <p:ph type="sldNum" sz="quarter" idx="5"/>
          </p:nvPr>
        </p:nvSpPr>
        <p:spPr/>
        <p:txBody>
          <a:bodyPr/>
          <a:lstStyle/>
          <a:p>
            <a:fld id="{6C5A482F-D220-C445-8DBF-483DC8F1ADF6}" type="slidenum">
              <a:rPr lang="en-US" smtClean="0"/>
              <a:t>53</a:t>
            </a:fld>
            <a:endParaRPr lang="en-US"/>
          </a:p>
        </p:txBody>
      </p:sp>
    </p:spTree>
    <p:extLst>
      <p:ext uri="{BB962C8B-B14F-4D97-AF65-F5344CB8AC3E}">
        <p14:creationId xmlns:p14="http://schemas.microsoft.com/office/powerpoint/2010/main" val="628363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server sends the </a:t>
            </a:r>
            <a:r>
              <a:rPr lang="en-GB" b="1" dirty="0"/>
              <a:t>phase state</a:t>
            </a:r>
            <a:r>
              <a:rPr lang="en-GB" dirty="0"/>
              <a:t> |s⟩ = (1/√P)·</a:t>
            </a:r>
            <a:r>
              <a:rPr lang="en-GB" dirty="0" err="1"/>
              <a:t>Σ</a:t>
            </a:r>
            <a:r>
              <a:rPr lang="en-GB" dirty="0"/>
              <a:t> sᶜ|c⟩ — a single ⌈</a:t>
            </a:r>
            <a:r>
              <a:rPr lang="en-GB" dirty="0" err="1"/>
              <a:t>log₂P</a:t>
            </a:r>
            <a:r>
              <a:rPr lang="en-GB" dirty="0"/>
              <a:t>⌉-qubit register that carries </a:t>
            </a:r>
            <a:r>
              <a:rPr lang="en-GB" i="1" dirty="0"/>
              <a:t>all P sign bits at </a:t>
            </a:r>
            <a:r>
              <a:rPr lang="en-GB" i="1" dirty="0" err="1"/>
              <a:t>once</a:t>
            </a:r>
            <a:r>
              <a:rPr lang="en-GB" dirty="0" err="1"/>
              <a:t>in</a:t>
            </a:r>
            <a:r>
              <a:rPr lang="en-GB" dirty="0"/>
              <a:t> its amplitudes. </a:t>
            </a:r>
          </a:p>
          <a:p>
            <a:endParaRPr lang="en-GB" dirty="0"/>
          </a:p>
          <a:p>
            <a:r>
              <a:rPr lang="en-GB" dirty="0"/>
              <a:t>The client measures each copy in the basis matched to its </a:t>
            </a:r>
            <a:r>
              <a:rPr lang="en-GB" i="1" dirty="0"/>
              <a:t>own</a:t>
            </a:r>
            <a:r>
              <a:rPr lang="en-GB" dirty="0"/>
              <a:t> tied pairs: {(|</a:t>
            </a:r>
            <a:r>
              <a:rPr lang="en-GB" dirty="0" err="1"/>
              <a:t>i</a:t>
            </a:r>
            <a:r>
              <a:rPr lang="en-GB" dirty="0"/>
              <a:t>⟩+|j⟩)/√2, (|</a:t>
            </a:r>
            <a:r>
              <a:rPr lang="en-GB" dirty="0" err="1"/>
              <a:t>i</a:t>
            </a:r>
            <a:r>
              <a:rPr lang="en-GB" dirty="0"/>
              <a:t>⟩−|j⟩)/√2}. </a:t>
            </a:r>
          </a:p>
          <a:p>
            <a:r>
              <a:rPr lang="en-GB" dirty="0"/>
              <a:t>The magic is that the measurement collapses onto a random tied pair (</a:t>
            </a:r>
            <a:r>
              <a:rPr lang="en-GB" dirty="0" err="1"/>
              <a:t>i,j</a:t>
            </a:r>
            <a:r>
              <a:rPr lang="en-GB" dirty="0"/>
              <a:t>) and reads its parity </a:t>
            </a:r>
            <a:r>
              <a:rPr lang="en-GB" b="1" dirty="0"/>
              <a:t>with zero error</a:t>
            </a:r>
            <a:r>
              <a:rPr lang="en-GB" dirty="0"/>
              <a:t> — if sᵢ≠sⱼ the "agree" amplitude is </a:t>
            </a:r>
            <a:r>
              <a:rPr lang="en-GB" i="1" dirty="0"/>
              <a:t>exactly zero</a:t>
            </a:r>
            <a:r>
              <a:rPr lang="en-GB" dirty="0"/>
              <a:t>, because sᵢ|</a:t>
            </a:r>
            <a:r>
              <a:rPr lang="en-GB" dirty="0" err="1"/>
              <a:t>i</a:t>
            </a:r>
            <a:r>
              <a:rPr lang="en-GB" dirty="0"/>
              <a:t>⟩+sⱼ|j⟩ is orthogonal to |</a:t>
            </a:r>
            <a:r>
              <a:rPr lang="en-GB" dirty="0" err="1"/>
              <a:t>i</a:t>
            </a:r>
            <a:r>
              <a:rPr lang="en-GB" dirty="0"/>
              <a:t>⟩+|j⟩. </a:t>
            </a:r>
          </a:p>
          <a:p>
            <a:endParaRPr lang="en-GB" dirty="0"/>
          </a:p>
          <a:p>
            <a:r>
              <a:rPr lang="en-GB" dirty="0"/>
              <a:t>So one copy = one tied pair's verdict; averaging O(ε⁻²) copies gives the conflict fraction to ±</a:t>
            </a:r>
            <a:r>
              <a:rPr lang="en-GB" dirty="0" err="1"/>
              <a:t>ε</a:t>
            </a:r>
            <a:r>
              <a:rPr lang="en-GB" dirty="0"/>
              <a:t>. The client's </a:t>
            </a:r>
            <a:r>
              <a:rPr lang="en-GB" i="1" dirty="0"/>
              <a:t>choice of measurement basis</a:t>
            </a:r>
            <a:r>
              <a:rPr lang="en-GB" dirty="0"/>
              <a:t> is what extracts the relevant pair — no need to anticipate it at encoding time, which is exactly what classical can't do.</a:t>
            </a:r>
            <a:endParaRPr lang="en-US" dirty="0"/>
          </a:p>
          <a:p>
            <a:endParaRPr lang="en-US" dirty="0"/>
          </a:p>
        </p:txBody>
      </p:sp>
      <p:sp>
        <p:nvSpPr>
          <p:cNvPr id="4" name="Slide Number Placeholder 3"/>
          <p:cNvSpPr>
            <a:spLocks noGrp="1"/>
          </p:cNvSpPr>
          <p:nvPr>
            <p:ph type="sldNum" sz="quarter" idx="5"/>
          </p:nvPr>
        </p:nvSpPr>
        <p:spPr/>
        <p:txBody>
          <a:bodyPr/>
          <a:lstStyle/>
          <a:p>
            <a:fld id="{6C5A482F-D220-C445-8DBF-483DC8F1ADF6}" type="slidenum">
              <a:rPr lang="en-US" smtClean="0"/>
              <a:t>54</a:t>
            </a:fld>
            <a:endParaRPr lang="en-US"/>
          </a:p>
        </p:txBody>
      </p:sp>
    </p:spTree>
    <p:extLst>
      <p:ext uri="{BB962C8B-B14F-4D97-AF65-F5344CB8AC3E}">
        <p14:creationId xmlns:p14="http://schemas.microsoft.com/office/powerpoint/2010/main" val="3557156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CCF42-44EC-6B1A-94B6-1F13B3679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7C5DE-F890-B7BC-4EA2-6FC97C9DE6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602BB7-D91B-6CA8-9AE6-E099312645EB}"/>
              </a:ext>
            </a:extLst>
          </p:cNvPr>
          <p:cNvSpPr>
            <a:spLocks noGrp="1"/>
          </p:cNvSpPr>
          <p:nvPr>
            <p:ph type="body" idx="1"/>
          </p:nvPr>
        </p:nvSpPr>
        <p:spPr/>
        <p:txBody>
          <a:bodyPr/>
          <a:lstStyle/>
          <a:p>
            <a:r>
              <a:rPr lang="en-GB" dirty="0"/>
              <a:t>The server sends the </a:t>
            </a:r>
            <a:r>
              <a:rPr lang="en-GB" b="1" dirty="0"/>
              <a:t>phase state</a:t>
            </a:r>
            <a:r>
              <a:rPr lang="en-GB" dirty="0"/>
              <a:t> |s⟩ = (1/√P)·</a:t>
            </a:r>
            <a:r>
              <a:rPr lang="en-GB" dirty="0" err="1"/>
              <a:t>Σ</a:t>
            </a:r>
            <a:r>
              <a:rPr lang="en-GB" dirty="0"/>
              <a:t> sᶜ|c⟩ — a single ⌈</a:t>
            </a:r>
            <a:r>
              <a:rPr lang="en-GB" dirty="0" err="1"/>
              <a:t>log₂P</a:t>
            </a:r>
            <a:r>
              <a:rPr lang="en-GB" dirty="0"/>
              <a:t>⌉-qubit register that carries </a:t>
            </a:r>
            <a:r>
              <a:rPr lang="en-GB" i="1" dirty="0"/>
              <a:t>all P sign bits at </a:t>
            </a:r>
            <a:r>
              <a:rPr lang="en-GB" i="1" dirty="0" err="1"/>
              <a:t>once</a:t>
            </a:r>
            <a:r>
              <a:rPr lang="en-GB" dirty="0" err="1"/>
              <a:t>in</a:t>
            </a:r>
            <a:r>
              <a:rPr lang="en-GB" dirty="0"/>
              <a:t> its amplitudes. </a:t>
            </a:r>
          </a:p>
          <a:p>
            <a:endParaRPr lang="en-GB" dirty="0"/>
          </a:p>
          <a:p>
            <a:r>
              <a:rPr lang="en-GB" dirty="0"/>
              <a:t>The client measures each copy in the basis matched to its </a:t>
            </a:r>
            <a:r>
              <a:rPr lang="en-GB" i="1" dirty="0"/>
              <a:t>own</a:t>
            </a:r>
            <a:r>
              <a:rPr lang="en-GB" dirty="0"/>
              <a:t> tied pairs: {(|</a:t>
            </a:r>
            <a:r>
              <a:rPr lang="en-GB" dirty="0" err="1"/>
              <a:t>i</a:t>
            </a:r>
            <a:r>
              <a:rPr lang="en-GB" dirty="0"/>
              <a:t>⟩+|j⟩)/√2, (|</a:t>
            </a:r>
            <a:r>
              <a:rPr lang="en-GB" dirty="0" err="1"/>
              <a:t>i</a:t>
            </a:r>
            <a:r>
              <a:rPr lang="en-GB" dirty="0"/>
              <a:t>⟩−|j⟩)/√2}. </a:t>
            </a:r>
          </a:p>
          <a:p>
            <a:r>
              <a:rPr lang="en-GB" dirty="0"/>
              <a:t>The magic is that the measurement collapses onto a random tied pair (</a:t>
            </a:r>
            <a:r>
              <a:rPr lang="en-GB" dirty="0" err="1"/>
              <a:t>i,j</a:t>
            </a:r>
            <a:r>
              <a:rPr lang="en-GB" dirty="0"/>
              <a:t>) and reads its parity </a:t>
            </a:r>
            <a:r>
              <a:rPr lang="en-GB" b="1" dirty="0"/>
              <a:t>with zero error</a:t>
            </a:r>
            <a:r>
              <a:rPr lang="en-GB" dirty="0"/>
              <a:t> — if sᵢ≠sⱼ the "agree" amplitude is </a:t>
            </a:r>
            <a:r>
              <a:rPr lang="en-GB" i="1" dirty="0"/>
              <a:t>exactly zero</a:t>
            </a:r>
            <a:r>
              <a:rPr lang="en-GB" dirty="0"/>
              <a:t>, because sᵢ|</a:t>
            </a:r>
            <a:r>
              <a:rPr lang="en-GB" dirty="0" err="1"/>
              <a:t>i</a:t>
            </a:r>
            <a:r>
              <a:rPr lang="en-GB" dirty="0"/>
              <a:t>⟩+sⱼ|j⟩ is orthogonal to |</a:t>
            </a:r>
            <a:r>
              <a:rPr lang="en-GB" dirty="0" err="1"/>
              <a:t>i</a:t>
            </a:r>
            <a:r>
              <a:rPr lang="en-GB" dirty="0"/>
              <a:t>⟩+|j⟩. </a:t>
            </a:r>
          </a:p>
          <a:p>
            <a:endParaRPr lang="en-GB" dirty="0"/>
          </a:p>
          <a:p>
            <a:r>
              <a:rPr lang="en-GB" dirty="0"/>
              <a:t>So one copy = one tied pair's verdict; averaging O(ε⁻²) copies gives the conflict fraction to ±</a:t>
            </a:r>
            <a:r>
              <a:rPr lang="en-GB" dirty="0" err="1"/>
              <a:t>ε</a:t>
            </a:r>
            <a:r>
              <a:rPr lang="en-GB" dirty="0"/>
              <a:t>. The client's </a:t>
            </a:r>
            <a:r>
              <a:rPr lang="en-GB" i="1" dirty="0"/>
              <a:t>choice of measurement basis</a:t>
            </a:r>
            <a:r>
              <a:rPr lang="en-GB" dirty="0"/>
              <a:t> is what extracts the relevant pair — no need to anticipate it at encoding time, which is exactly what classical can't do.</a:t>
            </a:r>
            <a:endParaRPr lang="en-US" dirty="0"/>
          </a:p>
          <a:p>
            <a:endParaRPr lang="en-US" dirty="0"/>
          </a:p>
        </p:txBody>
      </p:sp>
      <p:sp>
        <p:nvSpPr>
          <p:cNvPr id="4" name="Slide Number Placeholder 3">
            <a:extLst>
              <a:ext uri="{FF2B5EF4-FFF2-40B4-BE49-F238E27FC236}">
                <a16:creationId xmlns:a16="http://schemas.microsoft.com/office/drawing/2014/main" id="{5B14C734-5D9F-E0F8-1BE5-C3199A5F4E91}"/>
              </a:ext>
            </a:extLst>
          </p:cNvPr>
          <p:cNvSpPr>
            <a:spLocks noGrp="1"/>
          </p:cNvSpPr>
          <p:nvPr>
            <p:ph type="sldNum" sz="quarter" idx="5"/>
          </p:nvPr>
        </p:nvSpPr>
        <p:spPr/>
        <p:txBody>
          <a:bodyPr/>
          <a:lstStyle/>
          <a:p>
            <a:fld id="{6C5A482F-D220-C445-8DBF-483DC8F1ADF6}" type="slidenum">
              <a:rPr lang="en-US" smtClean="0"/>
              <a:t>55</a:t>
            </a:fld>
            <a:endParaRPr lang="en-US"/>
          </a:p>
        </p:txBody>
      </p:sp>
    </p:spTree>
    <p:extLst>
      <p:ext uri="{BB962C8B-B14F-4D97-AF65-F5344CB8AC3E}">
        <p14:creationId xmlns:p14="http://schemas.microsoft.com/office/powerpoint/2010/main" val="1221166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1624F-1802-E9DF-4C0B-5B0591756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3847E-310E-8457-E0AF-14A02DABB1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7EFDDB-6EEF-D93F-7813-AB5692BEB1B6}"/>
              </a:ext>
            </a:extLst>
          </p:cNvPr>
          <p:cNvSpPr>
            <a:spLocks noGrp="1"/>
          </p:cNvSpPr>
          <p:nvPr>
            <p:ph type="body" idx="1"/>
          </p:nvPr>
        </p:nvSpPr>
        <p:spPr/>
        <p:txBody>
          <a:bodyPr/>
          <a:lstStyle/>
          <a:p>
            <a:r>
              <a:rPr lang="en-GB" dirty="0"/>
              <a:t>The server sends the </a:t>
            </a:r>
            <a:r>
              <a:rPr lang="en-GB" b="1" dirty="0"/>
              <a:t>phase state</a:t>
            </a:r>
            <a:r>
              <a:rPr lang="en-GB" dirty="0"/>
              <a:t> |s⟩ = (1/√P)·</a:t>
            </a:r>
            <a:r>
              <a:rPr lang="en-GB" dirty="0" err="1"/>
              <a:t>Σ</a:t>
            </a:r>
            <a:r>
              <a:rPr lang="en-GB" dirty="0"/>
              <a:t> sᶜ|c⟩ — a single ⌈</a:t>
            </a:r>
            <a:r>
              <a:rPr lang="en-GB" dirty="0" err="1"/>
              <a:t>log₂P</a:t>
            </a:r>
            <a:r>
              <a:rPr lang="en-GB" dirty="0"/>
              <a:t>⌉-qubit register that carries </a:t>
            </a:r>
            <a:r>
              <a:rPr lang="en-GB" i="1" dirty="0"/>
              <a:t>all P sign bits at </a:t>
            </a:r>
            <a:r>
              <a:rPr lang="en-GB" i="1" dirty="0" err="1"/>
              <a:t>once</a:t>
            </a:r>
            <a:r>
              <a:rPr lang="en-GB" dirty="0" err="1"/>
              <a:t>in</a:t>
            </a:r>
            <a:r>
              <a:rPr lang="en-GB" dirty="0"/>
              <a:t> its amplitudes. </a:t>
            </a:r>
          </a:p>
          <a:p>
            <a:endParaRPr lang="en-GB" dirty="0"/>
          </a:p>
          <a:p>
            <a:r>
              <a:rPr lang="en-GB" dirty="0"/>
              <a:t>The client measures each copy in the basis matched to its </a:t>
            </a:r>
            <a:r>
              <a:rPr lang="en-GB" i="1" dirty="0"/>
              <a:t>own</a:t>
            </a:r>
            <a:r>
              <a:rPr lang="en-GB" dirty="0"/>
              <a:t> tied pairs: {(|</a:t>
            </a:r>
            <a:r>
              <a:rPr lang="en-GB" dirty="0" err="1"/>
              <a:t>i</a:t>
            </a:r>
            <a:r>
              <a:rPr lang="en-GB" dirty="0"/>
              <a:t>⟩+|j⟩)/√2, (|</a:t>
            </a:r>
            <a:r>
              <a:rPr lang="en-GB" dirty="0" err="1"/>
              <a:t>i</a:t>
            </a:r>
            <a:r>
              <a:rPr lang="en-GB" dirty="0"/>
              <a:t>⟩−|j⟩)/√2}. </a:t>
            </a:r>
          </a:p>
          <a:p>
            <a:r>
              <a:rPr lang="en-GB" dirty="0"/>
              <a:t>The magic is that the measurement collapses onto a random tied pair (</a:t>
            </a:r>
            <a:r>
              <a:rPr lang="en-GB" dirty="0" err="1"/>
              <a:t>i,j</a:t>
            </a:r>
            <a:r>
              <a:rPr lang="en-GB" dirty="0"/>
              <a:t>) and reads its parity </a:t>
            </a:r>
            <a:r>
              <a:rPr lang="en-GB" b="1" dirty="0"/>
              <a:t>with zero error</a:t>
            </a:r>
            <a:r>
              <a:rPr lang="en-GB" dirty="0"/>
              <a:t> — if sᵢ≠sⱼ the "agree" amplitude is </a:t>
            </a:r>
            <a:r>
              <a:rPr lang="en-GB" i="1" dirty="0"/>
              <a:t>exactly zero</a:t>
            </a:r>
            <a:r>
              <a:rPr lang="en-GB" dirty="0"/>
              <a:t>, because sᵢ|</a:t>
            </a:r>
            <a:r>
              <a:rPr lang="en-GB" dirty="0" err="1"/>
              <a:t>i</a:t>
            </a:r>
            <a:r>
              <a:rPr lang="en-GB" dirty="0"/>
              <a:t>⟩+sⱼ|j⟩ is orthogonal to |</a:t>
            </a:r>
            <a:r>
              <a:rPr lang="en-GB" dirty="0" err="1"/>
              <a:t>i</a:t>
            </a:r>
            <a:r>
              <a:rPr lang="en-GB" dirty="0"/>
              <a:t>⟩+|j⟩. </a:t>
            </a:r>
          </a:p>
          <a:p>
            <a:endParaRPr lang="en-GB" dirty="0"/>
          </a:p>
          <a:p>
            <a:r>
              <a:rPr lang="en-GB" dirty="0"/>
              <a:t>So one copy = one tied pair's verdict; averaging O(ε⁻²) copies gives the conflict fraction to ±</a:t>
            </a:r>
            <a:r>
              <a:rPr lang="en-GB" dirty="0" err="1"/>
              <a:t>ε</a:t>
            </a:r>
            <a:r>
              <a:rPr lang="en-GB" dirty="0"/>
              <a:t>. The client's </a:t>
            </a:r>
            <a:r>
              <a:rPr lang="en-GB" i="1" dirty="0"/>
              <a:t>choice of measurement basis</a:t>
            </a:r>
            <a:r>
              <a:rPr lang="en-GB" dirty="0"/>
              <a:t> is what extracts the relevant pair — no need to anticipate it at encoding time, which is exactly what classical can't do.</a:t>
            </a:r>
            <a:endParaRPr lang="en-US" dirty="0"/>
          </a:p>
          <a:p>
            <a:endParaRPr lang="en-US" dirty="0"/>
          </a:p>
        </p:txBody>
      </p:sp>
      <p:sp>
        <p:nvSpPr>
          <p:cNvPr id="4" name="Slide Number Placeholder 3">
            <a:extLst>
              <a:ext uri="{FF2B5EF4-FFF2-40B4-BE49-F238E27FC236}">
                <a16:creationId xmlns:a16="http://schemas.microsoft.com/office/drawing/2014/main" id="{B52CCDD2-559F-1361-5A80-9AD16977D28A}"/>
              </a:ext>
            </a:extLst>
          </p:cNvPr>
          <p:cNvSpPr>
            <a:spLocks noGrp="1"/>
          </p:cNvSpPr>
          <p:nvPr>
            <p:ph type="sldNum" sz="quarter" idx="5"/>
          </p:nvPr>
        </p:nvSpPr>
        <p:spPr/>
        <p:txBody>
          <a:bodyPr/>
          <a:lstStyle/>
          <a:p>
            <a:fld id="{6C5A482F-D220-C445-8DBF-483DC8F1ADF6}" type="slidenum">
              <a:rPr lang="en-US" smtClean="0"/>
              <a:t>56</a:t>
            </a:fld>
            <a:endParaRPr lang="en-US"/>
          </a:p>
        </p:txBody>
      </p:sp>
    </p:spTree>
    <p:extLst>
      <p:ext uri="{BB962C8B-B14F-4D97-AF65-F5344CB8AC3E}">
        <p14:creationId xmlns:p14="http://schemas.microsoft.com/office/powerpoint/2010/main" val="735297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5A482F-D220-C445-8DBF-483DC8F1ADF6}" type="slidenum">
              <a:rPr lang="en-US" smtClean="0"/>
              <a:t>62</a:t>
            </a:fld>
            <a:endParaRPr lang="en-US"/>
          </a:p>
        </p:txBody>
      </p:sp>
    </p:spTree>
    <p:extLst>
      <p:ext uri="{BB962C8B-B14F-4D97-AF65-F5344CB8AC3E}">
        <p14:creationId xmlns:p14="http://schemas.microsoft.com/office/powerpoint/2010/main" val="3143049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B8861-518F-2AE7-A47F-46C6BE6812C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6B40DC5-3AD1-3A96-BF8C-FBAE565CFC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C72F67E-5046-286A-3498-2B3D04F4C9EC}"/>
              </a:ext>
            </a:extLst>
          </p:cNvPr>
          <p:cNvSpPr>
            <a:spLocks noGrp="1"/>
          </p:cNvSpPr>
          <p:nvPr>
            <p:ph type="dt" sz="half" idx="10"/>
          </p:nvPr>
        </p:nvSpPr>
        <p:spPr/>
        <p:txBody>
          <a:bodyPr/>
          <a:lstStyle/>
          <a:p>
            <a:fld id="{538826C5-3D07-2245-9BD5-B75C45897DDA}" type="datetime1">
              <a:rPr lang="en-GB" smtClean="0"/>
              <a:t>24/06/2026</a:t>
            </a:fld>
            <a:endParaRPr lang="en-US"/>
          </a:p>
        </p:txBody>
      </p:sp>
      <p:sp>
        <p:nvSpPr>
          <p:cNvPr id="5" name="Footer Placeholder 4">
            <a:extLst>
              <a:ext uri="{FF2B5EF4-FFF2-40B4-BE49-F238E27FC236}">
                <a16:creationId xmlns:a16="http://schemas.microsoft.com/office/drawing/2014/main" id="{1776621F-EA6C-96FA-27A8-480806F199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9811B-0EAA-88A2-1DF7-4A8F1757F230}"/>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3791296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0B45-F846-5C41-0E49-EFD88F0BE12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A59AA93-5651-10D2-C984-3209DB1151C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BF616E-7031-6314-0F8E-7A4F88A3CE87}"/>
              </a:ext>
            </a:extLst>
          </p:cNvPr>
          <p:cNvSpPr>
            <a:spLocks noGrp="1"/>
          </p:cNvSpPr>
          <p:nvPr>
            <p:ph type="dt" sz="half" idx="10"/>
          </p:nvPr>
        </p:nvSpPr>
        <p:spPr/>
        <p:txBody>
          <a:bodyPr/>
          <a:lstStyle/>
          <a:p>
            <a:fld id="{4A6201FC-23AD-6047-B3F3-4A7A1EDF8E6A}" type="datetime1">
              <a:rPr lang="en-GB" smtClean="0"/>
              <a:t>24/06/2026</a:t>
            </a:fld>
            <a:endParaRPr lang="en-US"/>
          </a:p>
        </p:txBody>
      </p:sp>
      <p:sp>
        <p:nvSpPr>
          <p:cNvPr id="5" name="Footer Placeholder 4">
            <a:extLst>
              <a:ext uri="{FF2B5EF4-FFF2-40B4-BE49-F238E27FC236}">
                <a16:creationId xmlns:a16="http://schemas.microsoft.com/office/drawing/2014/main" id="{36A126FE-2D1E-A3B3-C173-C6371D722B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A23A48-1775-B14E-52E4-21451C0C1147}"/>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3566972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8D998-E847-3277-1602-6E00D2673BD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153CFB1-92D7-4FDE-D886-6FA9ECCD96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A123006-1B92-C1C8-42F1-85BD1F634F05}"/>
              </a:ext>
            </a:extLst>
          </p:cNvPr>
          <p:cNvSpPr>
            <a:spLocks noGrp="1"/>
          </p:cNvSpPr>
          <p:nvPr>
            <p:ph type="dt" sz="half" idx="10"/>
          </p:nvPr>
        </p:nvSpPr>
        <p:spPr/>
        <p:txBody>
          <a:bodyPr/>
          <a:lstStyle/>
          <a:p>
            <a:fld id="{BDBD919F-2DCC-D744-AB44-CAF2E9FC8BE3}" type="datetime1">
              <a:rPr lang="en-GB" smtClean="0"/>
              <a:t>24/06/2026</a:t>
            </a:fld>
            <a:endParaRPr lang="en-US"/>
          </a:p>
        </p:txBody>
      </p:sp>
      <p:sp>
        <p:nvSpPr>
          <p:cNvPr id="5" name="Footer Placeholder 4">
            <a:extLst>
              <a:ext uri="{FF2B5EF4-FFF2-40B4-BE49-F238E27FC236}">
                <a16:creationId xmlns:a16="http://schemas.microsoft.com/office/drawing/2014/main" id="{36FFB3EE-67FB-A00C-B6E0-3EDEC5ED4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2A716-9ED4-4601-7E64-B87A70FB34AD}"/>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1862771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60F68-3A8D-299E-810A-2A53E9E4F69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8D0C3D5-49F3-1E73-A30B-F073A79589A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F77415F-AB3B-6E3E-521F-6E871EA9527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5402B2E-CF5C-F109-7768-A87E3B583949}"/>
              </a:ext>
            </a:extLst>
          </p:cNvPr>
          <p:cNvSpPr>
            <a:spLocks noGrp="1"/>
          </p:cNvSpPr>
          <p:nvPr>
            <p:ph type="dt" sz="half" idx="10"/>
          </p:nvPr>
        </p:nvSpPr>
        <p:spPr/>
        <p:txBody>
          <a:bodyPr/>
          <a:lstStyle/>
          <a:p>
            <a:fld id="{BCE2BF08-2882-0E43-BC36-C83203163B26}" type="datetime1">
              <a:rPr lang="en-GB" smtClean="0"/>
              <a:t>24/06/2026</a:t>
            </a:fld>
            <a:endParaRPr lang="en-US"/>
          </a:p>
        </p:txBody>
      </p:sp>
      <p:sp>
        <p:nvSpPr>
          <p:cNvPr id="6" name="Footer Placeholder 5">
            <a:extLst>
              <a:ext uri="{FF2B5EF4-FFF2-40B4-BE49-F238E27FC236}">
                <a16:creationId xmlns:a16="http://schemas.microsoft.com/office/drawing/2014/main" id="{47F52969-026A-A299-6B01-9A4F8B14B2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173C69-3EC0-53B8-D842-19B139D77949}"/>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1361405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FEC7F-FBDE-5F99-E6FA-1510F58CD77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C8A4D05-D163-5AA8-9631-5098D82CF7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830E7CF-A410-1200-79C6-1453F903648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7D66ABF-BB2A-84CB-BCD9-D21ED0945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071233-17B9-2EA7-3E9B-59FA07EC468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BCFB8DE-DDED-A7DF-7BAC-8BF75D07611A}"/>
              </a:ext>
            </a:extLst>
          </p:cNvPr>
          <p:cNvSpPr>
            <a:spLocks noGrp="1"/>
          </p:cNvSpPr>
          <p:nvPr>
            <p:ph type="dt" sz="half" idx="10"/>
          </p:nvPr>
        </p:nvSpPr>
        <p:spPr/>
        <p:txBody>
          <a:bodyPr/>
          <a:lstStyle/>
          <a:p>
            <a:fld id="{246A8B2A-EBF3-7540-905B-7073CF365219}" type="datetime1">
              <a:rPr lang="en-GB" smtClean="0"/>
              <a:t>24/06/2026</a:t>
            </a:fld>
            <a:endParaRPr lang="en-US"/>
          </a:p>
        </p:txBody>
      </p:sp>
      <p:sp>
        <p:nvSpPr>
          <p:cNvPr id="8" name="Footer Placeholder 7">
            <a:extLst>
              <a:ext uri="{FF2B5EF4-FFF2-40B4-BE49-F238E27FC236}">
                <a16:creationId xmlns:a16="http://schemas.microsoft.com/office/drawing/2014/main" id="{92E1D09B-B2E5-6F61-0950-99326A164A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F0B60E-6CB1-470A-3BA4-1AFA0374816A}"/>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869931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0F54A-ADAF-08AA-4DBC-A127425B6C6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6086EC0-83A8-6402-F9D7-E54186CAF5A7}"/>
              </a:ext>
            </a:extLst>
          </p:cNvPr>
          <p:cNvSpPr>
            <a:spLocks noGrp="1"/>
          </p:cNvSpPr>
          <p:nvPr>
            <p:ph type="dt" sz="half" idx="10"/>
          </p:nvPr>
        </p:nvSpPr>
        <p:spPr/>
        <p:txBody>
          <a:bodyPr/>
          <a:lstStyle/>
          <a:p>
            <a:fld id="{49F05401-5E88-BE4C-9C5F-9CB566F59A71}" type="datetime1">
              <a:rPr lang="en-GB" smtClean="0"/>
              <a:t>24/06/2026</a:t>
            </a:fld>
            <a:endParaRPr lang="en-US"/>
          </a:p>
        </p:txBody>
      </p:sp>
      <p:sp>
        <p:nvSpPr>
          <p:cNvPr id="4" name="Footer Placeholder 3">
            <a:extLst>
              <a:ext uri="{FF2B5EF4-FFF2-40B4-BE49-F238E27FC236}">
                <a16:creationId xmlns:a16="http://schemas.microsoft.com/office/drawing/2014/main" id="{BBB6BC23-1DFB-C6EE-4B98-B7F18DAB98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C6DEA7-3EA1-9D89-A656-8136FF1A3FD6}"/>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1421613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C394C5-3833-D70B-F418-C03F4E168AD4}"/>
              </a:ext>
            </a:extLst>
          </p:cNvPr>
          <p:cNvSpPr>
            <a:spLocks noGrp="1"/>
          </p:cNvSpPr>
          <p:nvPr>
            <p:ph type="dt" sz="half" idx="10"/>
          </p:nvPr>
        </p:nvSpPr>
        <p:spPr/>
        <p:txBody>
          <a:bodyPr/>
          <a:lstStyle/>
          <a:p>
            <a:fld id="{909187AD-2CCC-194D-AA10-4E2DC9C9B682}" type="datetime1">
              <a:rPr lang="en-GB" smtClean="0"/>
              <a:t>24/06/2026</a:t>
            </a:fld>
            <a:endParaRPr lang="en-US"/>
          </a:p>
        </p:txBody>
      </p:sp>
      <p:sp>
        <p:nvSpPr>
          <p:cNvPr id="3" name="Footer Placeholder 2">
            <a:extLst>
              <a:ext uri="{FF2B5EF4-FFF2-40B4-BE49-F238E27FC236}">
                <a16:creationId xmlns:a16="http://schemas.microsoft.com/office/drawing/2014/main" id="{F5E6ED78-263F-7D34-E174-0567A03C3E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EC2E369-98AB-207F-BA93-AB7D7A9A7671}"/>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1326904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074C6-EA74-6A26-DE90-A30FBD0C28E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603ABB-42EB-CBA9-CAD0-16C4249791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6CA0C7B-B024-A2E1-04E8-8383CFDCA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F6069A6-C115-9F3F-8817-1D5EEBF605A8}"/>
              </a:ext>
            </a:extLst>
          </p:cNvPr>
          <p:cNvSpPr>
            <a:spLocks noGrp="1"/>
          </p:cNvSpPr>
          <p:nvPr>
            <p:ph type="dt" sz="half" idx="10"/>
          </p:nvPr>
        </p:nvSpPr>
        <p:spPr/>
        <p:txBody>
          <a:bodyPr/>
          <a:lstStyle/>
          <a:p>
            <a:fld id="{F2E80811-D3EB-AC48-AB79-DF160AAE378F}" type="datetime1">
              <a:rPr lang="en-GB" smtClean="0"/>
              <a:t>24/06/2026</a:t>
            </a:fld>
            <a:endParaRPr lang="en-US"/>
          </a:p>
        </p:txBody>
      </p:sp>
      <p:sp>
        <p:nvSpPr>
          <p:cNvPr id="6" name="Footer Placeholder 5">
            <a:extLst>
              <a:ext uri="{FF2B5EF4-FFF2-40B4-BE49-F238E27FC236}">
                <a16:creationId xmlns:a16="http://schemas.microsoft.com/office/drawing/2014/main" id="{73755D1E-123F-C60B-3105-01E6479E46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ACA79C-45BA-2947-A478-3ACDF862DC3B}"/>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1316057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F5D7-4767-20D6-7379-4401CB8B5E8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BF359A1-BC44-8795-EC22-67DCAF0155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0483FC-6316-2E9A-D717-C024E224DC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8997BFB-EC89-D54E-00D2-6CF4466BAEA2}"/>
              </a:ext>
            </a:extLst>
          </p:cNvPr>
          <p:cNvSpPr>
            <a:spLocks noGrp="1"/>
          </p:cNvSpPr>
          <p:nvPr>
            <p:ph type="dt" sz="half" idx="10"/>
          </p:nvPr>
        </p:nvSpPr>
        <p:spPr/>
        <p:txBody>
          <a:bodyPr/>
          <a:lstStyle/>
          <a:p>
            <a:fld id="{C82BAA25-2BA9-D541-9BA9-1B7E5B788726}" type="datetime1">
              <a:rPr lang="en-GB" smtClean="0"/>
              <a:t>24/06/2026</a:t>
            </a:fld>
            <a:endParaRPr lang="en-US"/>
          </a:p>
        </p:txBody>
      </p:sp>
      <p:sp>
        <p:nvSpPr>
          <p:cNvPr id="6" name="Footer Placeholder 5">
            <a:extLst>
              <a:ext uri="{FF2B5EF4-FFF2-40B4-BE49-F238E27FC236}">
                <a16:creationId xmlns:a16="http://schemas.microsoft.com/office/drawing/2014/main" id="{162A77EC-394D-D258-1D6A-10E5B2E2C5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F4CF93-18CE-4513-FBC4-BE0A0DFA2654}"/>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3338266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A8DD6-E126-926E-343A-1DDEEDCA4DF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9B46780-9AC5-2B24-29BF-2583721F1D2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A87298F-47A9-136A-B763-9B69A47EC7D8}"/>
              </a:ext>
            </a:extLst>
          </p:cNvPr>
          <p:cNvSpPr>
            <a:spLocks noGrp="1"/>
          </p:cNvSpPr>
          <p:nvPr>
            <p:ph type="dt" sz="half" idx="10"/>
          </p:nvPr>
        </p:nvSpPr>
        <p:spPr/>
        <p:txBody>
          <a:bodyPr/>
          <a:lstStyle/>
          <a:p>
            <a:fld id="{AD2C235E-A88C-2449-8021-0B810DB40900}" type="datetime1">
              <a:rPr lang="en-GB" smtClean="0"/>
              <a:t>24/06/2026</a:t>
            </a:fld>
            <a:endParaRPr lang="en-US"/>
          </a:p>
        </p:txBody>
      </p:sp>
      <p:sp>
        <p:nvSpPr>
          <p:cNvPr id="5" name="Footer Placeholder 4">
            <a:extLst>
              <a:ext uri="{FF2B5EF4-FFF2-40B4-BE49-F238E27FC236}">
                <a16:creationId xmlns:a16="http://schemas.microsoft.com/office/drawing/2014/main" id="{9CF51114-F677-E24F-415A-F0F2CB85E0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BD1CAC-2F67-1C7B-E76E-D7C34E427F59}"/>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900386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F9D329-D1E6-5E48-890E-C9FB7EF4C3F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E7AFF8F-B8F4-D210-5E66-588E29F67DF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FBD9854-DA44-447D-BE86-1BDC9FD6BDF6}"/>
              </a:ext>
            </a:extLst>
          </p:cNvPr>
          <p:cNvSpPr>
            <a:spLocks noGrp="1"/>
          </p:cNvSpPr>
          <p:nvPr>
            <p:ph type="dt" sz="half" idx="10"/>
          </p:nvPr>
        </p:nvSpPr>
        <p:spPr/>
        <p:txBody>
          <a:bodyPr/>
          <a:lstStyle/>
          <a:p>
            <a:fld id="{53301D3C-ECCD-8647-9638-ABDE18499054}" type="datetime1">
              <a:rPr lang="en-GB" smtClean="0"/>
              <a:t>24/06/2026</a:t>
            </a:fld>
            <a:endParaRPr lang="en-US"/>
          </a:p>
        </p:txBody>
      </p:sp>
      <p:sp>
        <p:nvSpPr>
          <p:cNvPr id="5" name="Footer Placeholder 4">
            <a:extLst>
              <a:ext uri="{FF2B5EF4-FFF2-40B4-BE49-F238E27FC236}">
                <a16:creationId xmlns:a16="http://schemas.microsoft.com/office/drawing/2014/main" id="{363EFD61-8181-E0E3-E4B2-82048C6859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A11561-300C-834A-7828-9961E6B755CA}"/>
              </a:ext>
            </a:extLst>
          </p:cNvPr>
          <p:cNvSpPr>
            <a:spLocks noGrp="1"/>
          </p:cNvSpPr>
          <p:nvPr>
            <p:ph type="sldNum" sz="quarter" idx="12"/>
          </p:nvPr>
        </p:nvSpPr>
        <p:spPr/>
        <p:txBody>
          <a:bodyPr/>
          <a:lstStyle/>
          <a:p>
            <a:fld id="{4544B810-10F2-2E49-94DF-FA7BE986B6B9}" type="slidenum">
              <a:rPr lang="en-US" smtClean="0"/>
              <a:t>‹#›</a:t>
            </a:fld>
            <a:endParaRPr lang="en-US"/>
          </a:p>
        </p:txBody>
      </p:sp>
    </p:spTree>
    <p:extLst>
      <p:ext uri="{BB962C8B-B14F-4D97-AF65-F5344CB8AC3E}">
        <p14:creationId xmlns:p14="http://schemas.microsoft.com/office/powerpoint/2010/main" val="470128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57A57-C635-EC78-9D62-C5A545E3F8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D882138-E2FE-C5AC-D539-DC93458B70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6F280CE-43D4-F7AB-7ECA-A87B94005F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220867-8581-3C4F-9D83-720FC750CBEB}" type="datetime1">
              <a:rPr lang="en-GB" smtClean="0"/>
              <a:t>24/06/2026</a:t>
            </a:fld>
            <a:endParaRPr lang="en-US"/>
          </a:p>
        </p:txBody>
      </p:sp>
      <p:sp>
        <p:nvSpPr>
          <p:cNvPr id="5" name="Footer Placeholder 4">
            <a:extLst>
              <a:ext uri="{FF2B5EF4-FFF2-40B4-BE49-F238E27FC236}">
                <a16:creationId xmlns:a16="http://schemas.microsoft.com/office/drawing/2014/main" id="{9AFCFE67-2963-6A00-F557-B6E655D93B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1A753BB-5C59-49CA-E572-88131CCB5C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44B810-10F2-2E49-94DF-FA7BE986B6B9}" type="slidenum">
              <a:rPr lang="en-US" smtClean="0"/>
              <a:t>‹#›</a:t>
            </a:fld>
            <a:endParaRPr lang="en-US"/>
          </a:p>
        </p:txBody>
      </p:sp>
    </p:spTree>
    <p:extLst>
      <p:ext uri="{BB962C8B-B14F-4D97-AF65-F5344CB8AC3E}">
        <p14:creationId xmlns:p14="http://schemas.microsoft.com/office/powerpoint/2010/main" val="1083960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0.png"/><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0.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0.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5.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png"/><Relationship Id="rId1" Type="http://schemas.openxmlformats.org/officeDocument/2006/relationships/slideLayout" Target="../slideLayouts/slideLayout5.xml"/><Relationship Id="rId6" Type="http://schemas.openxmlformats.org/officeDocument/2006/relationships/image" Target="../media/image33.jpeg"/><Relationship Id="rId5" Type="http://schemas.openxmlformats.org/officeDocument/2006/relationships/image" Target="../media/image32.png"/><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5.svg"/></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6118-D477-23D8-F8EA-047EABF5871D}"/>
              </a:ext>
            </a:extLst>
          </p:cNvPr>
          <p:cNvSpPr>
            <a:spLocks noGrp="1"/>
          </p:cNvSpPr>
          <p:nvPr>
            <p:ph type="ctrTitle"/>
          </p:nvPr>
        </p:nvSpPr>
        <p:spPr/>
        <p:txBody>
          <a:bodyPr/>
          <a:lstStyle/>
          <a:p>
            <a:r>
              <a:rPr lang="en-US" dirty="0"/>
              <a:t>Quantum ring all-reduce</a:t>
            </a:r>
          </a:p>
        </p:txBody>
      </p:sp>
      <p:sp>
        <p:nvSpPr>
          <p:cNvPr id="3" name="Subtitle 2">
            <a:extLst>
              <a:ext uri="{FF2B5EF4-FFF2-40B4-BE49-F238E27FC236}">
                <a16:creationId xmlns:a16="http://schemas.microsoft.com/office/drawing/2014/main" id="{5C5D2DB1-B9D7-95A0-A715-A525EEDB8FD2}"/>
              </a:ext>
            </a:extLst>
          </p:cNvPr>
          <p:cNvSpPr>
            <a:spLocks noGrp="1"/>
          </p:cNvSpPr>
          <p:nvPr>
            <p:ph type="subTitle" idx="1"/>
          </p:nvPr>
        </p:nvSpPr>
        <p:spPr/>
        <p:txBody>
          <a:bodyPr/>
          <a:lstStyle/>
          <a:p>
            <a:r>
              <a:rPr lang="en-GB" dirty="0"/>
              <a:t>María Gragera Garcés &amp; </a:t>
            </a:r>
            <a:r>
              <a:rPr lang="en-GB" dirty="0" err="1"/>
              <a:t>Lirandë</a:t>
            </a:r>
            <a:r>
              <a:rPr lang="en-GB" dirty="0"/>
              <a:t> Pira</a:t>
            </a:r>
          </a:p>
          <a:p>
            <a:r>
              <a:rPr lang="en-GB" dirty="0" err="1"/>
              <a:t>Hackamonth</a:t>
            </a:r>
            <a:r>
              <a:rPr lang="en-US" dirty="0"/>
              <a:t> 2026</a:t>
            </a:r>
          </a:p>
        </p:txBody>
      </p:sp>
      <p:pic>
        <p:nvPicPr>
          <p:cNvPr id="6" name="Picture 5" descr="What is collaboration? Why it's important, examples and tips">
            <a:extLst>
              <a:ext uri="{FF2B5EF4-FFF2-40B4-BE49-F238E27FC236}">
                <a16:creationId xmlns:a16="http://schemas.microsoft.com/office/drawing/2014/main" id="{211373AB-E83A-F834-E964-BEBA852CECE6}"/>
              </a:ext>
            </a:extLst>
          </p:cNvPr>
          <p:cNvPicPr>
            <a:picLocks noChangeAspect="1"/>
          </p:cNvPicPr>
          <p:nvPr/>
        </p:nvPicPr>
        <p:blipFill>
          <a:blip r:embed="rId2"/>
          <a:stretch/>
        </p:blipFill>
        <p:spPr>
          <a:xfrm>
            <a:off x="4436536" y="4683118"/>
            <a:ext cx="3753562" cy="2105038"/>
          </a:xfrm>
          <a:prstGeom prst="rect">
            <a:avLst/>
          </a:prstGeom>
        </p:spPr>
      </p:pic>
      <p:sp>
        <p:nvSpPr>
          <p:cNvPr id="7" name="TextBox 6">
            <a:extLst>
              <a:ext uri="{FF2B5EF4-FFF2-40B4-BE49-F238E27FC236}">
                <a16:creationId xmlns:a16="http://schemas.microsoft.com/office/drawing/2014/main" id="{A5EEC9F7-7E02-CC99-FD05-F8D2E95E7AC3}"/>
              </a:ext>
            </a:extLst>
          </p:cNvPr>
          <p:cNvSpPr txBox="1"/>
          <p:nvPr/>
        </p:nvSpPr>
        <p:spPr>
          <a:xfrm>
            <a:off x="7270801" y="5550971"/>
            <a:ext cx="1940192" cy="369332"/>
          </a:xfrm>
          <a:prstGeom prst="rect">
            <a:avLst/>
          </a:prstGeom>
          <a:noFill/>
        </p:spPr>
        <p:txBody>
          <a:bodyPr wrap="square" rtlCol="0">
            <a:spAutoFit/>
          </a:bodyPr>
          <a:lstStyle/>
          <a:p>
            <a:r>
              <a:rPr lang="en-US" dirty="0"/>
              <a:t>LEARNING</a:t>
            </a:r>
          </a:p>
        </p:txBody>
      </p:sp>
      <p:sp>
        <p:nvSpPr>
          <p:cNvPr id="8" name="TextBox 7">
            <a:extLst>
              <a:ext uri="{FF2B5EF4-FFF2-40B4-BE49-F238E27FC236}">
                <a16:creationId xmlns:a16="http://schemas.microsoft.com/office/drawing/2014/main" id="{89CEA275-5019-8856-9F07-B54E852AFD36}"/>
              </a:ext>
            </a:extLst>
          </p:cNvPr>
          <p:cNvSpPr txBox="1"/>
          <p:nvPr/>
        </p:nvSpPr>
        <p:spPr>
          <a:xfrm>
            <a:off x="3047999" y="5469989"/>
            <a:ext cx="2708594" cy="646331"/>
          </a:xfrm>
          <a:prstGeom prst="rect">
            <a:avLst/>
          </a:prstGeom>
          <a:noFill/>
        </p:spPr>
        <p:txBody>
          <a:bodyPr wrap="square" rtlCol="0">
            <a:spAutoFit/>
          </a:bodyPr>
          <a:lstStyle/>
          <a:p>
            <a:pPr algn="ctr"/>
            <a:r>
              <a:rPr lang="en-US" dirty="0"/>
              <a:t>QUANTUM</a:t>
            </a:r>
          </a:p>
          <a:p>
            <a:pPr algn="ctr"/>
            <a:r>
              <a:rPr lang="en-US" dirty="0"/>
              <a:t>COMMUNICATION</a:t>
            </a:r>
          </a:p>
        </p:txBody>
      </p:sp>
      <p:sp>
        <p:nvSpPr>
          <p:cNvPr id="9" name="Slide Number Placeholder 8">
            <a:extLst>
              <a:ext uri="{FF2B5EF4-FFF2-40B4-BE49-F238E27FC236}">
                <a16:creationId xmlns:a16="http://schemas.microsoft.com/office/drawing/2014/main" id="{5F30B215-16E3-5ECC-B70B-F3C278BF6BF6}"/>
              </a:ext>
            </a:extLst>
          </p:cNvPr>
          <p:cNvSpPr>
            <a:spLocks noGrp="1"/>
          </p:cNvSpPr>
          <p:nvPr>
            <p:ph type="sldNum" sz="quarter" idx="12"/>
          </p:nvPr>
        </p:nvSpPr>
        <p:spPr/>
        <p:txBody>
          <a:bodyPr/>
          <a:lstStyle/>
          <a:p>
            <a:fld id="{4544B810-10F2-2E49-94DF-FA7BE986B6B9}" type="slidenum">
              <a:rPr lang="en-US" smtClean="0"/>
              <a:t>1</a:t>
            </a:fld>
            <a:endParaRPr lang="en-US"/>
          </a:p>
        </p:txBody>
      </p:sp>
    </p:spTree>
    <p:extLst>
      <p:ext uri="{BB962C8B-B14F-4D97-AF65-F5344CB8AC3E}">
        <p14:creationId xmlns:p14="http://schemas.microsoft.com/office/powerpoint/2010/main" val="3388015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BAB992-1341-0D4A-BF9D-0265484D9B5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07C3CCA-91B2-9027-E76E-6241A3265BE6}"/>
              </a:ext>
            </a:extLst>
          </p:cNvPr>
          <p:cNvPicPr>
            <a:picLocks noChangeAspect="1"/>
          </p:cNvPicPr>
          <p:nvPr/>
        </p:nvPicPr>
        <p:blipFill>
          <a:blip r:embed="rId2"/>
          <a:stretch>
            <a:fillRect/>
          </a:stretch>
        </p:blipFill>
        <p:spPr>
          <a:xfrm>
            <a:off x="2021797" y="0"/>
            <a:ext cx="7616389" cy="6858000"/>
          </a:xfrm>
          <a:prstGeom prst="rect">
            <a:avLst/>
          </a:prstGeom>
        </p:spPr>
      </p:pic>
      <p:sp>
        <p:nvSpPr>
          <p:cNvPr id="2" name="Slide Number Placeholder 1">
            <a:extLst>
              <a:ext uri="{FF2B5EF4-FFF2-40B4-BE49-F238E27FC236}">
                <a16:creationId xmlns:a16="http://schemas.microsoft.com/office/drawing/2014/main" id="{613C8A4F-FE46-7F68-0970-155E52DAA0BE}"/>
              </a:ext>
            </a:extLst>
          </p:cNvPr>
          <p:cNvSpPr>
            <a:spLocks noGrp="1"/>
          </p:cNvSpPr>
          <p:nvPr>
            <p:ph type="sldNum" sz="quarter" idx="12"/>
          </p:nvPr>
        </p:nvSpPr>
        <p:spPr/>
        <p:txBody>
          <a:bodyPr/>
          <a:lstStyle/>
          <a:p>
            <a:fld id="{4544B810-10F2-2E49-94DF-FA7BE986B6B9}" type="slidenum">
              <a:rPr lang="en-US" smtClean="0"/>
              <a:t>2</a:t>
            </a:fld>
            <a:endParaRPr lang="en-US"/>
          </a:p>
        </p:txBody>
      </p:sp>
    </p:spTree>
    <p:extLst>
      <p:ext uri="{BB962C8B-B14F-4D97-AF65-F5344CB8AC3E}">
        <p14:creationId xmlns:p14="http://schemas.microsoft.com/office/powerpoint/2010/main" val="3603943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44458-6196-D067-AAB6-8E26248F0930}"/>
              </a:ext>
            </a:extLst>
          </p:cNvPr>
          <p:cNvSpPr>
            <a:spLocks noGrp="1"/>
          </p:cNvSpPr>
          <p:nvPr>
            <p:ph type="title"/>
          </p:nvPr>
        </p:nvSpPr>
        <p:spPr/>
        <p:txBody>
          <a:bodyPr/>
          <a:lstStyle/>
          <a:p>
            <a:r>
              <a:rPr lang="en-US" dirty="0"/>
              <a:t>Ring all reduce</a:t>
            </a:r>
          </a:p>
        </p:txBody>
      </p:sp>
      <p:sp>
        <p:nvSpPr>
          <p:cNvPr id="3" name="Content Placeholder 2">
            <a:extLst>
              <a:ext uri="{FF2B5EF4-FFF2-40B4-BE49-F238E27FC236}">
                <a16:creationId xmlns:a16="http://schemas.microsoft.com/office/drawing/2014/main" id="{20CD11F9-5624-9622-4242-85DC7F6D3172}"/>
              </a:ext>
            </a:extLst>
          </p:cNvPr>
          <p:cNvSpPr>
            <a:spLocks noGrp="1"/>
          </p:cNvSpPr>
          <p:nvPr>
            <p:ph idx="1"/>
          </p:nvPr>
        </p:nvSpPr>
        <p:spPr>
          <a:xfrm>
            <a:off x="838200" y="1825625"/>
            <a:ext cx="10515600" cy="4351338"/>
          </a:xfrm>
        </p:spPr>
        <p:txBody>
          <a:bodyPr/>
          <a:lstStyle/>
          <a:p>
            <a:pPr marL="0" indent="0">
              <a:buNone/>
            </a:pPr>
            <a:r>
              <a:rPr lang="en-GB" dirty="0"/>
              <a:t>Ring all-reduce is a foundational communication primitive for large-scale distributed training.</a:t>
            </a:r>
          </a:p>
          <a:p>
            <a:pPr marL="0" indent="0">
              <a:buNone/>
            </a:pPr>
            <a:r>
              <a:rPr lang="en-GB" dirty="0"/>
              <a:t>Used in models like </a:t>
            </a:r>
          </a:p>
          <a:p>
            <a:pPr>
              <a:buFontTx/>
              <a:buChar char="-"/>
            </a:pPr>
            <a:r>
              <a:rPr lang="en-GB" dirty="0" err="1"/>
              <a:t>Horovod</a:t>
            </a:r>
            <a:endParaRPr lang="en-GB" dirty="0"/>
          </a:p>
          <a:p>
            <a:pPr>
              <a:buFontTx/>
              <a:buChar char="-"/>
            </a:pPr>
            <a:r>
              <a:rPr lang="en-GB" dirty="0" err="1"/>
              <a:t>PyTorch</a:t>
            </a:r>
            <a:r>
              <a:rPr lang="en-GB" dirty="0"/>
              <a:t> DDP </a:t>
            </a:r>
          </a:p>
          <a:p>
            <a:pPr>
              <a:buFontTx/>
              <a:buChar char="-"/>
            </a:pPr>
            <a:r>
              <a:rPr lang="en-GB" dirty="0"/>
              <a:t>NCCL (NVIDIA Collective Communications Library).</a:t>
            </a:r>
            <a:endParaRPr lang="en-US" dirty="0"/>
          </a:p>
        </p:txBody>
      </p:sp>
      <p:sp>
        <p:nvSpPr>
          <p:cNvPr id="4" name="Slide Number Placeholder 3">
            <a:extLst>
              <a:ext uri="{FF2B5EF4-FFF2-40B4-BE49-F238E27FC236}">
                <a16:creationId xmlns:a16="http://schemas.microsoft.com/office/drawing/2014/main" id="{497371CD-4750-6A6B-4A4C-92C0289567FF}"/>
              </a:ext>
            </a:extLst>
          </p:cNvPr>
          <p:cNvSpPr>
            <a:spLocks noGrp="1"/>
          </p:cNvSpPr>
          <p:nvPr>
            <p:ph type="sldNum" sz="quarter" idx="12"/>
          </p:nvPr>
        </p:nvSpPr>
        <p:spPr/>
        <p:txBody>
          <a:bodyPr/>
          <a:lstStyle/>
          <a:p>
            <a:fld id="{4544B810-10F2-2E49-94DF-FA7BE986B6B9}" type="slidenum">
              <a:rPr lang="en-US" smtClean="0"/>
              <a:t>3</a:t>
            </a:fld>
            <a:endParaRPr lang="en-US"/>
          </a:p>
        </p:txBody>
      </p:sp>
    </p:spTree>
    <p:extLst>
      <p:ext uri="{BB962C8B-B14F-4D97-AF65-F5344CB8AC3E}">
        <p14:creationId xmlns:p14="http://schemas.microsoft.com/office/powerpoint/2010/main" val="970619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06DE-7929-8A87-DD45-E3E86821B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BFFD1-1E1D-6487-6E4B-E22BE553DD5D}"/>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BA1A95F6-F0C0-E451-3817-7323891F7F52}"/>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C4295D06-309B-2654-4EC3-7373ABB50C16}"/>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7A7FFC88-CE59-78C2-9FA5-32E1C34113E1}"/>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D473620F-7BA4-398D-3ADD-24923B12EA32}"/>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ABA6340A-89ED-CDDB-48E9-251246172764}"/>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F7291ABD-C348-48F0-1C4A-84E5E4402AE0}"/>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3D540354-2E2B-431B-D636-F0977D38FC7A}"/>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64DFA7F-9756-BA7B-2CA6-F97DF068F4E9}"/>
              </a:ext>
            </a:extLst>
          </p:cNvPr>
          <p:cNvSpPr>
            <a:spLocks noGrp="1"/>
          </p:cNvSpPr>
          <p:nvPr>
            <p:ph idx="1"/>
          </p:nvPr>
        </p:nvSpPr>
        <p:spPr>
          <a:xfrm>
            <a:off x="838200" y="1825625"/>
            <a:ext cx="5529349" cy="4351338"/>
          </a:xfrm>
        </p:spPr>
        <p:txBody>
          <a:bodyPr/>
          <a:lstStyle/>
          <a:p>
            <a:pPr marL="0" indent="0" algn="ctr">
              <a:buNone/>
            </a:pPr>
            <a:r>
              <a:rPr lang="en-GB" b="1" u="sng" dirty="0"/>
              <a:t>OBJECTIVE</a:t>
            </a:r>
          </a:p>
          <a:p>
            <a:pPr marL="0" indent="0">
              <a:buNone/>
            </a:pPr>
            <a:r>
              <a:rPr lang="en-GB" dirty="0"/>
              <a:t>Synchronize model weights across multiple GPUs as fast as possible with minimal communication delays</a:t>
            </a:r>
            <a:endParaRPr lang="en-US" dirty="0"/>
          </a:p>
        </p:txBody>
      </p:sp>
      <p:pic>
        <p:nvPicPr>
          <p:cNvPr id="43" name="Picture 42">
            <a:extLst>
              <a:ext uri="{FF2B5EF4-FFF2-40B4-BE49-F238E27FC236}">
                <a16:creationId xmlns:a16="http://schemas.microsoft.com/office/drawing/2014/main" id="{6677212B-3FDF-DF54-A241-D3B88207D503}"/>
              </a:ext>
            </a:extLst>
          </p:cNvPr>
          <p:cNvPicPr>
            <a:picLocks noChangeAspect="1"/>
          </p:cNvPicPr>
          <p:nvPr/>
        </p:nvPicPr>
        <p:blipFill>
          <a:blip r:embed="rId2"/>
          <a:stretch/>
        </p:blipFill>
        <p:spPr>
          <a:xfrm>
            <a:off x="1454220" y="4001294"/>
            <a:ext cx="4515655" cy="2491149"/>
          </a:xfrm>
          <a:prstGeom prst="rect">
            <a:avLst/>
          </a:prstGeom>
        </p:spPr>
      </p:pic>
      <p:pic>
        <p:nvPicPr>
          <p:cNvPr id="44" name="Picture 43">
            <a:extLst>
              <a:ext uri="{FF2B5EF4-FFF2-40B4-BE49-F238E27FC236}">
                <a16:creationId xmlns:a16="http://schemas.microsoft.com/office/drawing/2014/main" id="{FC44AE44-B848-4308-D94B-EFFF4E5DDB62}"/>
              </a:ext>
            </a:extLst>
          </p:cNvPr>
          <p:cNvPicPr>
            <a:picLocks noChangeAspect="1"/>
          </p:cNvPicPr>
          <p:nvPr/>
        </p:nvPicPr>
        <p:blipFill>
          <a:blip r:embed="rId2"/>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1E801AF2-DACB-8A22-B8DD-4C96569D145B}"/>
              </a:ext>
            </a:extLst>
          </p:cNvPr>
          <p:cNvPicPr>
            <a:picLocks noChangeAspect="1"/>
          </p:cNvPicPr>
          <p:nvPr/>
        </p:nvPicPr>
        <p:blipFill>
          <a:blip r:embed="rId2"/>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9A1798BE-285D-CB6A-F8E4-D9EA08D23DFA}"/>
              </a:ext>
            </a:extLst>
          </p:cNvPr>
          <p:cNvPicPr>
            <a:picLocks noChangeAspect="1"/>
          </p:cNvPicPr>
          <p:nvPr/>
        </p:nvPicPr>
        <p:blipFill>
          <a:blip r:embed="rId2"/>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53BB4F36-5645-B1AD-8B71-1978566BA132}"/>
              </a:ext>
            </a:extLst>
          </p:cNvPr>
          <p:cNvPicPr>
            <a:picLocks noChangeAspect="1"/>
          </p:cNvPicPr>
          <p:nvPr/>
        </p:nvPicPr>
        <p:blipFill>
          <a:blip r:embed="rId2"/>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81848EEC-4405-31FE-5F55-459084AE284A}"/>
              </a:ext>
            </a:extLst>
          </p:cNvPr>
          <p:cNvPicPr>
            <a:picLocks noChangeAspect="1"/>
          </p:cNvPicPr>
          <p:nvPr/>
        </p:nvPicPr>
        <p:blipFill>
          <a:blip r:embed="rId2"/>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1E07363B-46AD-60B9-3ADB-213713822E26}"/>
              </a:ext>
            </a:extLst>
          </p:cNvPr>
          <p:cNvPicPr>
            <a:picLocks noChangeAspect="1"/>
          </p:cNvPicPr>
          <p:nvPr/>
        </p:nvPicPr>
        <p:blipFill>
          <a:blip r:embed="rId2"/>
          <a:stretch/>
        </p:blipFill>
        <p:spPr>
          <a:xfrm>
            <a:off x="10584043" y="5727672"/>
            <a:ext cx="1386284" cy="764771"/>
          </a:xfrm>
          <a:prstGeom prst="rect">
            <a:avLst/>
          </a:prstGeom>
        </p:spPr>
      </p:pic>
      <p:sp>
        <p:nvSpPr>
          <p:cNvPr id="4" name="Slide Number Placeholder 3">
            <a:extLst>
              <a:ext uri="{FF2B5EF4-FFF2-40B4-BE49-F238E27FC236}">
                <a16:creationId xmlns:a16="http://schemas.microsoft.com/office/drawing/2014/main" id="{B3AFCDEC-8A54-2F9F-B64E-F6B24CB84F32}"/>
              </a:ext>
            </a:extLst>
          </p:cNvPr>
          <p:cNvSpPr>
            <a:spLocks noGrp="1"/>
          </p:cNvSpPr>
          <p:nvPr>
            <p:ph type="sldNum" sz="quarter" idx="12"/>
          </p:nvPr>
        </p:nvSpPr>
        <p:spPr/>
        <p:txBody>
          <a:bodyPr/>
          <a:lstStyle/>
          <a:p>
            <a:fld id="{4544B810-10F2-2E49-94DF-FA7BE986B6B9}" type="slidenum">
              <a:rPr lang="en-US" smtClean="0"/>
              <a:t>4</a:t>
            </a:fld>
            <a:endParaRPr lang="en-US"/>
          </a:p>
        </p:txBody>
      </p:sp>
    </p:spTree>
    <p:extLst>
      <p:ext uri="{BB962C8B-B14F-4D97-AF65-F5344CB8AC3E}">
        <p14:creationId xmlns:p14="http://schemas.microsoft.com/office/powerpoint/2010/main" val="1681457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3B264-1541-2C6F-DF47-092C85C1C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C30BA-828D-A081-2090-ED758F936E27}"/>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FB43C293-AAAF-EA10-9667-AB1FA6B6CB48}"/>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F020127D-C761-7C6A-D215-46E52E69D707}"/>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48DCD7FC-C03F-4D59-40DE-763DBDDC8A96}"/>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3918E8D9-1D3C-CFED-A4E6-5695DE188084}"/>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91FC39DA-3167-B255-C4F2-E188AD20134D}"/>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0E05635B-0D1D-54C0-4024-704CF9A20394}"/>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0F06D8A5-1A60-0C58-D273-D3EED36FBCBC}"/>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3B88D20F-6AF2-628B-5A51-E140661D2479}"/>
              </a:ext>
            </a:extLst>
          </p:cNvPr>
          <p:cNvSpPr>
            <a:spLocks noGrp="1"/>
          </p:cNvSpPr>
          <p:nvPr>
            <p:ph idx="1"/>
          </p:nvPr>
        </p:nvSpPr>
        <p:spPr>
          <a:xfrm>
            <a:off x="838200" y="1825625"/>
            <a:ext cx="5529349" cy="4351338"/>
          </a:xfrm>
        </p:spPr>
        <p:txBody>
          <a:bodyPr/>
          <a:lstStyle/>
          <a:p>
            <a:pPr marL="0" indent="0" algn="ctr">
              <a:buNone/>
            </a:pPr>
            <a:r>
              <a:rPr lang="en-GB" b="1" u="sng" dirty="0"/>
              <a:t>WHY</a:t>
            </a:r>
          </a:p>
          <a:p>
            <a:pPr marL="0" indent="0">
              <a:buNone/>
            </a:pPr>
            <a:r>
              <a:rPr lang="en-GB" dirty="0"/>
              <a:t>The full model is too large to share in one coordinated round, so we need to play around the </a:t>
            </a:r>
            <a:r>
              <a:rPr lang="en-GB" b="1" dirty="0">
                <a:solidFill>
                  <a:schemeClr val="accent2">
                    <a:lumMod val="75000"/>
                  </a:schemeClr>
                </a:solidFill>
              </a:rPr>
              <a:t>bandwidth constraints</a:t>
            </a:r>
            <a:r>
              <a:rPr lang="en-GB" dirty="0"/>
              <a:t>.</a:t>
            </a:r>
            <a:endParaRPr lang="en-US" dirty="0"/>
          </a:p>
        </p:txBody>
      </p:sp>
      <p:sp>
        <p:nvSpPr>
          <p:cNvPr id="3" name="Slide Number Placeholder 2">
            <a:extLst>
              <a:ext uri="{FF2B5EF4-FFF2-40B4-BE49-F238E27FC236}">
                <a16:creationId xmlns:a16="http://schemas.microsoft.com/office/drawing/2014/main" id="{F438BEDC-AC27-38D8-5913-B95D5D0A835A}"/>
              </a:ext>
            </a:extLst>
          </p:cNvPr>
          <p:cNvSpPr>
            <a:spLocks noGrp="1"/>
          </p:cNvSpPr>
          <p:nvPr>
            <p:ph type="sldNum" sz="quarter" idx="12"/>
          </p:nvPr>
        </p:nvSpPr>
        <p:spPr/>
        <p:txBody>
          <a:bodyPr/>
          <a:lstStyle/>
          <a:p>
            <a:fld id="{4544B810-10F2-2E49-94DF-FA7BE986B6B9}" type="slidenum">
              <a:rPr lang="en-US" smtClean="0"/>
              <a:t>5</a:t>
            </a:fld>
            <a:endParaRPr lang="en-US"/>
          </a:p>
        </p:txBody>
      </p:sp>
    </p:spTree>
    <p:extLst>
      <p:ext uri="{BB962C8B-B14F-4D97-AF65-F5344CB8AC3E}">
        <p14:creationId xmlns:p14="http://schemas.microsoft.com/office/powerpoint/2010/main" val="3968790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9D44B-8211-61AE-2F95-4AB972640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F78AE-0100-7735-674E-189CA39FAA88}"/>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CD8F0EF6-A85B-D452-ACB9-A795E3247BBA}"/>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0431DB7C-74F0-B876-AE9B-BFAD61EFBD8C}"/>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8199ECE7-7136-EC0C-094D-E4CDD2CC28CB}"/>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BD7EC80B-63D9-8420-09F3-1F267E46951A}"/>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4BAE69CB-9D34-97AA-443F-B20087FE7ECB}"/>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A8C7A5BC-A44D-6EE9-A97C-27F33EACE358}"/>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2B356C36-6398-A04E-F28B-2FC797B2F8C7}"/>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44" name="Picture 43">
            <a:extLst>
              <a:ext uri="{FF2B5EF4-FFF2-40B4-BE49-F238E27FC236}">
                <a16:creationId xmlns:a16="http://schemas.microsoft.com/office/drawing/2014/main" id="{FA8CDA80-5BF4-46E1-D008-93C3E7E6FE58}"/>
              </a:ext>
            </a:extLst>
          </p:cNvPr>
          <p:cNvPicPr>
            <a:picLocks noChangeAspect="1"/>
          </p:cNvPicPr>
          <p:nvPr/>
        </p:nvPicPr>
        <p:blipFill>
          <a:blip r:embed="rId2"/>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423F529C-A80C-B587-489A-45BC8FCF8DD0}"/>
              </a:ext>
            </a:extLst>
          </p:cNvPr>
          <p:cNvPicPr>
            <a:picLocks noChangeAspect="1"/>
          </p:cNvPicPr>
          <p:nvPr/>
        </p:nvPicPr>
        <p:blipFill>
          <a:blip r:embed="rId2"/>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01225CB6-2732-E1A6-9563-9E9D162F10DB}"/>
              </a:ext>
            </a:extLst>
          </p:cNvPr>
          <p:cNvPicPr>
            <a:picLocks noChangeAspect="1"/>
          </p:cNvPicPr>
          <p:nvPr/>
        </p:nvPicPr>
        <p:blipFill>
          <a:blip r:embed="rId2"/>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F2364980-0C7E-C22A-07BD-C608769E3E13}"/>
              </a:ext>
            </a:extLst>
          </p:cNvPr>
          <p:cNvPicPr>
            <a:picLocks noChangeAspect="1"/>
          </p:cNvPicPr>
          <p:nvPr/>
        </p:nvPicPr>
        <p:blipFill>
          <a:blip r:embed="rId2"/>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066D6284-FB3A-D137-EFBB-0D72DBC357C8}"/>
              </a:ext>
            </a:extLst>
          </p:cNvPr>
          <p:cNvPicPr>
            <a:picLocks noChangeAspect="1"/>
          </p:cNvPicPr>
          <p:nvPr/>
        </p:nvPicPr>
        <p:blipFill>
          <a:blip r:embed="rId2"/>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656AA477-74D6-2936-5FBD-0521C4EC4511}"/>
              </a:ext>
            </a:extLst>
          </p:cNvPr>
          <p:cNvPicPr>
            <a:picLocks noChangeAspect="1"/>
          </p:cNvPicPr>
          <p:nvPr/>
        </p:nvPicPr>
        <p:blipFill>
          <a:blip r:embed="rId2"/>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6E416E5B-9ABB-AABD-87E4-39F9769FF9EE}"/>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sp>
        <p:nvSpPr>
          <p:cNvPr id="3" name="Slide Number Placeholder 2">
            <a:extLst>
              <a:ext uri="{FF2B5EF4-FFF2-40B4-BE49-F238E27FC236}">
                <a16:creationId xmlns:a16="http://schemas.microsoft.com/office/drawing/2014/main" id="{20629D03-1039-BB99-E299-C01198BC7006}"/>
              </a:ext>
            </a:extLst>
          </p:cNvPr>
          <p:cNvSpPr>
            <a:spLocks noGrp="1"/>
          </p:cNvSpPr>
          <p:nvPr>
            <p:ph type="sldNum" sz="quarter" idx="12"/>
          </p:nvPr>
        </p:nvSpPr>
        <p:spPr/>
        <p:txBody>
          <a:bodyPr/>
          <a:lstStyle/>
          <a:p>
            <a:fld id="{4544B810-10F2-2E49-94DF-FA7BE986B6B9}" type="slidenum">
              <a:rPr lang="en-US" smtClean="0"/>
              <a:t>6</a:t>
            </a:fld>
            <a:endParaRPr lang="en-US"/>
          </a:p>
        </p:txBody>
      </p:sp>
    </p:spTree>
    <p:extLst>
      <p:ext uri="{BB962C8B-B14F-4D97-AF65-F5344CB8AC3E}">
        <p14:creationId xmlns:p14="http://schemas.microsoft.com/office/powerpoint/2010/main" val="2588403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05ACF-834C-B377-75D0-A33D09A06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B017C-2B32-731D-1782-151295DB844E}"/>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4DE1F440-B513-CE8B-5F6C-90456F125029}"/>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293CD1A6-714E-91AF-2E5E-D69BE7AC685E}"/>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9183C96F-140A-EFF5-655A-2CBD3545C549}"/>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5A91470D-93C5-CC86-BBE0-7AA35124552E}"/>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011BA261-A705-DB56-930D-A1BA9901FF95}"/>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9FD0F8AB-4A3A-BD79-AD95-1A810F86D232}"/>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2306E87B-D709-58C2-A6A9-F3F5220CA36C}"/>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44" name="Picture 43">
            <a:extLst>
              <a:ext uri="{FF2B5EF4-FFF2-40B4-BE49-F238E27FC236}">
                <a16:creationId xmlns:a16="http://schemas.microsoft.com/office/drawing/2014/main" id="{245E2F8C-F1D1-9713-79F2-6602E748AB71}"/>
              </a:ext>
            </a:extLst>
          </p:cNvPr>
          <p:cNvPicPr>
            <a:picLocks noChangeAspect="1"/>
          </p:cNvPicPr>
          <p:nvPr/>
        </p:nvPicPr>
        <p:blipFill>
          <a:blip r:embed="rId2"/>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78096B1B-DEAA-4828-E4B5-88BBC1D7588E}"/>
              </a:ext>
            </a:extLst>
          </p:cNvPr>
          <p:cNvPicPr>
            <a:picLocks noChangeAspect="1"/>
          </p:cNvPicPr>
          <p:nvPr/>
        </p:nvPicPr>
        <p:blipFill>
          <a:blip r:embed="rId2"/>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2584781A-1620-BEE7-20BA-91168B0D4967}"/>
              </a:ext>
            </a:extLst>
          </p:cNvPr>
          <p:cNvPicPr>
            <a:picLocks noChangeAspect="1"/>
          </p:cNvPicPr>
          <p:nvPr/>
        </p:nvPicPr>
        <p:blipFill>
          <a:blip r:embed="rId2"/>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A0B9EEC8-49E7-ECC0-3720-D2D92270FFBC}"/>
              </a:ext>
            </a:extLst>
          </p:cNvPr>
          <p:cNvPicPr>
            <a:picLocks noChangeAspect="1"/>
          </p:cNvPicPr>
          <p:nvPr/>
        </p:nvPicPr>
        <p:blipFill>
          <a:blip r:embed="rId2"/>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B9837911-99FF-B006-B6BE-9F82B21C9685}"/>
              </a:ext>
            </a:extLst>
          </p:cNvPr>
          <p:cNvPicPr>
            <a:picLocks noChangeAspect="1"/>
          </p:cNvPicPr>
          <p:nvPr/>
        </p:nvPicPr>
        <p:blipFill>
          <a:blip r:embed="rId2"/>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56881C24-FE21-6A8F-AAF7-DF75494EAC3E}"/>
              </a:ext>
            </a:extLst>
          </p:cNvPr>
          <p:cNvPicPr>
            <a:picLocks noChangeAspect="1"/>
          </p:cNvPicPr>
          <p:nvPr/>
        </p:nvPicPr>
        <p:blipFill>
          <a:blip r:embed="rId2"/>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3624731B-66F6-5691-9B2A-94643FF5DF44}"/>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pic>
        <p:nvPicPr>
          <p:cNvPr id="3" name="Picture 2" descr="BONDIS Wall clock - orange 38 cm">
            <a:extLst>
              <a:ext uri="{FF2B5EF4-FFF2-40B4-BE49-F238E27FC236}">
                <a16:creationId xmlns:a16="http://schemas.microsoft.com/office/drawing/2014/main" id="{D253B055-D563-0360-891F-36DA08630F1E}"/>
              </a:ext>
            </a:extLst>
          </p:cNvPr>
          <p:cNvPicPr>
            <a:picLocks noChangeAspect="1"/>
          </p:cNvPicPr>
          <p:nvPr/>
        </p:nvPicPr>
        <p:blipFill>
          <a:blip r:embed="rId3"/>
          <a:stretch>
            <a:fillRect/>
          </a:stretch>
        </p:blipFill>
        <p:spPr>
          <a:xfrm>
            <a:off x="1875856" y="3452674"/>
            <a:ext cx="2693634" cy="2693634"/>
          </a:xfrm>
          <a:prstGeom prst="rect">
            <a:avLst/>
          </a:prstGeom>
        </p:spPr>
      </p:pic>
      <p:sp>
        <p:nvSpPr>
          <p:cNvPr id="4" name="TextBox 3">
            <a:extLst>
              <a:ext uri="{FF2B5EF4-FFF2-40B4-BE49-F238E27FC236}">
                <a16:creationId xmlns:a16="http://schemas.microsoft.com/office/drawing/2014/main" id="{EEF42534-88F5-73EF-4518-9D50AEE8DE67}"/>
              </a:ext>
            </a:extLst>
          </p:cNvPr>
          <p:cNvSpPr txBox="1"/>
          <p:nvPr/>
        </p:nvSpPr>
        <p:spPr>
          <a:xfrm>
            <a:off x="8208579" y="3237186"/>
            <a:ext cx="2007606" cy="830997"/>
          </a:xfrm>
          <a:prstGeom prst="rect">
            <a:avLst/>
          </a:prstGeom>
          <a:noFill/>
        </p:spPr>
        <p:txBody>
          <a:bodyPr wrap="square" rtlCol="0">
            <a:spAutoFit/>
          </a:bodyPr>
          <a:lstStyle/>
          <a:p>
            <a:pPr algn="ctr"/>
            <a:r>
              <a:rPr lang="en-US" sz="2400" b="1" dirty="0">
                <a:solidFill>
                  <a:srgbClr val="D35524"/>
                </a:solidFill>
              </a:rPr>
              <a:t>TRAINING TIME</a:t>
            </a:r>
          </a:p>
        </p:txBody>
      </p:sp>
      <p:sp>
        <p:nvSpPr>
          <p:cNvPr id="13" name="Slide Number Placeholder 12">
            <a:extLst>
              <a:ext uri="{FF2B5EF4-FFF2-40B4-BE49-F238E27FC236}">
                <a16:creationId xmlns:a16="http://schemas.microsoft.com/office/drawing/2014/main" id="{BC447EFE-5350-965E-34EB-59D3BCD0D482}"/>
              </a:ext>
            </a:extLst>
          </p:cNvPr>
          <p:cNvSpPr>
            <a:spLocks noGrp="1"/>
          </p:cNvSpPr>
          <p:nvPr>
            <p:ph type="sldNum" sz="quarter" idx="12"/>
          </p:nvPr>
        </p:nvSpPr>
        <p:spPr/>
        <p:txBody>
          <a:bodyPr/>
          <a:lstStyle/>
          <a:p>
            <a:fld id="{4544B810-10F2-2E49-94DF-FA7BE986B6B9}" type="slidenum">
              <a:rPr lang="en-US" smtClean="0"/>
              <a:t>7</a:t>
            </a:fld>
            <a:endParaRPr lang="en-US"/>
          </a:p>
        </p:txBody>
      </p:sp>
    </p:spTree>
    <p:extLst>
      <p:ext uri="{BB962C8B-B14F-4D97-AF65-F5344CB8AC3E}">
        <p14:creationId xmlns:p14="http://schemas.microsoft.com/office/powerpoint/2010/main" val="960957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014B0-91F8-C789-35F3-FC09515D50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C94E1-0370-102A-C4A1-B1CD4259A387}"/>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37AABC63-D505-1B06-E38B-4CB475DC8AF7}"/>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EBDEF272-650B-1989-7855-F66935605755}"/>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p>
        </p:txBody>
      </p:sp>
      <p:sp>
        <p:nvSpPr>
          <p:cNvPr id="7" name="Rectangle 6">
            <a:extLst>
              <a:ext uri="{FF2B5EF4-FFF2-40B4-BE49-F238E27FC236}">
                <a16:creationId xmlns:a16="http://schemas.microsoft.com/office/drawing/2014/main" id="{7F3EE31F-4E31-AFAF-AB4F-E6EFA402E454}"/>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8" name="Rectangle 7">
            <a:extLst>
              <a:ext uri="{FF2B5EF4-FFF2-40B4-BE49-F238E27FC236}">
                <a16:creationId xmlns:a16="http://schemas.microsoft.com/office/drawing/2014/main" id="{9D459762-651F-A4B8-01B1-7E1A0F35C6A5}"/>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10" name="Rectangle 9">
            <a:extLst>
              <a:ext uri="{FF2B5EF4-FFF2-40B4-BE49-F238E27FC236}">
                <a16:creationId xmlns:a16="http://schemas.microsoft.com/office/drawing/2014/main" id="{6908DCF2-7696-F18B-E9AA-DBFF4F63FF2F}"/>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p>
        </p:txBody>
      </p:sp>
      <p:sp>
        <p:nvSpPr>
          <p:cNvPr id="11" name="Rectangle 10">
            <a:extLst>
              <a:ext uri="{FF2B5EF4-FFF2-40B4-BE49-F238E27FC236}">
                <a16:creationId xmlns:a16="http://schemas.microsoft.com/office/drawing/2014/main" id="{99DA0B45-719C-F611-6B76-D6A1DFC67561}"/>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p>
        </p:txBody>
      </p:sp>
      <p:sp>
        <p:nvSpPr>
          <p:cNvPr id="12" name="Rectangle 11">
            <a:extLst>
              <a:ext uri="{FF2B5EF4-FFF2-40B4-BE49-F238E27FC236}">
                <a16:creationId xmlns:a16="http://schemas.microsoft.com/office/drawing/2014/main" id="{FA3CE543-A6FB-775D-DB4F-38F3F7CE6FB7}"/>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pic>
        <p:nvPicPr>
          <p:cNvPr id="44" name="Picture 43">
            <a:extLst>
              <a:ext uri="{FF2B5EF4-FFF2-40B4-BE49-F238E27FC236}">
                <a16:creationId xmlns:a16="http://schemas.microsoft.com/office/drawing/2014/main" id="{5319D6FB-E4FC-0DC5-C6ED-B5813C7C5D0E}"/>
              </a:ext>
            </a:extLst>
          </p:cNvPr>
          <p:cNvPicPr>
            <a:picLocks noChangeAspect="1"/>
          </p:cNvPicPr>
          <p:nvPr/>
        </p:nvPicPr>
        <p:blipFill>
          <a:blip r:embed="rId2">
            <a:duotone>
              <a:schemeClr val="accent2">
                <a:shade val="45000"/>
                <a:satMod val="135000"/>
              </a:schemeClr>
              <a:prstClr val="white"/>
            </a:duotone>
          </a:blip>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CA9A22DB-1F86-AEA5-D57E-3722153D7A02}"/>
              </a:ext>
            </a:extLst>
          </p:cNvPr>
          <p:cNvPicPr>
            <a:picLocks noChangeAspect="1"/>
          </p:cNvPicPr>
          <p:nvPr/>
        </p:nvPicPr>
        <p:blipFill>
          <a:blip r:embed="rId2">
            <a:duotone>
              <a:schemeClr val="accent2">
                <a:shade val="45000"/>
                <a:satMod val="135000"/>
              </a:schemeClr>
              <a:prstClr val="white"/>
            </a:duotone>
          </a:blip>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2F577334-00E0-4478-D0F9-00C8C65282DC}"/>
              </a:ext>
            </a:extLst>
          </p:cNvPr>
          <p:cNvPicPr>
            <a:picLocks noChangeAspect="1"/>
          </p:cNvPicPr>
          <p:nvPr/>
        </p:nvPicPr>
        <p:blipFill>
          <a:blip r:embed="rId2">
            <a:duotone>
              <a:schemeClr val="accent2">
                <a:shade val="45000"/>
                <a:satMod val="135000"/>
              </a:schemeClr>
              <a:prstClr val="white"/>
            </a:duotone>
          </a:blip>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10379927-AB79-255D-75F6-372B7D483F54}"/>
              </a:ext>
            </a:extLst>
          </p:cNvPr>
          <p:cNvPicPr>
            <a:picLocks noChangeAspect="1"/>
          </p:cNvPicPr>
          <p:nvPr/>
        </p:nvPicPr>
        <p:blipFill>
          <a:blip r:embed="rId2">
            <a:duotone>
              <a:schemeClr val="accent2">
                <a:shade val="45000"/>
                <a:satMod val="135000"/>
              </a:schemeClr>
              <a:prstClr val="white"/>
            </a:duotone>
          </a:blip>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34A9F0EB-A4C7-D97C-DCCB-487FC6A5D70F}"/>
              </a:ext>
            </a:extLst>
          </p:cNvPr>
          <p:cNvPicPr>
            <a:picLocks noChangeAspect="1"/>
          </p:cNvPicPr>
          <p:nvPr/>
        </p:nvPicPr>
        <p:blipFill>
          <a:blip r:embed="rId2">
            <a:duotone>
              <a:schemeClr val="accent2">
                <a:shade val="45000"/>
                <a:satMod val="135000"/>
              </a:schemeClr>
              <a:prstClr val="white"/>
            </a:duotone>
          </a:blip>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0B3DFD00-E6AE-BF72-5BCA-008364140AE2}"/>
              </a:ext>
            </a:extLst>
          </p:cNvPr>
          <p:cNvPicPr>
            <a:picLocks noChangeAspect="1"/>
          </p:cNvPicPr>
          <p:nvPr/>
        </p:nvPicPr>
        <p:blipFill>
          <a:blip r:embed="rId2">
            <a:duotone>
              <a:schemeClr val="accent2">
                <a:shade val="45000"/>
                <a:satMod val="135000"/>
              </a:schemeClr>
              <a:prstClr val="white"/>
            </a:duotone>
          </a:blip>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79896BB9-521F-9949-5611-3547A305D0C7}"/>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pic>
        <p:nvPicPr>
          <p:cNvPr id="13" name="Picture 12" descr="BONDIS Wall clock - orange 38 cm">
            <a:extLst>
              <a:ext uri="{FF2B5EF4-FFF2-40B4-BE49-F238E27FC236}">
                <a16:creationId xmlns:a16="http://schemas.microsoft.com/office/drawing/2014/main" id="{6FBB4FD2-8AE6-4182-7A1D-62E2A5E59EDA}"/>
              </a:ext>
            </a:extLst>
          </p:cNvPr>
          <p:cNvPicPr>
            <a:picLocks noChangeAspect="1"/>
          </p:cNvPicPr>
          <p:nvPr/>
        </p:nvPicPr>
        <p:blipFill>
          <a:blip r:embed="rId3">
            <a:duotone>
              <a:schemeClr val="accent4">
                <a:shade val="45000"/>
                <a:satMod val="135000"/>
              </a:schemeClr>
              <a:prstClr val="white"/>
            </a:duotone>
          </a:blip>
          <a:stretch>
            <a:fillRect/>
          </a:stretch>
        </p:blipFill>
        <p:spPr>
          <a:xfrm>
            <a:off x="1875856" y="3452674"/>
            <a:ext cx="2693634" cy="2693634"/>
          </a:xfrm>
          <a:prstGeom prst="rect">
            <a:avLst/>
          </a:prstGeom>
        </p:spPr>
      </p:pic>
      <p:sp>
        <p:nvSpPr>
          <p:cNvPr id="14" name="TextBox 13">
            <a:extLst>
              <a:ext uri="{FF2B5EF4-FFF2-40B4-BE49-F238E27FC236}">
                <a16:creationId xmlns:a16="http://schemas.microsoft.com/office/drawing/2014/main" id="{1CC6C3D6-69D0-18DE-877A-6AD8B32EF066}"/>
              </a:ext>
            </a:extLst>
          </p:cNvPr>
          <p:cNvSpPr txBox="1"/>
          <p:nvPr/>
        </p:nvSpPr>
        <p:spPr>
          <a:xfrm>
            <a:off x="8021214" y="3250688"/>
            <a:ext cx="2494197" cy="830997"/>
          </a:xfrm>
          <a:prstGeom prst="rect">
            <a:avLst/>
          </a:prstGeom>
          <a:noFill/>
        </p:spPr>
        <p:txBody>
          <a:bodyPr wrap="square" rtlCol="0">
            <a:spAutoFit/>
          </a:bodyPr>
          <a:lstStyle/>
          <a:p>
            <a:pPr algn="ctr"/>
            <a:r>
              <a:rPr lang="en-US" sz="2400" b="1" dirty="0">
                <a:solidFill>
                  <a:srgbClr val="6DB2D2"/>
                </a:solidFill>
              </a:rPr>
              <a:t>COORDINATION TIME</a:t>
            </a:r>
          </a:p>
        </p:txBody>
      </p:sp>
      <p:sp>
        <p:nvSpPr>
          <p:cNvPr id="3" name="Slide Number Placeholder 2">
            <a:extLst>
              <a:ext uri="{FF2B5EF4-FFF2-40B4-BE49-F238E27FC236}">
                <a16:creationId xmlns:a16="http://schemas.microsoft.com/office/drawing/2014/main" id="{CCF2DBE5-6F91-C605-154E-49C6E753EBAE}"/>
              </a:ext>
            </a:extLst>
          </p:cNvPr>
          <p:cNvSpPr>
            <a:spLocks noGrp="1"/>
          </p:cNvSpPr>
          <p:nvPr>
            <p:ph type="sldNum" sz="quarter" idx="12"/>
          </p:nvPr>
        </p:nvSpPr>
        <p:spPr/>
        <p:txBody>
          <a:bodyPr/>
          <a:lstStyle/>
          <a:p>
            <a:fld id="{4544B810-10F2-2E49-94DF-FA7BE986B6B9}" type="slidenum">
              <a:rPr lang="en-US" smtClean="0"/>
              <a:t>8</a:t>
            </a:fld>
            <a:endParaRPr lang="en-US"/>
          </a:p>
        </p:txBody>
      </p:sp>
    </p:spTree>
    <p:extLst>
      <p:ext uri="{BB962C8B-B14F-4D97-AF65-F5344CB8AC3E}">
        <p14:creationId xmlns:p14="http://schemas.microsoft.com/office/powerpoint/2010/main" val="555999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FB4F3-5A4F-B7CC-107D-7A884B39D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700AE-899D-3B59-AE62-0DD85AE512E7}"/>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F9CE072F-DBAC-DABB-B0F1-37CDCA76FF9B}"/>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0F3D40C2-D9BA-F8C1-F436-A24E36E3AD72}"/>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p>
        </p:txBody>
      </p:sp>
      <p:sp>
        <p:nvSpPr>
          <p:cNvPr id="7" name="Rectangle 6">
            <a:extLst>
              <a:ext uri="{FF2B5EF4-FFF2-40B4-BE49-F238E27FC236}">
                <a16:creationId xmlns:a16="http://schemas.microsoft.com/office/drawing/2014/main" id="{F95828C1-ECA2-CFDA-76AB-8EB363C12347}"/>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8" name="Rectangle 7">
            <a:extLst>
              <a:ext uri="{FF2B5EF4-FFF2-40B4-BE49-F238E27FC236}">
                <a16:creationId xmlns:a16="http://schemas.microsoft.com/office/drawing/2014/main" id="{4D2C493C-F499-DCDB-F526-F45BFDA74981}"/>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10" name="Rectangle 9">
            <a:extLst>
              <a:ext uri="{FF2B5EF4-FFF2-40B4-BE49-F238E27FC236}">
                <a16:creationId xmlns:a16="http://schemas.microsoft.com/office/drawing/2014/main" id="{1444C4D0-B086-1AD9-B5A2-F9D5BD6A1D0C}"/>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p>
        </p:txBody>
      </p:sp>
      <p:sp>
        <p:nvSpPr>
          <p:cNvPr id="11" name="Rectangle 10">
            <a:extLst>
              <a:ext uri="{FF2B5EF4-FFF2-40B4-BE49-F238E27FC236}">
                <a16:creationId xmlns:a16="http://schemas.microsoft.com/office/drawing/2014/main" id="{647BE119-4A04-FD50-1518-F919A91AD260}"/>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p>
        </p:txBody>
      </p:sp>
      <p:sp>
        <p:nvSpPr>
          <p:cNvPr id="12" name="Rectangle 11">
            <a:extLst>
              <a:ext uri="{FF2B5EF4-FFF2-40B4-BE49-F238E27FC236}">
                <a16:creationId xmlns:a16="http://schemas.microsoft.com/office/drawing/2014/main" id="{8F70C2DB-4F61-8A65-AB68-9E69DD566413}"/>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pic>
        <p:nvPicPr>
          <p:cNvPr id="44" name="Picture 43">
            <a:extLst>
              <a:ext uri="{FF2B5EF4-FFF2-40B4-BE49-F238E27FC236}">
                <a16:creationId xmlns:a16="http://schemas.microsoft.com/office/drawing/2014/main" id="{0A18821B-9CAD-E96B-E5E0-7AB9C1F82640}"/>
              </a:ext>
            </a:extLst>
          </p:cNvPr>
          <p:cNvPicPr>
            <a:picLocks noChangeAspect="1"/>
          </p:cNvPicPr>
          <p:nvPr/>
        </p:nvPicPr>
        <p:blipFill>
          <a:blip r:embed="rId2">
            <a:duotone>
              <a:schemeClr val="accent2">
                <a:shade val="45000"/>
                <a:satMod val="135000"/>
              </a:schemeClr>
              <a:prstClr val="white"/>
            </a:duotone>
          </a:blip>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93BB35AD-3360-87C4-4B91-75E568DC2DCC}"/>
              </a:ext>
            </a:extLst>
          </p:cNvPr>
          <p:cNvPicPr>
            <a:picLocks noChangeAspect="1"/>
          </p:cNvPicPr>
          <p:nvPr/>
        </p:nvPicPr>
        <p:blipFill>
          <a:blip r:embed="rId2">
            <a:duotone>
              <a:schemeClr val="accent2">
                <a:shade val="45000"/>
                <a:satMod val="135000"/>
              </a:schemeClr>
              <a:prstClr val="white"/>
            </a:duotone>
          </a:blip>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2848DC1C-6F87-EA3D-CDF2-CE3287A01137}"/>
              </a:ext>
            </a:extLst>
          </p:cNvPr>
          <p:cNvPicPr>
            <a:picLocks noChangeAspect="1"/>
          </p:cNvPicPr>
          <p:nvPr/>
        </p:nvPicPr>
        <p:blipFill>
          <a:blip r:embed="rId2">
            <a:duotone>
              <a:schemeClr val="accent2">
                <a:shade val="45000"/>
                <a:satMod val="135000"/>
              </a:schemeClr>
              <a:prstClr val="white"/>
            </a:duotone>
          </a:blip>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616572EB-CCED-A315-E04D-5DB5B1C4FD94}"/>
              </a:ext>
            </a:extLst>
          </p:cNvPr>
          <p:cNvPicPr>
            <a:picLocks noChangeAspect="1"/>
          </p:cNvPicPr>
          <p:nvPr/>
        </p:nvPicPr>
        <p:blipFill>
          <a:blip r:embed="rId2">
            <a:duotone>
              <a:schemeClr val="accent2">
                <a:shade val="45000"/>
                <a:satMod val="135000"/>
              </a:schemeClr>
              <a:prstClr val="white"/>
            </a:duotone>
          </a:blip>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D7310960-2168-CDFC-05B9-4923A398539C}"/>
              </a:ext>
            </a:extLst>
          </p:cNvPr>
          <p:cNvPicPr>
            <a:picLocks noChangeAspect="1"/>
          </p:cNvPicPr>
          <p:nvPr/>
        </p:nvPicPr>
        <p:blipFill>
          <a:blip r:embed="rId2">
            <a:duotone>
              <a:schemeClr val="accent2">
                <a:shade val="45000"/>
                <a:satMod val="135000"/>
              </a:schemeClr>
              <a:prstClr val="white"/>
            </a:duotone>
          </a:blip>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1BF9B2BF-CA1F-1708-11D0-6E13A96D1691}"/>
              </a:ext>
            </a:extLst>
          </p:cNvPr>
          <p:cNvPicPr>
            <a:picLocks noChangeAspect="1"/>
          </p:cNvPicPr>
          <p:nvPr/>
        </p:nvPicPr>
        <p:blipFill>
          <a:blip r:embed="rId2">
            <a:duotone>
              <a:schemeClr val="accent2">
                <a:shade val="45000"/>
                <a:satMod val="135000"/>
              </a:schemeClr>
              <a:prstClr val="white"/>
            </a:duotone>
          </a:blip>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9C4215FC-0F69-3C71-9516-C07DDCB04A1C}"/>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pic>
        <p:nvPicPr>
          <p:cNvPr id="13" name="Picture 12" descr="BONDIS Wall clock - orange 38 cm">
            <a:extLst>
              <a:ext uri="{FF2B5EF4-FFF2-40B4-BE49-F238E27FC236}">
                <a16:creationId xmlns:a16="http://schemas.microsoft.com/office/drawing/2014/main" id="{1B9E5CC3-28EA-EA44-B802-ACDC9109CD90}"/>
              </a:ext>
            </a:extLst>
          </p:cNvPr>
          <p:cNvPicPr>
            <a:picLocks noChangeAspect="1"/>
          </p:cNvPicPr>
          <p:nvPr/>
        </p:nvPicPr>
        <p:blipFill>
          <a:blip r:embed="rId3">
            <a:duotone>
              <a:schemeClr val="accent4">
                <a:shade val="45000"/>
                <a:satMod val="135000"/>
              </a:schemeClr>
              <a:prstClr val="white"/>
            </a:duotone>
          </a:blip>
          <a:stretch>
            <a:fillRect/>
          </a:stretch>
        </p:blipFill>
        <p:spPr>
          <a:xfrm>
            <a:off x="1875856" y="3452674"/>
            <a:ext cx="2693634" cy="2693634"/>
          </a:xfrm>
          <a:prstGeom prst="rect">
            <a:avLst/>
          </a:prstGeom>
        </p:spPr>
      </p:pic>
      <p:sp>
        <p:nvSpPr>
          <p:cNvPr id="14" name="TextBox 13">
            <a:extLst>
              <a:ext uri="{FF2B5EF4-FFF2-40B4-BE49-F238E27FC236}">
                <a16:creationId xmlns:a16="http://schemas.microsoft.com/office/drawing/2014/main" id="{517E5912-89C1-145D-4289-EF667059806D}"/>
              </a:ext>
            </a:extLst>
          </p:cNvPr>
          <p:cNvSpPr txBox="1"/>
          <p:nvPr/>
        </p:nvSpPr>
        <p:spPr>
          <a:xfrm>
            <a:off x="8021214" y="3250688"/>
            <a:ext cx="2494197" cy="830997"/>
          </a:xfrm>
          <a:prstGeom prst="rect">
            <a:avLst/>
          </a:prstGeom>
          <a:noFill/>
        </p:spPr>
        <p:txBody>
          <a:bodyPr wrap="square" rtlCol="0">
            <a:spAutoFit/>
          </a:bodyPr>
          <a:lstStyle/>
          <a:p>
            <a:pPr algn="ctr"/>
            <a:r>
              <a:rPr lang="en-US" sz="2400" b="1" dirty="0">
                <a:solidFill>
                  <a:srgbClr val="6DB2D2"/>
                </a:solidFill>
              </a:rPr>
              <a:t>COORDINATION TIME</a:t>
            </a:r>
          </a:p>
        </p:txBody>
      </p:sp>
      <p:sp>
        <p:nvSpPr>
          <p:cNvPr id="3" name="Oval 2">
            <a:extLst>
              <a:ext uri="{FF2B5EF4-FFF2-40B4-BE49-F238E27FC236}">
                <a16:creationId xmlns:a16="http://schemas.microsoft.com/office/drawing/2014/main" id="{9CC841AE-6EBD-FE7C-9FCF-776E07FFD22E}"/>
              </a:ext>
            </a:extLst>
          </p:cNvPr>
          <p:cNvSpPr/>
          <p:nvPr/>
        </p:nvSpPr>
        <p:spPr>
          <a:xfrm>
            <a:off x="6783186" y="935421"/>
            <a:ext cx="3784231" cy="2469981"/>
          </a:xfrm>
          <a:prstGeom prst="ellipse">
            <a:avLst/>
          </a:prstGeom>
          <a:noFill/>
          <a:ln w="3810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63E1C29B-0CA3-0B3F-D2C9-B109C9250467}"/>
              </a:ext>
            </a:extLst>
          </p:cNvPr>
          <p:cNvCxnSpPr>
            <a:cxnSpLocks/>
            <a:stCxn id="3" idx="0"/>
            <a:endCxn id="16" idx="0"/>
          </p:cNvCxnSpPr>
          <p:nvPr/>
        </p:nvCxnSpPr>
        <p:spPr>
          <a:xfrm flipH="1" flipV="1">
            <a:off x="3416117" y="280729"/>
            <a:ext cx="5259185" cy="654692"/>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EEE7AA7D-B8E7-550B-2E99-36CEDB306E2C}"/>
              </a:ext>
            </a:extLst>
          </p:cNvPr>
          <p:cNvCxnSpPr>
            <a:cxnSpLocks/>
            <a:endCxn id="16" idx="4"/>
          </p:cNvCxnSpPr>
          <p:nvPr/>
        </p:nvCxnSpPr>
        <p:spPr>
          <a:xfrm flipH="1">
            <a:off x="3416117" y="3393181"/>
            <a:ext cx="5488199" cy="3007619"/>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Oval 15">
            <a:extLst>
              <a:ext uri="{FF2B5EF4-FFF2-40B4-BE49-F238E27FC236}">
                <a16:creationId xmlns:a16="http://schemas.microsoft.com/office/drawing/2014/main" id="{5E66DD1A-53C1-B456-D1DC-5BEE6ED2DB18}"/>
              </a:ext>
            </a:extLst>
          </p:cNvPr>
          <p:cNvSpPr/>
          <p:nvPr/>
        </p:nvSpPr>
        <p:spPr>
          <a:xfrm>
            <a:off x="221673" y="280729"/>
            <a:ext cx="6388887" cy="6120071"/>
          </a:xfrm>
          <a:prstGeom prst="ellipse">
            <a:avLst/>
          </a:prstGeom>
          <a:solidFill>
            <a:schemeClr val="accent3">
              <a:lumMod val="20000"/>
              <a:lumOff val="80000"/>
            </a:schemeClr>
          </a:solidFill>
          <a:ln w="3810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5BD82CC2-7588-2158-769B-4588F80725C8}"/>
              </a:ext>
            </a:extLst>
          </p:cNvPr>
          <p:cNvSpPr/>
          <p:nvPr/>
        </p:nvSpPr>
        <p:spPr>
          <a:xfrm>
            <a:off x="974895" y="3070288"/>
            <a:ext cx="814648" cy="76477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24" name="Rectangle 23">
            <a:extLst>
              <a:ext uri="{FF2B5EF4-FFF2-40B4-BE49-F238E27FC236}">
                <a16:creationId xmlns:a16="http://schemas.microsoft.com/office/drawing/2014/main" id="{07D21E76-B147-73BE-30C1-1C95D1730CFB}"/>
              </a:ext>
            </a:extLst>
          </p:cNvPr>
          <p:cNvSpPr/>
          <p:nvPr/>
        </p:nvSpPr>
        <p:spPr>
          <a:xfrm>
            <a:off x="4542706" y="3070288"/>
            <a:ext cx="814648" cy="76477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26" name="Straight Connector 25">
            <a:extLst>
              <a:ext uri="{FF2B5EF4-FFF2-40B4-BE49-F238E27FC236}">
                <a16:creationId xmlns:a16="http://schemas.microsoft.com/office/drawing/2014/main" id="{122EF3BF-F0A1-6831-CC6E-682F9AE89BB3}"/>
              </a:ext>
            </a:extLst>
          </p:cNvPr>
          <p:cNvCxnSpPr>
            <a:stCxn id="23" idx="3"/>
            <a:endCxn id="24" idx="1"/>
          </p:cNvCxnSpPr>
          <p:nvPr/>
        </p:nvCxnSpPr>
        <p:spPr>
          <a:xfrm>
            <a:off x="1789543" y="3452674"/>
            <a:ext cx="2753163" cy="0"/>
          </a:xfrm>
          <a:prstGeom prst="line">
            <a:avLst/>
          </a:prstGeom>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397FDFC5-755D-3987-5AEC-AC087161741D}"/>
              </a:ext>
            </a:extLst>
          </p:cNvPr>
          <p:cNvPicPr>
            <a:picLocks noChangeAspect="1"/>
          </p:cNvPicPr>
          <p:nvPr/>
        </p:nvPicPr>
        <p:blipFill>
          <a:blip r:embed="rId2">
            <a:duotone>
              <a:schemeClr val="accent2">
                <a:shade val="45000"/>
                <a:satMod val="135000"/>
              </a:schemeClr>
              <a:prstClr val="white"/>
            </a:duotone>
          </a:blip>
          <a:stretch/>
        </p:blipFill>
        <p:spPr>
          <a:xfrm>
            <a:off x="791802" y="3882693"/>
            <a:ext cx="2980940" cy="1644495"/>
          </a:xfrm>
          <a:prstGeom prst="rect">
            <a:avLst/>
          </a:prstGeom>
        </p:spPr>
      </p:pic>
      <p:pic>
        <p:nvPicPr>
          <p:cNvPr id="28" name="Picture 27">
            <a:extLst>
              <a:ext uri="{FF2B5EF4-FFF2-40B4-BE49-F238E27FC236}">
                <a16:creationId xmlns:a16="http://schemas.microsoft.com/office/drawing/2014/main" id="{9AFEB91A-4AB9-2238-26A4-A1432A5FE77D}"/>
              </a:ext>
            </a:extLst>
          </p:cNvPr>
          <p:cNvPicPr>
            <a:picLocks noChangeAspect="1"/>
          </p:cNvPicPr>
          <p:nvPr/>
        </p:nvPicPr>
        <p:blipFill>
          <a:blip r:embed="rId2">
            <a:duotone>
              <a:schemeClr val="accent5">
                <a:shade val="45000"/>
                <a:satMod val="135000"/>
              </a:schemeClr>
              <a:prstClr val="white"/>
            </a:duotone>
          </a:blip>
          <a:stretch/>
        </p:blipFill>
        <p:spPr>
          <a:xfrm>
            <a:off x="3704185" y="1640058"/>
            <a:ext cx="2422316" cy="1336319"/>
          </a:xfrm>
          <a:prstGeom prst="rect">
            <a:avLst/>
          </a:prstGeom>
        </p:spPr>
      </p:pic>
      <p:sp>
        <p:nvSpPr>
          <p:cNvPr id="4" name="Slide Number Placeholder 3">
            <a:extLst>
              <a:ext uri="{FF2B5EF4-FFF2-40B4-BE49-F238E27FC236}">
                <a16:creationId xmlns:a16="http://schemas.microsoft.com/office/drawing/2014/main" id="{F2164239-8EC2-02FA-479E-FAB599855671}"/>
              </a:ext>
            </a:extLst>
          </p:cNvPr>
          <p:cNvSpPr>
            <a:spLocks noGrp="1"/>
          </p:cNvSpPr>
          <p:nvPr>
            <p:ph type="sldNum" sz="quarter" idx="12"/>
          </p:nvPr>
        </p:nvSpPr>
        <p:spPr/>
        <p:txBody>
          <a:bodyPr/>
          <a:lstStyle/>
          <a:p>
            <a:fld id="{4544B810-10F2-2E49-94DF-FA7BE986B6B9}" type="slidenum">
              <a:rPr lang="en-US" smtClean="0"/>
              <a:t>9</a:t>
            </a:fld>
            <a:endParaRPr lang="en-US"/>
          </a:p>
        </p:txBody>
      </p:sp>
    </p:spTree>
    <p:extLst>
      <p:ext uri="{BB962C8B-B14F-4D97-AF65-F5344CB8AC3E}">
        <p14:creationId xmlns:p14="http://schemas.microsoft.com/office/powerpoint/2010/main" val="805117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E0267-CB22-D2B7-4D57-0F10DE24B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A7C3E-0759-513C-4FFA-0A440ED0B6E1}"/>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E90E891C-371A-15A6-B21E-ECCAAD6903F6}"/>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2490761B-0085-6DB3-B455-6E75FDB3C66A}"/>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p>
        </p:txBody>
      </p:sp>
      <p:sp>
        <p:nvSpPr>
          <p:cNvPr id="7" name="Rectangle 6">
            <a:extLst>
              <a:ext uri="{FF2B5EF4-FFF2-40B4-BE49-F238E27FC236}">
                <a16:creationId xmlns:a16="http://schemas.microsoft.com/office/drawing/2014/main" id="{C66646AE-9E68-F5CB-511C-5562D5E1F14D}"/>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8" name="Rectangle 7">
            <a:extLst>
              <a:ext uri="{FF2B5EF4-FFF2-40B4-BE49-F238E27FC236}">
                <a16:creationId xmlns:a16="http://schemas.microsoft.com/office/drawing/2014/main" id="{B09780BF-244A-C5CA-EAED-A62791BBE922}"/>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10" name="Rectangle 9">
            <a:extLst>
              <a:ext uri="{FF2B5EF4-FFF2-40B4-BE49-F238E27FC236}">
                <a16:creationId xmlns:a16="http://schemas.microsoft.com/office/drawing/2014/main" id="{A0CFE1FC-1D77-4B7A-3C92-7A8B7BFD4878}"/>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p>
        </p:txBody>
      </p:sp>
      <p:sp>
        <p:nvSpPr>
          <p:cNvPr id="11" name="Rectangle 10">
            <a:extLst>
              <a:ext uri="{FF2B5EF4-FFF2-40B4-BE49-F238E27FC236}">
                <a16:creationId xmlns:a16="http://schemas.microsoft.com/office/drawing/2014/main" id="{823F6C6E-574E-AD56-29C9-D6E93A05E353}"/>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p>
        </p:txBody>
      </p:sp>
      <p:sp>
        <p:nvSpPr>
          <p:cNvPr id="12" name="Rectangle 11">
            <a:extLst>
              <a:ext uri="{FF2B5EF4-FFF2-40B4-BE49-F238E27FC236}">
                <a16:creationId xmlns:a16="http://schemas.microsoft.com/office/drawing/2014/main" id="{77FFCB70-D5F8-F50C-0297-0B19B57619FC}"/>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pic>
        <p:nvPicPr>
          <p:cNvPr id="44" name="Picture 43">
            <a:extLst>
              <a:ext uri="{FF2B5EF4-FFF2-40B4-BE49-F238E27FC236}">
                <a16:creationId xmlns:a16="http://schemas.microsoft.com/office/drawing/2014/main" id="{1A36FEB7-A820-ADAA-6375-E69CDBD40BB0}"/>
              </a:ext>
            </a:extLst>
          </p:cNvPr>
          <p:cNvPicPr>
            <a:picLocks noChangeAspect="1"/>
          </p:cNvPicPr>
          <p:nvPr/>
        </p:nvPicPr>
        <p:blipFill>
          <a:blip r:embed="rId2">
            <a:duotone>
              <a:schemeClr val="accent2">
                <a:shade val="45000"/>
                <a:satMod val="135000"/>
              </a:schemeClr>
              <a:prstClr val="white"/>
            </a:duotone>
          </a:blip>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56A21D12-1191-CC65-3DD3-CB8C7121949A}"/>
              </a:ext>
            </a:extLst>
          </p:cNvPr>
          <p:cNvPicPr>
            <a:picLocks noChangeAspect="1"/>
          </p:cNvPicPr>
          <p:nvPr/>
        </p:nvPicPr>
        <p:blipFill>
          <a:blip r:embed="rId2">
            <a:duotone>
              <a:schemeClr val="accent2">
                <a:shade val="45000"/>
                <a:satMod val="135000"/>
              </a:schemeClr>
              <a:prstClr val="white"/>
            </a:duotone>
          </a:blip>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674A591F-C31A-B328-AF16-D00689ED6FE6}"/>
              </a:ext>
            </a:extLst>
          </p:cNvPr>
          <p:cNvPicPr>
            <a:picLocks noChangeAspect="1"/>
          </p:cNvPicPr>
          <p:nvPr/>
        </p:nvPicPr>
        <p:blipFill>
          <a:blip r:embed="rId2">
            <a:duotone>
              <a:schemeClr val="accent2">
                <a:shade val="45000"/>
                <a:satMod val="135000"/>
              </a:schemeClr>
              <a:prstClr val="white"/>
            </a:duotone>
          </a:blip>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730D1D9B-F358-9C74-B398-FEBD226BC039}"/>
              </a:ext>
            </a:extLst>
          </p:cNvPr>
          <p:cNvPicPr>
            <a:picLocks noChangeAspect="1"/>
          </p:cNvPicPr>
          <p:nvPr/>
        </p:nvPicPr>
        <p:blipFill>
          <a:blip r:embed="rId2">
            <a:duotone>
              <a:schemeClr val="accent2">
                <a:shade val="45000"/>
                <a:satMod val="135000"/>
              </a:schemeClr>
              <a:prstClr val="white"/>
            </a:duotone>
          </a:blip>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52BC0683-6EA4-8071-42A4-FBBE4E6355CC}"/>
              </a:ext>
            </a:extLst>
          </p:cNvPr>
          <p:cNvPicPr>
            <a:picLocks noChangeAspect="1"/>
          </p:cNvPicPr>
          <p:nvPr/>
        </p:nvPicPr>
        <p:blipFill>
          <a:blip r:embed="rId2">
            <a:duotone>
              <a:schemeClr val="accent2">
                <a:shade val="45000"/>
                <a:satMod val="135000"/>
              </a:schemeClr>
              <a:prstClr val="white"/>
            </a:duotone>
          </a:blip>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E1FA5C76-5D4A-044B-693B-26C92D515593}"/>
              </a:ext>
            </a:extLst>
          </p:cNvPr>
          <p:cNvPicPr>
            <a:picLocks noChangeAspect="1"/>
          </p:cNvPicPr>
          <p:nvPr/>
        </p:nvPicPr>
        <p:blipFill>
          <a:blip r:embed="rId2">
            <a:duotone>
              <a:schemeClr val="accent2">
                <a:shade val="45000"/>
                <a:satMod val="135000"/>
              </a:schemeClr>
              <a:prstClr val="white"/>
            </a:duotone>
          </a:blip>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DC741F9E-A5BB-9E58-D700-4959A89C5567}"/>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pic>
        <p:nvPicPr>
          <p:cNvPr id="13" name="Picture 12" descr="BONDIS Wall clock - orange 38 cm">
            <a:extLst>
              <a:ext uri="{FF2B5EF4-FFF2-40B4-BE49-F238E27FC236}">
                <a16:creationId xmlns:a16="http://schemas.microsoft.com/office/drawing/2014/main" id="{D53BF52F-7C63-8AD6-1105-5F96B72C289A}"/>
              </a:ext>
            </a:extLst>
          </p:cNvPr>
          <p:cNvPicPr>
            <a:picLocks noChangeAspect="1"/>
          </p:cNvPicPr>
          <p:nvPr/>
        </p:nvPicPr>
        <p:blipFill>
          <a:blip r:embed="rId3">
            <a:duotone>
              <a:schemeClr val="accent4">
                <a:shade val="45000"/>
                <a:satMod val="135000"/>
              </a:schemeClr>
              <a:prstClr val="white"/>
            </a:duotone>
          </a:blip>
          <a:stretch>
            <a:fillRect/>
          </a:stretch>
        </p:blipFill>
        <p:spPr>
          <a:xfrm>
            <a:off x="1875856" y="3452674"/>
            <a:ext cx="2693634" cy="2693634"/>
          </a:xfrm>
          <a:prstGeom prst="rect">
            <a:avLst/>
          </a:prstGeom>
        </p:spPr>
      </p:pic>
      <p:sp>
        <p:nvSpPr>
          <p:cNvPr id="14" name="TextBox 13">
            <a:extLst>
              <a:ext uri="{FF2B5EF4-FFF2-40B4-BE49-F238E27FC236}">
                <a16:creationId xmlns:a16="http://schemas.microsoft.com/office/drawing/2014/main" id="{A2C1EE4A-5354-F42F-7C55-8DCDEB8F9E38}"/>
              </a:ext>
            </a:extLst>
          </p:cNvPr>
          <p:cNvSpPr txBox="1"/>
          <p:nvPr/>
        </p:nvSpPr>
        <p:spPr>
          <a:xfrm>
            <a:off x="8021214" y="3250688"/>
            <a:ext cx="2494197" cy="830997"/>
          </a:xfrm>
          <a:prstGeom prst="rect">
            <a:avLst/>
          </a:prstGeom>
          <a:noFill/>
        </p:spPr>
        <p:txBody>
          <a:bodyPr wrap="square" rtlCol="0">
            <a:spAutoFit/>
          </a:bodyPr>
          <a:lstStyle/>
          <a:p>
            <a:pPr algn="ctr"/>
            <a:r>
              <a:rPr lang="en-US" sz="2400" b="1" dirty="0">
                <a:solidFill>
                  <a:srgbClr val="6DB2D2"/>
                </a:solidFill>
              </a:rPr>
              <a:t>COORDINATION TIME</a:t>
            </a:r>
          </a:p>
        </p:txBody>
      </p:sp>
      <p:sp>
        <p:nvSpPr>
          <p:cNvPr id="3" name="Oval 2">
            <a:extLst>
              <a:ext uri="{FF2B5EF4-FFF2-40B4-BE49-F238E27FC236}">
                <a16:creationId xmlns:a16="http://schemas.microsoft.com/office/drawing/2014/main" id="{7B68FBF8-D2F0-E725-9C3B-9FD3A212BA3A}"/>
              </a:ext>
            </a:extLst>
          </p:cNvPr>
          <p:cNvSpPr/>
          <p:nvPr/>
        </p:nvSpPr>
        <p:spPr>
          <a:xfrm>
            <a:off x="6783186" y="935421"/>
            <a:ext cx="3784231" cy="2469981"/>
          </a:xfrm>
          <a:prstGeom prst="ellipse">
            <a:avLst/>
          </a:prstGeom>
          <a:noFill/>
          <a:ln w="3810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436901D-82E8-D799-1F0D-BA219C176D41}"/>
              </a:ext>
            </a:extLst>
          </p:cNvPr>
          <p:cNvCxnSpPr>
            <a:cxnSpLocks/>
            <a:stCxn id="3" idx="0"/>
            <a:endCxn id="16" idx="0"/>
          </p:cNvCxnSpPr>
          <p:nvPr/>
        </p:nvCxnSpPr>
        <p:spPr>
          <a:xfrm flipH="1" flipV="1">
            <a:off x="3498275" y="280729"/>
            <a:ext cx="5177027" cy="654692"/>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2477B6E0-03D0-8734-F14E-E1E96084F221}"/>
              </a:ext>
            </a:extLst>
          </p:cNvPr>
          <p:cNvCxnSpPr>
            <a:cxnSpLocks/>
            <a:endCxn id="16" idx="4"/>
          </p:cNvCxnSpPr>
          <p:nvPr/>
        </p:nvCxnSpPr>
        <p:spPr>
          <a:xfrm flipH="1">
            <a:off x="3498275" y="3393181"/>
            <a:ext cx="5488199" cy="3007619"/>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Oval 15">
            <a:extLst>
              <a:ext uri="{FF2B5EF4-FFF2-40B4-BE49-F238E27FC236}">
                <a16:creationId xmlns:a16="http://schemas.microsoft.com/office/drawing/2014/main" id="{D71564CC-0346-A37A-46E1-442BB18B22A3}"/>
              </a:ext>
            </a:extLst>
          </p:cNvPr>
          <p:cNvSpPr/>
          <p:nvPr/>
        </p:nvSpPr>
        <p:spPr>
          <a:xfrm>
            <a:off x="303831" y="280729"/>
            <a:ext cx="6388887" cy="6120071"/>
          </a:xfrm>
          <a:prstGeom prst="ellipse">
            <a:avLst/>
          </a:prstGeom>
          <a:solidFill>
            <a:schemeClr val="accent3">
              <a:lumMod val="20000"/>
              <a:lumOff val="80000"/>
            </a:schemeClr>
          </a:solidFill>
          <a:ln w="3810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A365908B-8FEE-B8B3-88F7-C50EAD1EAB62}"/>
              </a:ext>
            </a:extLst>
          </p:cNvPr>
          <p:cNvSpPr/>
          <p:nvPr/>
        </p:nvSpPr>
        <p:spPr>
          <a:xfrm>
            <a:off x="974895" y="3070288"/>
            <a:ext cx="814648" cy="76477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24" name="Rectangle 23">
            <a:extLst>
              <a:ext uri="{FF2B5EF4-FFF2-40B4-BE49-F238E27FC236}">
                <a16:creationId xmlns:a16="http://schemas.microsoft.com/office/drawing/2014/main" id="{60937E40-E5B6-FCA7-0CA2-08BB7AB20E20}"/>
              </a:ext>
            </a:extLst>
          </p:cNvPr>
          <p:cNvSpPr/>
          <p:nvPr/>
        </p:nvSpPr>
        <p:spPr>
          <a:xfrm>
            <a:off x="4542706" y="3070288"/>
            <a:ext cx="814648" cy="76477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26" name="Straight Connector 25">
            <a:extLst>
              <a:ext uri="{FF2B5EF4-FFF2-40B4-BE49-F238E27FC236}">
                <a16:creationId xmlns:a16="http://schemas.microsoft.com/office/drawing/2014/main" id="{1371241A-866F-2AAE-B1A4-A9A9FA122F86}"/>
              </a:ext>
            </a:extLst>
          </p:cNvPr>
          <p:cNvCxnSpPr>
            <a:stCxn id="23" idx="3"/>
            <a:endCxn id="24" idx="1"/>
          </p:cNvCxnSpPr>
          <p:nvPr/>
        </p:nvCxnSpPr>
        <p:spPr>
          <a:xfrm>
            <a:off x="1789543" y="3452674"/>
            <a:ext cx="2753163" cy="0"/>
          </a:xfrm>
          <a:prstGeom prst="line">
            <a:avLst/>
          </a:prstGeom>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6F15A305-1C81-9B55-0998-A6F15625A462}"/>
              </a:ext>
            </a:extLst>
          </p:cNvPr>
          <p:cNvPicPr>
            <a:picLocks noChangeAspect="1"/>
          </p:cNvPicPr>
          <p:nvPr/>
        </p:nvPicPr>
        <p:blipFill>
          <a:blip r:embed="rId2">
            <a:duotone>
              <a:schemeClr val="accent2">
                <a:shade val="45000"/>
                <a:satMod val="135000"/>
              </a:schemeClr>
              <a:prstClr val="white"/>
            </a:duotone>
          </a:blip>
          <a:stretch/>
        </p:blipFill>
        <p:spPr>
          <a:xfrm>
            <a:off x="791802" y="3882693"/>
            <a:ext cx="2980940" cy="1644495"/>
          </a:xfrm>
          <a:prstGeom prst="rect">
            <a:avLst/>
          </a:prstGeom>
        </p:spPr>
      </p:pic>
      <p:pic>
        <p:nvPicPr>
          <p:cNvPr id="28" name="Picture 27">
            <a:extLst>
              <a:ext uri="{FF2B5EF4-FFF2-40B4-BE49-F238E27FC236}">
                <a16:creationId xmlns:a16="http://schemas.microsoft.com/office/drawing/2014/main" id="{7267CEE9-0902-FBF2-EFA3-A264E9C61648}"/>
              </a:ext>
            </a:extLst>
          </p:cNvPr>
          <p:cNvPicPr>
            <a:picLocks noChangeAspect="1"/>
          </p:cNvPicPr>
          <p:nvPr/>
        </p:nvPicPr>
        <p:blipFill>
          <a:blip r:embed="rId2">
            <a:duotone>
              <a:schemeClr val="accent5">
                <a:shade val="45000"/>
                <a:satMod val="135000"/>
              </a:schemeClr>
              <a:prstClr val="white"/>
            </a:duotone>
          </a:blip>
          <a:stretch/>
        </p:blipFill>
        <p:spPr>
          <a:xfrm>
            <a:off x="3704185" y="1640058"/>
            <a:ext cx="2422316" cy="1336319"/>
          </a:xfrm>
          <a:prstGeom prst="rect">
            <a:avLst/>
          </a:prstGeom>
        </p:spPr>
      </p:pic>
      <p:sp>
        <p:nvSpPr>
          <p:cNvPr id="4" name="Oval 3">
            <a:extLst>
              <a:ext uri="{FF2B5EF4-FFF2-40B4-BE49-F238E27FC236}">
                <a16:creationId xmlns:a16="http://schemas.microsoft.com/office/drawing/2014/main" id="{4E701B96-B3CE-8364-C6A0-ECB4EF9C34A5}"/>
              </a:ext>
            </a:extLst>
          </p:cNvPr>
          <p:cNvSpPr/>
          <p:nvPr/>
        </p:nvSpPr>
        <p:spPr>
          <a:xfrm>
            <a:off x="838200" y="4445876"/>
            <a:ext cx="559676" cy="450317"/>
          </a:xfrm>
          <a:prstGeom prst="ellipse">
            <a:avLst/>
          </a:prstGeom>
          <a:solidFill>
            <a:srgbClr val="FF0000">
              <a:alpha val="2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A478AB9-9640-0613-51FF-9087A434DE22}"/>
              </a:ext>
            </a:extLst>
          </p:cNvPr>
          <p:cNvSpPr txBox="1"/>
          <p:nvPr/>
        </p:nvSpPr>
        <p:spPr>
          <a:xfrm>
            <a:off x="1892686" y="2623327"/>
            <a:ext cx="814792" cy="461665"/>
          </a:xfrm>
          <a:prstGeom prst="rect">
            <a:avLst/>
          </a:prstGeom>
          <a:noFill/>
        </p:spPr>
        <p:txBody>
          <a:bodyPr wrap="square" rtlCol="0">
            <a:spAutoFit/>
          </a:bodyPr>
          <a:lstStyle/>
          <a:p>
            <a:r>
              <a:rPr lang="en-US" sz="2400" dirty="0"/>
              <a:t>g</a:t>
            </a:r>
            <a:r>
              <a:rPr lang="en-US" sz="2400" baseline="-25000" dirty="0"/>
              <a:t>0</a:t>
            </a:r>
            <a:r>
              <a:rPr lang="en-US" sz="2400" baseline="30000" dirty="0"/>
              <a:t>A</a:t>
            </a:r>
            <a:endParaRPr lang="en-US" sz="2400" dirty="0"/>
          </a:p>
        </p:txBody>
      </p:sp>
      <p:cxnSp>
        <p:nvCxnSpPr>
          <p:cNvPr id="21" name="Straight Arrow Connector 20">
            <a:extLst>
              <a:ext uri="{FF2B5EF4-FFF2-40B4-BE49-F238E27FC236}">
                <a16:creationId xmlns:a16="http://schemas.microsoft.com/office/drawing/2014/main" id="{FDE93035-00B2-A735-05D8-AFD7CC838658}"/>
              </a:ext>
            </a:extLst>
          </p:cNvPr>
          <p:cNvCxnSpPr/>
          <p:nvPr/>
        </p:nvCxnSpPr>
        <p:spPr>
          <a:xfrm>
            <a:off x="1891820" y="3084992"/>
            <a:ext cx="1406715"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8" name="Slide Number Placeholder 17">
            <a:extLst>
              <a:ext uri="{FF2B5EF4-FFF2-40B4-BE49-F238E27FC236}">
                <a16:creationId xmlns:a16="http://schemas.microsoft.com/office/drawing/2014/main" id="{5C35B4DD-671C-9626-E5A5-5AED9A840837}"/>
              </a:ext>
            </a:extLst>
          </p:cNvPr>
          <p:cNvSpPr>
            <a:spLocks noGrp="1"/>
          </p:cNvSpPr>
          <p:nvPr>
            <p:ph type="sldNum" sz="quarter" idx="12"/>
          </p:nvPr>
        </p:nvSpPr>
        <p:spPr/>
        <p:txBody>
          <a:bodyPr/>
          <a:lstStyle/>
          <a:p>
            <a:fld id="{4544B810-10F2-2E49-94DF-FA7BE986B6B9}" type="slidenum">
              <a:rPr lang="en-US" smtClean="0"/>
              <a:t>10</a:t>
            </a:fld>
            <a:endParaRPr lang="en-US"/>
          </a:p>
        </p:txBody>
      </p:sp>
    </p:spTree>
    <p:extLst>
      <p:ext uri="{BB962C8B-B14F-4D97-AF65-F5344CB8AC3E}">
        <p14:creationId xmlns:p14="http://schemas.microsoft.com/office/powerpoint/2010/main" val="1269794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93491-A820-3C7F-E1B5-0E35BD24F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6801F-970D-172F-F295-289DA204F94C}"/>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BAAA835E-B9AB-9AEA-13DB-1462F2538277}"/>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06ADA089-9988-D02F-3455-6D0525E8537C}"/>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p>
        </p:txBody>
      </p:sp>
      <p:sp>
        <p:nvSpPr>
          <p:cNvPr id="7" name="Rectangle 6">
            <a:extLst>
              <a:ext uri="{FF2B5EF4-FFF2-40B4-BE49-F238E27FC236}">
                <a16:creationId xmlns:a16="http://schemas.microsoft.com/office/drawing/2014/main" id="{761C54A3-7633-C596-5E78-714E334B2E59}"/>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8" name="Rectangle 7">
            <a:extLst>
              <a:ext uri="{FF2B5EF4-FFF2-40B4-BE49-F238E27FC236}">
                <a16:creationId xmlns:a16="http://schemas.microsoft.com/office/drawing/2014/main" id="{CF8DD5D4-AC7F-EC51-7D67-000985E1FCAC}"/>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10" name="Rectangle 9">
            <a:extLst>
              <a:ext uri="{FF2B5EF4-FFF2-40B4-BE49-F238E27FC236}">
                <a16:creationId xmlns:a16="http://schemas.microsoft.com/office/drawing/2014/main" id="{5E7C3DBC-1C96-7AED-44E3-7C4F2090426F}"/>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p>
        </p:txBody>
      </p:sp>
      <p:sp>
        <p:nvSpPr>
          <p:cNvPr id="11" name="Rectangle 10">
            <a:extLst>
              <a:ext uri="{FF2B5EF4-FFF2-40B4-BE49-F238E27FC236}">
                <a16:creationId xmlns:a16="http://schemas.microsoft.com/office/drawing/2014/main" id="{2F5A33C3-BEFE-A822-4F0C-451C98323825}"/>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p>
        </p:txBody>
      </p:sp>
      <p:sp>
        <p:nvSpPr>
          <p:cNvPr id="12" name="Rectangle 11">
            <a:extLst>
              <a:ext uri="{FF2B5EF4-FFF2-40B4-BE49-F238E27FC236}">
                <a16:creationId xmlns:a16="http://schemas.microsoft.com/office/drawing/2014/main" id="{881C0518-D3EA-48DA-864F-6E156F0F30BA}"/>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pic>
        <p:nvPicPr>
          <p:cNvPr id="44" name="Picture 43">
            <a:extLst>
              <a:ext uri="{FF2B5EF4-FFF2-40B4-BE49-F238E27FC236}">
                <a16:creationId xmlns:a16="http://schemas.microsoft.com/office/drawing/2014/main" id="{8070F003-10B8-42A2-917A-911C6F949B21}"/>
              </a:ext>
            </a:extLst>
          </p:cNvPr>
          <p:cNvPicPr>
            <a:picLocks noChangeAspect="1"/>
          </p:cNvPicPr>
          <p:nvPr/>
        </p:nvPicPr>
        <p:blipFill>
          <a:blip r:embed="rId2">
            <a:duotone>
              <a:schemeClr val="accent2">
                <a:shade val="45000"/>
                <a:satMod val="135000"/>
              </a:schemeClr>
              <a:prstClr val="white"/>
            </a:duotone>
          </a:blip>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ADCA73A4-C27D-D14E-244E-C6BD5D9F4029}"/>
              </a:ext>
            </a:extLst>
          </p:cNvPr>
          <p:cNvPicPr>
            <a:picLocks noChangeAspect="1"/>
          </p:cNvPicPr>
          <p:nvPr/>
        </p:nvPicPr>
        <p:blipFill>
          <a:blip r:embed="rId2">
            <a:duotone>
              <a:schemeClr val="accent2">
                <a:shade val="45000"/>
                <a:satMod val="135000"/>
              </a:schemeClr>
              <a:prstClr val="white"/>
            </a:duotone>
          </a:blip>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9AEF9EC3-8FC9-796C-106C-F083678C00B8}"/>
              </a:ext>
            </a:extLst>
          </p:cNvPr>
          <p:cNvPicPr>
            <a:picLocks noChangeAspect="1"/>
          </p:cNvPicPr>
          <p:nvPr/>
        </p:nvPicPr>
        <p:blipFill>
          <a:blip r:embed="rId2">
            <a:duotone>
              <a:schemeClr val="accent2">
                <a:shade val="45000"/>
                <a:satMod val="135000"/>
              </a:schemeClr>
              <a:prstClr val="white"/>
            </a:duotone>
          </a:blip>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842C5350-BA62-E84B-B709-7C49F8EDDC1D}"/>
              </a:ext>
            </a:extLst>
          </p:cNvPr>
          <p:cNvPicPr>
            <a:picLocks noChangeAspect="1"/>
          </p:cNvPicPr>
          <p:nvPr/>
        </p:nvPicPr>
        <p:blipFill>
          <a:blip r:embed="rId2">
            <a:duotone>
              <a:schemeClr val="accent2">
                <a:shade val="45000"/>
                <a:satMod val="135000"/>
              </a:schemeClr>
              <a:prstClr val="white"/>
            </a:duotone>
          </a:blip>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54F8CCD2-284E-3CC1-A52C-F8944D88167F}"/>
              </a:ext>
            </a:extLst>
          </p:cNvPr>
          <p:cNvPicPr>
            <a:picLocks noChangeAspect="1"/>
          </p:cNvPicPr>
          <p:nvPr/>
        </p:nvPicPr>
        <p:blipFill>
          <a:blip r:embed="rId2">
            <a:duotone>
              <a:schemeClr val="accent2">
                <a:shade val="45000"/>
                <a:satMod val="135000"/>
              </a:schemeClr>
              <a:prstClr val="white"/>
            </a:duotone>
          </a:blip>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31D0A5D8-7F08-637B-3681-0A84D5B4E1A7}"/>
              </a:ext>
            </a:extLst>
          </p:cNvPr>
          <p:cNvPicPr>
            <a:picLocks noChangeAspect="1"/>
          </p:cNvPicPr>
          <p:nvPr/>
        </p:nvPicPr>
        <p:blipFill>
          <a:blip r:embed="rId2">
            <a:duotone>
              <a:schemeClr val="accent2">
                <a:shade val="45000"/>
                <a:satMod val="135000"/>
              </a:schemeClr>
              <a:prstClr val="white"/>
            </a:duotone>
          </a:blip>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E8C81F74-5445-D45A-223B-793D3E678B5A}"/>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pic>
        <p:nvPicPr>
          <p:cNvPr id="13" name="Picture 12" descr="BONDIS Wall clock - orange 38 cm">
            <a:extLst>
              <a:ext uri="{FF2B5EF4-FFF2-40B4-BE49-F238E27FC236}">
                <a16:creationId xmlns:a16="http://schemas.microsoft.com/office/drawing/2014/main" id="{30015F23-4F6B-97AC-75A2-AA70072BC465}"/>
              </a:ext>
            </a:extLst>
          </p:cNvPr>
          <p:cNvPicPr>
            <a:picLocks noChangeAspect="1"/>
          </p:cNvPicPr>
          <p:nvPr/>
        </p:nvPicPr>
        <p:blipFill>
          <a:blip r:embed="rId3">
            <a:duotone>
              <a:schemeClr val="accent4">
                <a:shade val="45000"/>
                <a:satMod val="135000"/>
              </a:schemeClr>
              <a:prstClr val="white"/>
            </a:duotone>
          </a:blip>
          <a:stretch>
            <a:fillRect/>
          </a:stretch>
        </p:blipFill>
        <p:spPr>
          <a:xfrm>
            <a:off x="1875856" y="3452674"/>
            <a:ext cx="2693634" cy="2693634"/>
          </a:xfrm>
          <a:prstGeom prst="rect">
            <a:avLst/>
          </a:prstGeom>
        </p:spPr>
      </p:pic>
      <p:sp>
        <p:nvSpPr>
          <p:cNvPr id="14" name="TextBox 13">
            <a:extLst>
              <a:ext uri="{FF2B5EF4-FFF2-40B4-BE49-F238E27FC236}">
                <a16:creationId xmlns:a16="http://schemas.microsoft.com/office/drawing/2014/main" id="{07288D1A-4836-B224-C3FB-1540AADDCE1E}"/>
              </a:ext>
            </a:extLst>
          </p:cNvPr>
          <p:cNvSpPr txBox="1"/>
          <p:nvPr/>
        </p:nvSpPr>
        <p:spPr>
          <a:xfrm>
            <a:off x="8021214" y="3250688"/>
            <a:ext cx="2494197" cy="830997"/>
          </a:xfrm>
          <a:prstGeom prst="rect">
            <a:avLst/>
          </a:prstGeom>
          <a:noFill/>
        </p:spPr>
        <p:txBody>
          <a:bodyPr wrap="square" rtlCol="0">
            <a:spAutoFit/>
          </a:bodyPr>
          <a:lstStyle/>
          <a:p>
            <a:pPr algn="ctr"/>
            <a:r>
              <a:rPr lang="en-US" sz="2400" b="1" dirty="0">
                <a:solidFill>
                  <a:srgbClr val="6DB2D2"/>
                </a:solidFill>
              </a:rPr>
              <a:t>COORDINATION TIME</a:t>
            </a:r>
          </a:p>
        </p:txBody>
      </p:sp>
      <p:sp>
        <p:nvSpPr>
          <p:cNvPr id="3" name="Oval 2">
            <a:extLst>
              <a:ext uri="{FF2B5EF4-FFF2-40B4-BE49-F238E27FC236}">
                <a16:creationId xmlns:a16="http://schemas.microsoft.com/office/drawing/2014/main" id="{89FEFC8A-5F12-50AC-0AAC-9F8A1AB5CC65}"/>
              </a:ext>
            </a:extLst>
          </p:cNvPr>
          <p:cNvSpPr/>
          <p:nvPr/>
        </p:nvSpPr>
        <p:spPr>
          <a:xfrm>
            <a:off x="6783186" y="935421"/>
            <a:ext cx="3784231" cy="2469981"/>
          </a:xfrm>
          <a:prstGeom prst="ellipse">
            <a:avLst/>
          </a:prstGeom>
          <a:noFill/>
          <a:ln w="3810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965CD322-C1EE-AA50-A149-9F51306D942A}"/>
              </a:ext>
            </a:extLst>
          </p:cNvPr>
          <p:cNvCxnSpPr>
            <a:cxnSpLocks/>
            <a:stCxn id="3" idx="0"/>
            <a:endCxn id="16" idx="0"/>
          </p:cNvCxnSpPr>
          <p:nvPr/>
        </p:nvCxnSpPr>
        <p:spPr>
          <a:xfrm flipH="1" flipV="1">
            <a:off x="3498275" y="280729"/>
            <a:ext cx="5177027" cy="654692"/>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1157BED6-394D-24C5-DA77-8A8A6B32D5B0}"/>
              </a:ext>
            </a:extLst>
          </p:cNvPr>
          <p:cNvCxnSpPr>
            <a:cxnSpLocks/>
            <a:endCxn id="16" idx="4"/>
          </p:cNvCxnSpPr>
          <p:nvPr/>
        </p:nvCxnSpPr>
        <p:spPr>
          <a:xfrm flipH="1">
            <a:off x="3498275" y="3393181"/>
            <a:ext cx="5488199" cy="3007619"/>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Oval 15">
            <a:extLst>
              <a:ext uri="{FF2B5EF4-FFF2-40B4-BE49-F238E27FC236}">
                <a16:creationId xmlns:a16="http://schemas.microsoft.com/office/drawing/2014/main" id="{7307C229-0D3F-516A-CBF6-FDAAFE66FAC3}"/>
              </a:ext>
            </a:extLst>
          </p:cNvPr>
          <p:cNvSpPr/>
          <p:nvPr/>
        </p:nvSpPr>
        <p:spPr>
          <a:xfrm>
            <a:off x="303831" y="280729"/>
            <a:ext cx="6388887" cy="6120071"/>
          </a:xfrm>
          <a:prstGeom prst="ellipse">
            <a:avLst/>
          </a:prstGeom>
          <a:solidFill>
            <a:schemeClr val="accent3">
              <a:lumMod val="20000"/>
              <a:lumOff val="80000"/>
            </a:schemeClr>
          </a:solidFill>
          <a:ln w="3810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DF765AB7-5952-9212-0C8B-840BE99CB4A6}"/>
              </a:ext>
            </a:extLst>
          </p:cNvPr>
          <p:cNvSpPr/>
          <p:nvPr/>
        </p:nvSpPr>
        <p:spPr>
          <a:xfrm>
            <a:off x="974895" y="3070288"/>
            <a:ext cx="814648" cy="76477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24" name="Rectangle 23">
            <a:extLst>
              <a:ext uri="{FF2B5EF4-FFF2-40B4-BE49-F238E27FC236}">
                <a16:creationId xmlns:a16="http://schemas.microsoft.com/office/drawing/2014/main" id="{4706922C-F306-A439-AAE4-6EACB13B0EB9}"/>
              </a:ext>
            </a:extLst>
          </p:cNvPr>
          <p:cNvSpPr/>
          <p:nvPr/>
        </p:nvSpPr>
        <p:spPr>
          <a:xfrm>
            <a:off x="4542706" y="3070288"/>
            <a:ext cx="814648" cy="76477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26" name="Straight Connector 25">
            <a:extLst>
              <a:ext uri="{FF2B5EF4-FFF2-40B4-BE49-F238E27FC236}">
                <a16:creationId xmlns:a16="http://schemas.microsoft.com/office/drawing/2014/main" id="{DED55887-6065-E760-595E-F7062B260244}"/>
              </a:ext>
            </a:extLst>
          </p:cNvPr>
          <p:cNvCxnSpPr>
            <a:stCxn id="23" idx="3"/>
            <a:endCxn id="24" idx="1"/>
          </p:cNvCxnSpPr>
          <p:nvPr/>
        </p:nvCxnSpPr>
        <p:spPr>
          <a:xfrm>
            <a:off x="1789543" y="3452674"/>
            <a:ext cx="2753163" cy="0"/>
          </a:xfrm>
          <a:prstGeom prst="line">
            <a:avLst/>
          </a:prstGeom>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F9987155-8AFA-312C-0087-EBA3A60A8CA8}"/>
              </a:ext>
            </a:extLst>
          </p:cNvPr>
          <p:cNvPicPr>
            <a:picLocks noChangeAspect="1"/>
          </p:cNvPicPr>
          <p:nvPr/>
        </p:nvPicPr>
        <p:blipFill>
          <a:blip r:embed="rId2">
            <a:duotone>
              <a:schemeClr val="accent2">
                <a:shade val="45000"/>
                <a:satMod val="135000"/>
              </a:schemeClr>
              <a:prstClr val="white"/>
            </a:duotone>
          </a:blip>
          <a:stretch/>
        </p:blipFill>
        <p:spPr>
          <a:xfrm>
            <a:off x="791802" y="3882693"/>
            <a:ext cx="2980940" cy="1644495"/>
          </a:xfrm>
          <a:prstGeom prst="rect">
            <a:avLst/>
          </a:prstGeom>
        </p:spPr>
      </p:pic>
      <p:pic>
        <p:nvPicPr>
          <p:cNvPr id="28" name="Picture 27">
            <a:extLst>
              <a:ext uri="{FF2B5EF4-FFF2-40B4-BE49-F238E27FC236}">
                <a16:creationId xmlns:a16="http://schemas.microsoft.com/office/drawing/2014/main" id="{62369118-34F5-797A-28AE-AE4449067331}"/>
              </a:ext>
            </a:extLst>
          </p:cNvPr>
          <p:cNvPicPr>
            <a:picLocks noChangeAspect="1"/>
          </p:cNvPicPr>
          <p:nvPr/>
        </p:nvPicPr>
        <p:blipFill>
          <a:blip r:embed="rId2">
            <a:duotone>
              <a:schemeClr val="accent5">
                <a:shade val="45000"/>
                <a:satMod val="135000"/>
              </a:schemeClr>
              <a:prstClr val="white"/>
            </a:duotone>
          </a:blip>
          <a:stretch/>
        </p:blipFill>
        <p:spPr>
          <a:xfrm>
            <a:off x="3704185" y="1640058"/>
            <a:ext cx="2422316" cy="1336319"/>
          </a:xfrm>
          <a:prstGeom prst="rect">
            <a:avLst/>
          </a:prstGeom>
        </p:spPr>
      </p:pic>
      <p:sp>
        <p:nvSpPr>
          <p:cNvPr id="4" name="Oval 3">
            <a:extLst>
              <a:ext uri="{FF2B5EF4-FFF2-40B4-BE49-F238E27FC236}">
                <a16:creationId xmlns:a16="http://schemas.microsoft.com/office/drawing/2014/main" id="{04561EEE-4C8F-818B-DF9A-67E10E0DC951}"/>
              </a:ext>
            </a:extLst>
          </p:cNvPr>
          <p:cNvSpPr/>
          <p:nvPr/>
        </p:nvSpPr>
        <p:spPr>
          <a:xfrm>
            <a:off x="838200" y="4445876"/>
            <a:ext cx="559676" cy="450317"/>
          </a:xfrm>
          <a:prstGeom prst="ellipse">
            <a:avLst/>
          </a:prstGeom>
          <a:solidFill>
            <a:srgbClr val="FF0000">
              <a:alpha val="2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7C810A8-B5FA-084C-8592-7B9233295ED9}"/>
              </a:ext>
            </a:extLst>
          </p:cNvPr>
          <p:cNvSpPr txBox="1"/>
          <p:nvPr/>
        </p:nvSpPr>
        <p:spPr>
          <a:xfrm>
            <a:off x="1892686" y="2623327"/>
            <a:ext cx="814792" cy="461665"/>
          </a:xfrm>
          <a:prstGeom prst="rect">
            <a:avLst/>
          </a:prstGeom>
          <a:noFill/>
        </p:spPr>
        <p:txBody>
          <a:bodyPr wrap="square" rtlCol="0">
            <a:spAutoFit/>
          </a:bodyPr>
          <a:lstStyle/>
          <a:p>
            <a:r>
              <a:rPr lang="en-US" sz="2400" dirty="0"/>
              <a:t>g</a:t>
            </a:r>
            <a:r>
              <a:rPr lang="en-US" sz="2400" baseline="-25000" dirty="0"/>
              <a:t>0</a:t>
            </a:r>
            <a:r>
              <a:rPr lang="en-US" sz="2400" baseline="30000" dirty="0"/>
              <a:t>A</a:t>
            </a:r>
            <a:endParaRPr lang="en-US" sz="2400" dirty="0"/>
          </a:p>
        </p:txBody>
      </p:sp>
      <p:cxnSp>
        <p:nvCxnSpPr>
          <p:cNvPr id="21" name="Straight Arrow Connector 20">
            <a:extLst>
              <a:ext uri="{FF2B5EF4-FFF2-40B4-BE49-F238E27FC236}">
                <a16:creationId xmlns:a16="http://schemas.microsoft.com/office/drawing/2014/main" id="{38FDA5B0-89A2-B14C-0460-B4FDAE775405}"/>
              </a:ext>
            </a:extLst>
          </p:cNvPr>
          <p:cNvCxnSpPr/>
          <p:nvPr/>
        </p:nvCxnSpPr>
        <p:spPr>
          <a:xfrm>
            <a:off x="1891820" y="3084992"/>
            <a:ext cx="1406715"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8" name="Slide Number Placeholder 17">
            <a:extLst>
              <a:ext uri="{FF2B5EF4-FFF2-40B4-BE49-F238E27FC236}">
                <a16:creationId xmlns:a16="http://schemas.microsoft.com/office/drawing/2014/main" id="{1BA2E087-0FEF-0A0D-7561-822FAA86D4FC}"/>
              </a:ext>
            </a:extLst>
          </p:cNvPr>
          <p:cNvSpPr>
            <a:spLocks noGrp="1"/>
          </p:cNvSpPr>
          <p:nvPr>
            <p:ph type="sldNum" sz="quarter" idx="12"/>
          </p:nvPr>
        </p:nvSpPr>
        <p:spPr/>
        <p:txBody>
          <a:bodyPr/>
          <a:lstStyle/>
          <a:p>
            <a:fld id="{4544B810-10F2-2E49-94DF-FA7BE986B6B9}" type="slidenum">
              <a:rPr lang="en-US" smtClean="0"/>
              <a:t>11</a:t>
            </a:fld>
            <a:endParaRPr lang="en-US"/>
          </a:p>
        </p:txBody>
      </p:sp>
    </p:spTree>
    <p:extLst>
      <p:ext uri="{BB962C8B-B14F-4D97-AF65-F5344CB8AC3E}">
        <p14:creationId xmlns:p14="http://schemas.microsoft.com/office/powerpoint/2010/main" val="78784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C10F-B6F8-D840-10B9-24A71B51C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39528-75F8-0864-8EFB-9A00ACB0434B}"/>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CA584348-40CF-1098-BDB9-2D63A5CE59B1}"/>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673364AF-4C57-8BB5-75B7-3B1670BD80AD}"/>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p>
        </p:txBody>
      </p:sp>
      <p:sp>
        <p:nvSpPr>
          <p:cNvPr id="7" name="Rectangle 6">
            <a:extLst>
              <a:ext uri="{FF2B5EF4-FFF2-40B4-BE49-F238E27FC236}">
                <a16:creationId xmlns:a16="http://schemas.microsoft.com/office/drawing/2014/main" id="{4577D5E6-0233-EC96-9D81-B22D756C602F}"/>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8" name="Rectangle 7">
            <a:extLst>
              <a:ext uri="{FF2B5EF4-FFF2-40B4-BE49-F238E27FC236}">
                <a16:creationId xmlns:a16="http://schemas.microsoft.com/office/drawing/2014/main" id="{9BCEE266-D9A7-8B70-773D-256771A5335A}"/>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10" name="Rectangle 9">
            <a:extLst>
              <a:ext uri="{FF2B5EF4-FFF2-40B4-BE49-F238E27FC236}">
                <a16:creationId xmlns:a16="http://schemas.microsoft.com/office/drawing/2014/main" id="{E2776911-80AF-F866-9CE3-62B583A9D929}"/>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p>
        </p:txBody>
      </p:sp>
      <p:sp>
        <p:nvSpPr>
          <p:cNvPr id="11" name="Rectangle 10">
            <a:extLst>
              <a:ext uri="{FF2B5EF4-FFF2-40B4-BE49-F238E27FC236}">
                <a16:creationId xmlns:a16="http://schemas.microsoft.com/office/drawing/2014/main" id="{4FFBBBB3-BF4E-B834-1690-9353EFA5F3EA}"/>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p>
        </p:txBody>
      </p:sp>
      <p:sp>
        <p:nvSpPr>
          <p:cNvPr id="12" name="Rectangle 11">
            <a:extLst>
              <a:ext uri="{FF2B5EF4-FFF2-40B4-BE49-F238E27FC236}">
                <a16:creationId xmlns:a16="http://schemas.microsoft.com/office/drawing/2014/main" id="{8451DA5F-D7D6-2A4F-AD00-0C89C9D8F56B}"/>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pic>
        <p:nvPicPr>
          <p:cNvPr id="44" name="Picture 43">
            <a:extLst>
              <a:ext uri="{FF2B5EF4-FFF2-40B4-BE49-F238E27FC236}">
                <a16:creationId xmlns:a16="http://schemas.microsoft.com/office/drawing/2014/main" id="{C2B607A6-B9C3-E526-F622-0376475B520B}"/>
              </a:ext>
            </a:extLst>
          </p:cNvPr>
          <p:cNvPicPr>
            <a:picLocks noChangeAspect="1"/>
          </p:cNvPicPr>
          <p:nvPr/>
        </p:nvPicPr>
        <p:blipFill>
          <a:blip r:embed="rId2">
            <a:duotone>
              <a:schemeClr val="accent2">
                <a:shade val="45000"/>
                <a:satMod val="135000"/>
              </a:schemeClr>
              <a:prstClr val="white"/>
            </a:duotone>
          </a:blip>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38B88077-B435-EDDF-DF2B-C8754C2FEDC4}"/>
              </a:ext>
            </a:extLst>
          </p:cNvPr>
          <p:cNvPicPr>
            <a:picLocks noChangeAspect="1"/>
          </p:cNvPicPr>
          <p:nvPr/>
        </p:nvPicPr>
        <p:blipFill>
          <a:blip r:embed="rId2">
            <a:duotone>
              <a:schemeClr val="accent2">
                <a:shade val="45000"/>
                <a:satMod val="135000"/>
              </a:schemeClr>
              <a:prstClr val="white"/>
            </a:duotone>
          </a:blip>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5187D47A-DDCA-0F98-E130-9CC228B28470}"/>
              </a:ext>
            </a:extLst>
          </p:cNvPr>
          <p:cNvPicPr>
            <a:picLocks noChangeAspect="1"/>
          </p:cNvPicPr>
          <p:nvPr/>
        </p:nvPicPr>
        <p:blipFill>
          <a:blip r:embed="rId2">
            <a:duotone>
              <a:schemeClr val="accent2">
                <a:shade val="45000"/>
                <a:satMod val="135000"/>
              </a:schemeClr>
              <a:prstClr val="white"/>
            </a:duotone>
          </a:blip>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3A875B7F-BA12-937B-3B86-7D345AEA88D9}"/>
              </a:ext>
            </a:extLst>
          </p:cNvPr>
          <p:cNvPicPr>
            <a:picLocks noChangeAspect="1"/>
          </p:cNvPicPr>
          <p:nvPr/>
        </p:nvPicPr>
        <p:blipFill>
          <a:blip r:embed="rId2">
            <a:duotone>
              <a:schemeClr val="accent2">
                <a:shade val="45000"/>
                <a:satMod val="135000"/>
              </a:schemeClr>
              <a:prstClr val="white"/>
            </a:duotone>
          </a:blip>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6F3D5EB6-2D1D-E1BA-9B5F-543F6ADBDED0}"/>
              </a:ext>
            </a:extLst>
          </p:cNvPr>
          <p:cNvPicPr>
            <a:picLocks noChangeAspect="1"/>
          </p:cNvPicPr>
          <p:nvPr/>
        </p:nvPicPr>
        <p:blipFill>
          <a:blip r:embed="rId2">
            <a:duotone>
              <a:schemeClr val="accent2">
                <a:shade val="45000"/>
                <a:satMod val="135000"/>
              </a:schemeClr>
              <a:prstClr val="white"/>
            </a:duotone>
          </a:blip>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2593D1F8-A53C-E9F2-958E-2D2648E47B2E}"/>
              </a:ext>
            </a:extLst>
          </p:cNvPr>
          <p:cNvPicPr>
            <a:picLocks noChangeAspect="1"/>
          </p:cNvPicPr>
          <p:nvPr/>
        </p:nvPicPr>
        <p:blipFill>
          <a:blip r:embed="rId2">
            <a:duotone>
              <a:schemeClr val="accent2">
                <a:shade val="45000"/>
                <a:satMod val="135000"/>
              </a:schemeClr>
              <a:prstClr val="white"/>
            </a:duotone>
          </a:blip>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0611B687-0CDB-BFAD-AA88-550F310F7F52}"/>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pic>
        <p:nvPicPr>
          <p:cNvPr id="13" name="Picture 12" descr="BONDIS Wall clock - orange 38 cm">
            <a:extLst>
              <a:ext uri="{FF2B5EF4-FFF2-40B4-BE49-F238E27FC236}">
                <a16:creationId xmlns:a16="http://schemas.microsoft.com/office/drawing/2014/main" id="{F56243B1-995A-548F-9A77-78DC0B667C63}"/>
              </a:ext>
            </a:extLst>
          </p:cNvPr>
          <p:cNvPicPr>
            <a:picLocks noChangeAspect="1"/>
          </p:cNvPicPr>
          <p:nvPr/>
        </p:nvPicPr>
        <p:blipFill>
          <a:blip r:embed="rId3">
            <a:duotone>
              <a:schemeClr val="accent4">
                <a:shade val="45000"/>
                <a:satMod val="135000"/>
              </a:schemeClr>
              <a:prstClr val="white"/>
            </a:duotone>
          </a:blip>
          <a:stretch>
            <a:fillRect/>
          </a:stretch>
        </p:blipFill>
        <p:spPr>
          <a:xfrm>
            <a:off x="1875856" y="3452674"/>
            <a:ext cx="2693634" cy="2693634"/>
          </a:xfrm>
          <a:prstGeom prst="rect">
            <a:avLst/>
          </a:prstGeom>
        </p:spPr>
      </p:pic>
      <p:sp>
        <p:nvSpPr>
          <p:cNvPr id="14" name="TextBox 13">
            <a:extLst>
              <a:ext uri="{FF2B5EF4-FFF2-40B4-BE49-F238E27FC236}">
                <a16:creationId xmlns:a16="http://schemas.microsoft.com/office/drawing/2014/main" id="{EE8994FA-0068-FB01-6904-99D5751A0C68}"/>
              </a:ext>
            </a:extLst>
          </p:cNvPr>
          <p:cNvSpPr txBox="1"/>
          <p:nvPr/>
        </p:nvSpPr>
        <p:spPr>
          <a:xfrm>
            <a:off x="8021214" y="3250688"/>
            <a:ext cx="2494197" cy="830997"/>
          </a:xfrm>
          <a:prstGeom prst="rect">
            <a:avLst/>
          </a:prstGeom>
          <a:noFill/>
        </p:spPr>
        <p:txBody>
          <a:bodyPr wrap="square" rtlCol="0">
            <a:spAutoFit/>
          </a:bodyPr>
          <a:lstStyle/>
          <a:p>
            <a:pPr algn="ctr"/>
            <a:r>
              <a:rPr lang="en-US" sz="2400" b="1" dirty="0">
                <a:solidFill>
                  <a:srgbClr val="6DB2D2"/>
                </a:solidFill>
              </a:rPr>
              <a:t>COORDINATION TIME</a:t>
            </a:r>
          </a:p>
        </p:txBody>
      </p:sp>
      <p:sp>
        <p:nvSpPr>
          <p:cNvPr id="3" name="Oval 2">
            <a:extLst>
              <a:ext uri="{FF2B5EF4-FFF2-40B4-BE49-F238E27FC236}">
                <a16:creationId xmlns:a16="http://schemas.microsoft.com/office/drawing/2014/main" id="{F37DCD0F-BBF0-1E67-B759-C608C1930660}"/>
              </a:ext>
            </a:extLst>
          </p:cNvPr>
          <p:cNvSpPr/>
          <p:nvPr/>
        </p:nvSpPr>
        <p:spPr>
          <a:xfrm>
            <a:off x="6783186" y="935421"/>
            <a:ext cx="3784231" cy="2469981"/>
          </a:xfrm>
          <a:prstGeom prst="ellipse">
            <a:avLst/>
          </a:prstGeom>
          <a:noFill/>
          <a:ln w="3810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DF18052-130D-0206-B988-EC4CD66D0ED4}"/>
              </a:ext>
            </a:extLst>
          </p:cNvPr>
          <p:cNvCxnSpPr>
            <a:cxnSpLocks/>
            <a:stCxn id="3" idx="0"/>
            <a:endCxn id="16" idx="0"/>
          </p:cNvCxnSpPr>
          <p:nvPr/>
        </p:nvCxnSpPr>
        <p:spPr>
          <a:xfrm flipH="1" flipV="1">
            <a:off x="3573503" y="345366"/>
            <a:ext cx="5101799" cy="590055"/>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461D1A19-1BB7-9AF5-1571-F0D0CECC5EB9}"/>
              </a:ext>
            </a:extLst>
          </p:cNvPr>
          <p:cNvCxnSpPr>
            <a:cxnSpLocks/>
            <a:endCxn id="16" idx="4"/>
          </p:cNvCxnSpPr>
          <p:nvPr/>
        </p:nvCxnSpPr>
        <p:spPr>
          <a:xfrm flipH="1">
            <a:off x="3573503" y="3457818"/>
            <a:ext cx="5488199" cy="3007619"/>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Oval 15">
            <a:extLst>
              <a:ext uri="{FF2B5EF4-FFF2-40B4-BE49-F238E27FC236}">
                <a16:creationId xmlns:a16="http://schemas.microsoft.com/office/drawing/2014/main" id="{BD49D50F-2190-C861-31B9-820C7FD47091}"/>
              </a:ext>
            </a:extLst>
          </p:cNvPr>
          <p:cNvSpPr/>
          <p:nvPr/>
        </p:nvSpPr>
        <p:spPr>
          <a:xfrm>
            <a:off x="379059" y="345366"/>
            <a:ext cx="6388887" cy="6120071"/>
          </a:xfrm>
          <a:prstGeom prst="ellipse">
            <a:avLst/>
          </a:prstGeom>
          <a:solidFill>
            <a:schemeClr val="accent3">
              <a:lumMod val="20000"/>
              <a:lumOff val="80000"/>
            </a:schemeClr>
          </a:solidFill>
          <a:ln w="3810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6299FBE2-937E-2131-5CF4-C8DACFAD1B47}"/>
              </a:ext>
            </a:extLst>
          </p:cNvPr>
          <p:cNvSpPr/>
          <p:nvPr/>
        </p:nvSpPr>
        <p:spPr>
          <a:xfrm>
            <a:off x="974895" y="3070288"/>
            <a:ext cx="814648" cy="76477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24" name="Rectangle 23">
            <a:extLst>
              <a:ext uri="{FF2B5EF4-FFF2-40B4-BE49-F238E27FC236}">
                <a16:creationId xmlns:a16="http://schemas.microsoft.com/office/drawing/2014/main" id="{8E7762FB-3A84-4E06-2F16-B0692CA7A19F}"/>
              </a:ext>
            </a:extLst>
          </p:cNvPr>
          <p:cNvSpPr/>
          <p:nvPr/>
        </p:nvSpPr>
        <p:spPr>
          <a:xfrm>
            <a:off x="4542706" y="3070288"/>
            <a:ext cx="814648" cy="76477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26" name="Straight Connector 25">
            <a:extLst>
              <a:ext uri="{FF2B5EF4-FFF2-40B4-BE49-F238E27FC236}">
                <a16:creationId xmlns:a16="http://schemas.microsoft.com/office/drawing/2014/main" id="{879D93A1-0F8C-6D6B-D264-9AD886FD99E2}"/>
              </a:ext>
            </a:extLst>
          </p:cNvPr>
          <p:cNvCxnSpPr>
            <a:stCxn id="23" idx="3"/>
            <a:endCxn id="24" idx="1"/>
          </p:cNvCxnSpPr>
          <p:nvPr/>
        </p:nvCxnSpPr>
        <p:spPr>
          <a:xfrm>
            <a:off x="1789543" y="3452674"/>
            <a:ext cx="2753163" cy="0"/>
          </a:xfrm>
          <a:prstGeom prst="line">
            <a:avLst/>
          </a:prstGeom>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30094BB7-4435-5002-6DF9-59683DB4FB66}"/>
              </a:ext>
            </a:extLst>
          </p:cNvPr>
          <p:cNvPicPr>
            <a:picLocks noChangeAspect="1"/>
          </p:cNvPicPr>
          <p:nvPr/>
        </p:nvPicPr>
        <p:blipFill>
          <a:blip r:embed="rId2">
            <a:duotone>
              <a:schemeClr val="accent2">
                <a:shade val="45000"/>
                <a:satMod val="135000"/>
              </a:schemeClr>
              <a:prstClr val="white"/>
            </a:duotone>
          </a:blip>
          <a:stretch/>
        </p:blipFill>
        <p:spPr>
          <a:xfrm>
            <a:off x="791802" y="3882693"/>
            <a:ext cx="2980940" cy="1644495"/>
          </a:xfrm>
          <a:prstGeom prst="rect">
            <a:avLst/>
          </a:prstGeom>
        </p:spPr>
      </p:pic>
      <p:pic>
        <p:nvPicPr>
          <p:cNvPr id="28" name="Picture 27">
            <a:extLst>
              <a:ext uri="{FF2B5EF4-FFF2-40B4-BE49-F238E27FC236}">
                <a16:creationId xmlns:a16="http://schemas.microsoft.com/office/drawing/2014/main" id="{7150CF7C-713B-EEAB-65E5-74938FDF9DF4}"/>
              </a:ext>
            </a:extLst>
          </p:cNvPr>
          <p:cNvPicPr>
            <a:picLocks noChangeAspect="1"/>
          </p:cNvPicPr>
          <p:nvPr/>
        </p:nvPicPr>
        <p:blipFill>
          <a:blip r:embed="rId2">
            <a:duotone>
              <a:schemeClr val="accent5">
                <a:shade val="45000"/>
                <a:satMod val="135000"/>
              </a:schemeClr>
              <a:prstClr val="white"/>
            </a:duotone>
          </a:blip>
          <a:stretch/>
        </p:blipFill>
        <p:spPr>
          <a:xfrm>
            <a:off x="3704185" y="1640058"/>
            <a:ext cx="2422316" cy="1336319"/>
          </a:xfrm>
          <a:prstGeom prst="rect">
            <a:avLst/>
          </a:prstGeom>
        </p:spPr>
      </p:pic>
      <p:sp>
        <p:nvSpPr>
          <p:cNvPr id="18" name="TextBox 17">
            <a:extLst>
              <a:ext uri="{FF2B5EF4-FFF2-40B4-BE49-F238E27FC236}">
                <a16:creationId xmlns:a16="http://schemas.microsoft.com/office/drawing/2014/main" id="{A9F28478-6C7D-036F-E485-2F03B0548C4E}"/>
              </a:ext>
            </a:extLst>
          </p:cNvPr>
          <p:cNvSpPr txBox="1"/>
          <p:nvPr/>
        </p:nvSpPr>
        <p:spPr>
          <a:xfrm>
            <a:off x="4109693" y="4129772"/>
            <a:ext cx="1695576" cy="461665"/>
          </a:xfrm>
          <a:prstGeom prst="rect">
            <a:avLst/>
          </a:prstGeom>
          <a:noFill/>
        </p:spPr>
        <p:txBody>
          <a:bodyPr wrap="square" rtlCol="0">
            <a:spAutoFit/>
          </a:bodyPr>
          <a:lstStyle/>
          <a:p>
            <a:r>
              <a:rPr lang="en-US" sz="2400" dirty="0"/>
              <a:t>g</a:t>
            </a:r>
            <a:r>
              <a:rPr lang="en-US" sz="2400" baseline="-25000" dirty="0"/>
              <a:t>0</a:t>
            </a:r>
            <a:r>
              <a:rPr lang="en-US" sz="2400" baseline="30000" dirty="0"/>
              <a:t>A </a:t>
            </a:r>
            <a:r>
              <a:rPr lang="en-US" sz="2400" dirty="0"/>
              <a:t>+ g</a:t>
            </a:r>
            <a:r>
              <a:rPr lang="en-US" sz="2400" baseline="-25000" dirty="0"/>
              <a:t>0</a:t>
            </a:r>
            <a:r>
              <a:rPr lang="en-US" sz="2400" baseline="30000" dirty="0"/>
              <a:t>B </a:t>
            </a:r>
            <a:endParaRPr lang="en-US" sz="2400" dirty="0"/>
          </a:p>
        </p:txBody>
      </p:sp>
      <p:sp>
        <p:nvSpPr>
          <p:cNvPr id="22" name="Oval 21">
            <a:extLst>
              <a:ext uri="{FF2B5EF4-FFF2-40B4-BE49-F238E27FC236}">
                <a16:creationId xmlns:a16="http://schemas.microsoft.com/office/drawing/2014/main" id="{16A87D5B-DE17-DC9F-E04F-FF7FBAA16F58}"/>
              </a:ext>
            </a:extLst>
          </p:cNvPr>
          <p:cNvSpPr/>
          <p:nvPr/>
        </p:nvSpPr>
        <p:spPr>
          <a:xfrm>
            <a:off x="3617872" y="2052660"/>
            <a:ext cx="559676" cy="450317"/>
          </a:xfrm>
          <a:prstGeom prst="ellipse">
            <a:avLst/>
          </a:prstGeom>
          <a:solidFill>
            <a:srgbClr val="FF0000">
              <a:alpha val="2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D171C5C-6EE0-4DA4-548F-3D5E2415037D}"/>
              </a:ext>
            </a:extLst>
          </p:cNvPr>
          <p:cNvSpPr>
            <a:spLocks noGrp="1"/>
          </p:cNvSpPr>
          <p:nvPr>
            <p:ph type="sldNum" sz="quarter" idx="12"/>
          </p:nvPr>
        </p:nvSpPr>
        <p:spPr/>
        <p:txBody>
          <a:bodyPr/>
          <a:lstStyle/>
          <a:p>
            <a:fld id="{4544B810-10F2-2E49-94DF-FA7BE986B6B9}" type="slidenum">
              <a:rPr lang="en-US" smtClean="0"/>
              <a:t>12</a:t>
            </a:fld>
            <a:endParaRPr lang="en-US"/>
          </a:p>
        </p:txBody>
      </p:sp>
    </p:spTree>
    <p:extLst>
      <p:ext uri="{BB962C8B-B14F-4D97-AF65-F5344CB8AC3E}">
        <p14:creationId xmlns:p14="http://schemas.microsoft.com/office/powerpoint/2010/main" val="2706437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77257-8037-9B1C-04D0-E60D95D2C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64D12E-2B27-33F3-F54E-35B549F4F817}"/>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16997A9E-47AA-C867-D849-5590FD410180}"/>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710A16B5-12FD-6CB0-667F-B188994D0756}"/>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p>
        </p:txBody>
      </p:sp>
      <p:sp>
        <p:nvSpPr>
          <p:cNvPr id="7" name="Rectangle 6">
            <a:extLst>
              <a:ext uri="{FF2B5EF4-FFF2-40B4-BE49-F238E27FC236}">
                <a16:creationId xmlns:a16="http://schemas.microsoft.com/office/drawing/2014/main" id="{B80E9CDC-9109-F35E-F6CD-FEF8656881A1}"/>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8" name="Rectangle 7">
            <a:extLst>
              <a:ext uri="{FF2B5EF4-FFF2-40B4-BE49-F238E27FC236}">
                <a16:creationId xmlns:a16="http://schemas.microsoft.com/office/drawing/2014/main" id="{AFCAD2C3-E40C-A3A8-628D-799266F49495}"/>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10" name="Rectangle 9">
            <a:extLst>
              <a:ext uri="{FF2B5EF4-FFF2-40B4-BE49-F238E27FC236}">
                <a16:creationId xmlns:a16="http://schemas.microsoft.com/office/drawing/2014/main" id="{FFD1F6EB-9650-73F5-E2D5-2D098EA38376}"/>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p>
        </p:txBody>
      </p:sp>
      <p:sp>
        <p:nvSpPr>
          <p:cNvPr id="11" name="Rectangle 10">
            <a:extLst>
              <a:ext uri="{FF2B5EF4-FFF2-40B4-BE49-F238E27FC236}">
                <a16:creationId xmlns:a16="http://schemas.microsoft.com/office/drawing/2014/main" id="{9DC27614-79F0-F488-9DAA-7A808DD7C092}"/>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p>
        </p:txBody>
      </p:sp>
      <p:sp>
        <p:nvSpPr>
          <p:cNvPr id="12" name="Rectangle 11">
            <a:extLst>
              <a:ext uri="{FF2B5EF4-FFF2-40B4-BE49-F238E27FC236}">
                <a16:creationId xmlns:a16="http://schemas.microsoft.com/office/drawing/2014/main" id="{A077C9EF-F21C-14DF-A8ED-7A0ADEE043B0}"/>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pic>
        <p:nvPicPr>
          <p:cNvPr id="44" name="Picture 43">
            <a:extLst>
              <a:ext uri="{FF2B5EF4-FFF2-40B4-BE49-F238E27FC236}">
                <a16:creationId xmlns:a16="http://schemas.microsoft.com/office/drawing/2014/main" id="{AD9B5707-84CC-3036-6235-0BDD7647F029}"/>
              </a:ext>
            </a:extLst>
          </p:cNvPr>
          <p:cNvPicPr>
            <a:picLocks noChangeAspect="1"/>
          </p:cNvPicPr>
          <p:nvPr/>
        </p:nvPicPr>
        <p:blipFill>
          <a:blip r:embed="rId2">
            <a:duotone>
              <a:schemeClr val="accent2">
                <a:shade val="45000"/>
                <a:satMod val="135000"/>
              </a:schemeClr>
              <a:prstClr val="white"/>
            </a:duotone>
          </a:blip>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8B6B8A6D-CAB7-9C16-28DB-C53B22E97BE8}"/>
              </a:ext>
            </a:extLst>
          </p:cNvPr>
          <p:cNvPicPr>
            <a:picLocks noChangeAspect="1"/>
          </p:cNvPicPr>
          <p:nvPr/>
        </p:nvPicPr>
        <p:blipFill>
          <a:blip r:embed="rId2">
            <a:duotone>
              <a:schemeClr val="accent2">
                <a:shade val="45000"/>
                <a:satMod val="135000"/>
              </a:schemeClr>
              <a:prstClr val="white"/>
            </a:duotone>
          </a:blip>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1D93FDE7-FFFF-4968-4667-D69836B150F3}"/>
              </a:ext>
            </a:extLst>
          </p:cNvPr>
          <p:cNvPicPr>
            <a:picLocks noChangeAspect="1"/>
          </p:cNvPicPr>
          <p:nvPr/>
        </p:nvPicPr>
        <p:blipFill>
          <a:blip r:embed="rId2">
            <a:duotone>
              <a:schemeClr val="accent2">
                <a:shade val="45000"/>
                <a:satMod val="135000"/>
              </a:schemeClr>
              <a:prstClr val="white"/>
            </a:duotone>
          </a:blip>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46A79B68-64AF-5F14-359C-23ED2652E82D}"/>
              </a:ext>
            </a:extLst>
          </p:cNvPr>
          <p:cNvPicPr>
            <a:picLocks noChangeAspect="1"/>
          </p:cNvPicPr>
          <p:nvPr/>
        </p:nvPicPr>
        <p:blipFill>
          <a:blip r:embed="rId2">
            <a:duotone>
              <a:schemeClr val="accent2">
                <a:shade val="45000"/>
                <a:satMod val="135000"/>
              </a:schemeClr>
              <a:prstClr val="white"/>
            </a:duotone>
          </a:blip>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A96644D0-C4A1-F1EB-ABEA-E06C0F6C585C}"/>
              </a:ext>
            </a:extLst>
          </p:cNvPr>
          <p:cNvPicPr>
            <a:picLocks noChangeAspect="1"/>
          </p:cNvPicPr>
          <p:nvPr/>
        </p:nvPicPr>
        <p:blipFill>
          <a:blip r:embed="rId2">
            <a:duotone>
              <a:schemeClr val="accent2">
                <a:shade val="45000"/>
                <a:satMod val="135000"/>
              </a:schemeClr>
              <a:prstClr val="white"/>
            </a:duotone>
          </a:blip>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025515E3-CAAC-F3EB-0A0F-C633585BB06F}"/>
              </a:ext>
            </a:extLst>
          </p:cNvPr>
          <p:cNvPicPr>
            <a:picLocks noChangeAspect="1"/>
          </p:cNvPicPr>
          <p:nvPr/>
        </p:nvPicPr>
        <p:blipFill>
          <a:blip r:embed="rId2">
            <a:duotone>
              <a:schemeClr val="accent2">
                <a:shade val="45000"/>
                <a:satMod val="135000"/>
              </a:schemeClr>
              <a:prstClr val="white"/>
            </a:duotone>
          </a:blip>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F9034A04-8750-860A-331F-5ABD8BC55583}"/>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pic>
        <p:nvPicPr>
          <p:cNvPr id="13" name="Picture 12" descr="BONDIS Wall clock - orange 38 cm">
            <a:extLst>
              <a:ext uri="{FF2B5EF4-FFF2-40B4-BE49-F238E27FC236}">
                <a16:creationId xmlns:a16="http://schemas.microsoft.com/office/drawing/2014/main" id="{6527C0DE-9C47-499B-7B02-6AAE422EF3D4}"/>
              </a:ext>
            </a:extLst>
          </p:cNvPr>
          <p:cNvPicPr>
            <a:picLocks noChangeAspect="1"/>
          </p:cNvPicPr>
          <p:nvPr/>
        </p:nvPicPr>
        <p:blipFill>
          <a:blip r:embed="rId3">
            <a:duotone>
              <a:schemeClr val="accent4">
                <a:shade val="45000"/>
                <a:satMod val="135000"/>
              </a:schemeClr>
              <a:prstClr val="white"/>
            </a:duotone>
          </a:blip>
          <a:stretch>
            <a:fillRect/>
          </a:stretch>
        </p:blipFill>
        <p:spPr>
          <a:xfrm>
            <a:off x="1875856" y="3452674"/>
            <a:ext cx="2693634" cy="2693634"/>
          </a:xfrm>
          <a:prstGeom prst="rect">
            <a:avLst/>
          </a:prstGeom>
        </p:spPr>
      </p:pic>
      <p:sp>
        <p:nvSpPr>
          <p:cNvPr id="14" name="TextBox 13">
            <a:extLst>
              <a:ext uri="{FF2B5EF4-FFF2-40B4-BE49-F238E27FC236}">
                <a16:creationId xmlns:a16="http://schemas.microsoft.com/office/drawing/2014/main" id="{8B0E4D16-6777-FE99-E844-FD5E585D22F9}"/>
              </a:ext>
            </a:extLst>
          </p:cNvPr>
          <p:cNvSpPr txBox="1"/>
          <p:nvPr/>
        </p:nvSpPr>
        <p:spPr>
          <a:xfrm>
            <a:off x="8021214" y="3250688"/>
            <a:ext cx="2494197" cy="830997"/>
          </a:xfrm>
          <a:prstGeom prst="rect">
            <a:avLst/>
          </a:prstGeom>
          <a:noFill/>
        </p:spPr>
        <p:txBody>
          <a:bodyPr wrap="square" rtlCol="0">
            <a:spAutoFit/>
          </a:bodyPr>
          <a:lstStyle/>
          <a:p>
            <a:pPr algn="ctr"/>
            <a:r>
              <a:rPr lang="en-US" sz="2400" b="1" dirty="0">
                <a:solidFill>
                  <a:srgbClr val="6DB2D2"/>
                </a:solidFill>
              </a:rPr>
              <a:t>COORDINATION TIME</a:t>
            </a:r>
          </a:p>
        </p:txBody>
      </p:sp>
      <p:cxnSp>
        <p:nvCxnSpPr>
          <p:cNvPr id="15" name="Straight Connector 14">
            <a:extLst>
              <a:ext uri="{FF2B5EF4-FFF2-40B4-BE49-F238E27FC236}">
                <a16:creationId xmlns:a16="http://schemas.microsoft.com/office/drawing/2014/main" id="{7EEDBF49-C13A-D097-5793-9A5C183BC53F}"/>
              </a:ext>
            </a:extLst>
          </p:cNvPr>
          <p:cNvCxnSpPr>
            <a:cxnSpLocks/>
            <a:stCxn id="3" idx="0"/>
            <a:endCxn id="16" idx="0"/>
          </p:cNvCxnSpPr>
          <p:nvPr/>
        </p:nvCxnSpPr>
        <p:spPr>
          <a:xfrm flipH="1" flipV="1">
            <a:off x="3497172" y="341867"/>
            <a:ext cx="3443104" cy="3600301"/>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863FE253-16EB-6E7A-9B5C-C36E9D90900D}"/>
              </a:ext>
            </a:extLst>
          </p:cNvPr>
          <p:cNvCxnSpPr>
            <a:cxnSpLocks/>
            <a:stCxn id="3" idx="3"/>
            <a:endCxn id="16" idx="4"/>
          </p:cNvCxnSpPr>
          <p:nvPr/>
        </p:nvCxnSpPr>
        <p:spPr>
          <a:xfrm flipH="1">
            <a:off x="3497172" y="5231869"/>
            <a:ext cx="2808266" cy="1230069"/>
          </a:xfrm>
          <a:prstGeom prst="line">
            <a:avLst/>
          </a:prstGeom>
          <a:ln w="381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Oval 15">
            <a:extLst>
              <a:ext uri="{FF2B5EF4-FFF2-40B4-BE49-F238E27FC236}">
                <a16:creationId xmlns:a16="http://schemas.microsoft.com/office/drawing/2014/main" id="{E6D006BD-C950-13C9-2E15-4F1D3A6D3A63}"/>
              </a:ext>
            </a:extLst>
          </p:cNvPr>
          <p:cNvSpPr/>
          <p:nvPr/>
        </p:nvSpPr>
        <p:spPr>
          <a:xfrm>
            <a:off x="302728" y="341867"/>
            <a:ext cx="6388887" cy="6120071"/>
          </a:xfrm>
          <a:prstGeom prst="ellipse">
            <a:avLst/>
          </a:prstGeom>
          <a:solidFill>
            <a:schemeClr val="accent3">
              <a:lumMod val="20000"/>
              <a:lumOff val="80000"/>
            </a:schemeClr>
          </a:solidFill>
          <a:ln w="3810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EE829167-5847-A12A-5B65-C334BE5CF82C}"/>
              </a:ext>
            </a:extLst>
          </p:cNvPr>
          <p:cNvSpPr/>
          <p:nvPr/>
        </p:nvSpPr>
        <p:spPr>
          <a:xfrm>
            <a:off x="3089847" y="1825625"/>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18" name="TextBox 17">
            <a:extLst>
              <a:ext uri="{FF2B5EF4-FFF2-40B4-BE49-F238E27FC236}">
                <a16:creationId xmlns:a16="http://schemas.microsoft.com/office/drawing/2014/main" id="{03F096D2-668B-C8BB-A955-250C0CB1F010}"/>
              </a:ext>
            </a:extLst>
          </p:cNvPr>
          <p:cNvSpPr txBox="1"/>
          <p:nvPr/>
        </p:nvSpPr>
        <p:spPr>
          <a:xfrm>
            <a:off x="775705" y="3288456"/>
            <a:ext cx="5744245" cy="830997"/>
          </a:xfrm>
          <a:prstGeom prst="rect">
            <a:avLst/>
          </a:prstGeom>
          <a:noFill/>
        </p:spPr>
        <p:txBody>
          <a:bodyPr wrap="square" rtlCol="0">
            <a:spAutoFit/>
          </a:bodyPr>
          <a:lstStyle/>
          <a:p>
            <a:r>
              <a:rPr lang="en-US" sz="2400" dirty="0"/>
              <a:t>g</a:t>
            </a:r>
            <a:r>
              <a:rPr lang="en-US" sz="2400" baseline="-25000" dirty="0"/>
              <a:t>0</a:t>
            </a:r>
            <a:r>
              <a:rPr lang="en-US" sz="2400" baseline="30000" dirty="0"/>
              <a:t>FINAL  </a:t>
            </a:r>
            <a:r>
              <a:rPr lang="en-US" sz="2400" dirty="0"/>
              <a:t>= &lt; g</a:t>
            </a:r>
            <a:r>
              <a:rPr lang="en-US" sz="2400" baseline="-25000" dirty="0"/>
              <a:t>0</a:t>
            </a:r>
            <a:r>
              <a:rPr lang="en-US" sz="2400" baseline="30000" dirty="0"/>
              <a:t>A </a:t>
            </a:r>
            <a:r>
              <a:rPr lang="en-US" sz="2400" dirty="0"/>
              <a:t>+ g</a:t>
            </a:r>
            <a:r>
              <a:rPr lang="en-US" sz="2400" baseline="-25000" dirty="0"/>
              <a:t>0</a:t>
            </a:r>
            <a:r>
              <a:rPr lang="en-US" sz="2400" baseline="30000" dirty="0"/>
              <a:t>B</a:t>
            </a:r>
            <a:r>
              <a:rPr lang="en-US" sz="2400" dirty="0"/>
              <a:t> + g</a:t>
            </a:r>
            <a:r>
              <a:rPr lang="en-US" sz="2400" baseline="-25000" dirty="0"/>
              <a:t>0</a:t>
            </a:r>
            <a:r>
              <a:rPr lang="en-US" sz="2400" baseline="30000" dirty="0"/>
              <a:t>C </a:t>
            </a:r>
            <a:r>
              <a:rPr lang="en-US" sz="2400" dirty="0"/>
              <a:t>+ g</a:t>
            </a:r>
            <a:r>
              <a:rPr lang="en-US" sz="2400" baseline="-25000" dirty="0"/>
              <a:t>0</a:t>
            </a:r>
            <a:r>
              <a:rPr lang="en-US" sz="2400" baseline="30000" dirty="0"/>
              <a:t>D </a:t>
            </a:r>
            <a:r>
              <a:rPr lang="en-US" sz="2400" dirty="0"/>
              <a:t>+ g</a:t>
            </a:r>
            <a:r>
              <a:rPr lang="en-US" sz="2400" baseline="-25000" dirty="0"/>
              <a:t>0</a:t>
            </a:r>
            <a:r>
              <a:rPr lang="en-US" sz="2400" baseline="30000" dirty="0"/>
              <a:t>E </a:t>
            </a:r>
            <a:r>
              <a:rPr lang="en-US" sz="2400" dirty="0"/>
              <a:t>+ g</a:t>
            </a:r>
            <a:r>
              <a:rPr lang="en-US" sz="2400" baseline="-25000" dirty="0"/>
              <a:t>0</a:t>
            </a:r>
            <a:r>
              <a:rPr lang="en-US" sz="2400" baseline="30000" dirty="0"/>
              <a:t>F </a:t>
            </a:r>
            <a:r>
              <a:rPr lang="en-US" sz="2400" dirty="0"/>
              <a:t>&gt;</a:t>
            </a:r>
            <a:r>
              <a:rPr lang="en-US" sz="2400" baseline="30000" dirty="0"/>
              <a:t> </a:t>
            </a:r>
            <a:endParaRPr lang="en-US" sz="2400" dirty="0"/>
          </a:p>
          <a:p>
            <a:endParaRPr lang="en-US" sz="2400" dirty="0"/>
          </a:p>
        </p:txBody>
      </p:sp>
      <p:sp>
        <p:nvSpPr>
          <p:cNvPr id="3" name="Oval 2">
            <a:extLst>
              <a:ext uri="{FF2B5EF4-FFF2-40B4-BE49-F238E27FC236}">
                <a16:creationId xmlns:a16="http://schemas.microsoft.com/office/drawing/2014/main" id="{BE407EBC-153A-19F1-81F5-F01CBB4C51E5}"/>
              </a:ext>
            </a:extLst>
          </p:cNvPr>
          <p:cNvSpPr/>
          <p:nvPr/>
        </p:nvSpPr>
        <p:spPr>
          <a:xfrm>
            <a:off x="6042480" y="3942168"/>
            <a:ext cx="1795592" cy="1510979"/>
          </a:xfrm>
          <a:prstGeom prst="ellipse">
            <a:avLst/>
          </a:prstGeom>
          <a:noFill/>
          <a:ln w="3810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31" name="Picture 30">
            <a:extLst>
              <a:ext uri="{FF2B5EF4-FFF2-40B4-BE49-F238E27FC236}">
                <a16:creationId xmlns:a16="http://schemas.microsoft.com/office/drawing/2014/main" id="{84DA4B2D-F215-0CD6-95BC-BA3CCB4042A7}"/>
              </a:ext>
            </a:extLst>
          </p:cNvPr>
          <p:cNvPicPr>
            <a:picLocks noChangeAspect="1"/>
          </p:cNvPicPr>
          <p:nvPr/>
        </p:nvPicPr>
        <p:blipFill>
          <a:blip r:embed="rId2">
            <a:grayscl/>
          </a:blip>
          <a:stretch/>
        </p:blipFill>
        <p:spPr>
          <a:xfrm>
            <a:off x="1910123" y="4022738"/>
            <a:ext cx="3282198" cy="1810689"/>
          </a:xfrm>
          <a:prstGeom prst="rect">
            <a:avLst/>
          </a:prstGeom>
        </p:spPr>
      </p:pic>
      <p:sp>
        <p:nvSpPr>
          <p:cNvPr id="32" name="Oval 31">
            <a:extLst>
              <a:ext uri="{FF2B5EF4-FFF2-40B4-BE49-F238E27FC236}">
                <a16:creationId xmlns:a16="http://schemas.microsoft.com/office/drawing/2014/main" id="{2B5B714A-C90F-9A1B-527B-E0E45230BC27}"/>
              </a:ext>
            </a:extLst>
          </p:cNvPr>
          <p:cNvSpPr/>
          <p:nvPr/>
        </p:nvSpPr>
        <p:spPr>
          <a:xfrm>
            <a:off x="2046023" y="4688376"/>
            <a:ext cx="559676" cy="450317"/>
          </a:xfrm>
          <a:prstGeom prst="ellipse">
            <a:avLst/>
          </a:prstGeom>
          <a:solidFill>
            <a:srgbClr val="FF0000">
              <a:alpha val="2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9FF36C53-E621-30E1-31DD-A004928D3D25}"/>
              </a:ext>
            </a:extLst>
          </p:cNvPr>
          <p:cNvSpPr>
            <a:spLocks noGrp="1"/>
          </p:cNvSpPr>
          <p:nvPr>
            <p:ph type="sldNum" sz="quarter" idx="12"/>
          </p:nvPr>
        </p:nvSpPr>
        <p:spPr/>
        <p:txBody>
          <a:bodyPr/>
          <a:lstStyle/>
          <a:p>
            <a:fld id="{4544B810-10F2-2E49-94DF-FA7BE986B6B9}" type="slidenum">
              <a:rPr lang="en-US" smtClean="0"/>
              <a:t>13</a:t>
            </a:fld>
            <a:endParaRPr lang="en-US"/>
          </a:p>
        </p:txBody>
      </p:sp>
    </p:spTree>
    <p:extLst>
      <p:ext uri="{BB962C8B-B14F-4D97-AF65-F5344CB8AC3E}">
        <p14:creationId xmlns:p14="http://schemas.microsoft.com/office/powerpoint/2010/main" val="493539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72BCC-3860-8C9D-0109-D591F03AF7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66997-063D-4BE6-7A92-CA9C651A45D8}"/>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5593C007-E278-5704-D955-C0E3B655EE85}"/>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48D6A276-E07C-9AA4-7EA2-29EEE9FF944A}"/>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p>
        </p:txBody>
      </p:sp>
      <p:sp>
        <p:nvSpPr>
          <p:cNvPr id="7" name="Rectangle 6">
            <a:extLst>
              <a:ext uri="{FF2B5EF4-FFF2-40B4-BE49-F238E27FC236}">
                <a16:creationId xmlns:a16="http://schemas.microsoft.com/office/drawing/2014/main" id="{4912FEA8-48F3-08E9-2CF1-3BC2C25928FF}"/>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8" name="Rectangle 7">
            <a:extLst>
              <a:ext uri="{FF2B5EF4-FFF2-40B4-BE49-F238E27FC236}">
                <a16:creationId xmlns:a16="http://schemas.microsoft.com/office/drawing/2014/main" id="{95EADF4E-78B7-454C-0D11-86F0ED984F51}"/>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10" name="Rectangle 9">
            <a:extLst>
              <a:ext uri="{FF2B5EF4-FFF2-40B4-BE49-F238E27FC236}">
                <a16:creationId xmlns:a16="http://schemas.microsoft.com/office/drawing/2014/main" id="{DF779EF7-46BB-3B17-CDD4-63684197E846}"/>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p>
        </p:txBody>
      </p:sp>
      <p:sp>
        <p:nvSpPr>
          <p:cNvPr id="11" name="Rectangle 10">
            <a:extLst>
              <a:ext uri="{FF2B5EF4-FFF2-40B4-BE49-F238E27FC236}">
                <a16:creationId xmlns:a16="http://schemas.microsoft.com/office/drawing/2014/main" id="{77D9AFFF-969C-F5BD-4A93-71BFA1121654}"/>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p>
        </p:txBody>
      </p:sp>
      <p:sp>
        <p:nvSpPr>
          <p:cNvPr id="12" name="Rectangle 11">
            <a:extLst>
              <a:ext uri="{FF2B5EF4-FFF2-40B4-BE49-F238E27FC236}">
                <a16:creationId xmlns:a16="http://schemas.microsoft.com/office/drawing/2014/main" id="{F532A050-B538-9EE6-2619-BA0A91EC9AD8}"/>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pic>
        <p:nvPicPr>
          <p:cNvPr id="44" name="Picture 43">
            <a:extLst>
              <a:ext uri="{FF2B5EF4-FFF2-40B4-BE49-F238E27FC236}">
                <a16:creationId xmlns:a16="http://schemas.microsoft.com/office/drawing/2014/main" id="{369E4E5D-0532-EDD4-0442-555F13070125}"/>
              </a:ext>
            </a:extLst>
          </p:cNvPr>
          <p:cNvPicPr>
            <a:picLocks noChangeAspect="1"/>
          </p:cNvPicPr>
          <p:nvPr/>
        </p:nvPicPr>
        <p:blipFill>
          <a:blip r:embed="rId2">
            <a:duotone>
              <a:schemeClr val="accent2">
                <a:shade val="45000"/>
                <a:satMod val="135000"/>
              </a:schemeClr>
              <a:prstClr val="white"/>
            </a:duotone>
          </a:blip>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CA9DEE78-427C-C743-6845-684FB8855FDA}"/>
              </a:ext>
            </a:extLst>
          </p:cNvPr>
          <p:cNvPicPr>
            <a:picLocks noChangeAspect="1"/>
          </p:cNvPicPr>
          <p:nvPr/>
        </p:nvPicPr>
        <p:blipFill>
          <a:blip r:embed="rId2">
            <a:duotone>
              <a:schemeClr val="accent2">
                <a:shade val="45000"/>
                <a:satMod val="135000"/>
              </a:schemeClr>
              <a:prstClr val="white"/>
            </a:duotone>
          </a:blip>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62381981-3DC7-28D2-B701-B8AB26C4B5E2}"/>
              </a:ext>
            </a:extLst>
          </p:cNvPr>
          <p:cNvPicPr>
            <a:picLocks noChangeAspect="1"/>
          </p:cNvPicPr>
          <p:nvPr/>
        </p:nvPicPr>
        <p:blipFill>
          <a:blip r:embed="rId2">
            <a:duotone>
              <a:schemeClr val="accent2">
                <a:shade val="45000"/>
                <a:satMod val="135000"/>
              </a:schemeClr>
              <a:prstClr val="white"/>
            </a:duotone>
          </a:blip>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63A388E9-75F5-C1C7-63D9-6EB50BD2FCB4}"/>
              </a:ext>
            </a:extLst>
          </p:cNvPr>
          <p:cNvPicPr>
            <a:picLocks noChangeAspect="1"/>
          </p:cNvPicPr>
          <p:nvPr/>
        </p:nvPicPr>
        <p:blipFill>
          <a:blip r:embed="rId2">
            <a:duotone>
              <a:schemeClr val="accent2">
                <a:shade val="45000"/>
                <a:satMod val="135000"/>
              </a:schemeClr>
              <a:prstClr val="white"/>
            </a:duotone>
          </a:blip>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3DD7FD7D-A5E3-ABE6-D280-FA272ED34F12}"/>
              </a:ext>
            </a:extLst>
          </p:cNvPr>
          <p:cNvPicPr>
            <a:picLocks noChangeAspect="1"/>
          </p:cNvPicPr>
          <p:nvPr/>
        </p:nvPicPr>
        <p:blipFill>
          <a:blip r:embed="rId2">
            <a:duotone>
              <a:schemeClr val="accent2">
                <a:shade val="45000"/>
                <a:satMod val="135000"/>
              </a:schemeClr>
              <a:prstClr val="white"/>
            </a:duotone>
          </a:blip>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C3B600CC-5721-E9EA-EB36-546B3DE351A2}"/>
              </a:ext>
            </a:extLst>
          </p:cNvPr>
          <p:cNvPicPr>
            <a:picLocks noChangeAspect="1"/>
          </p:cNvPicPr>
          <p:nvPr/>
        </p:nvPicPr>
        <p:blipFill>
          <a:blip r:embed="rId2">
            <a:duotone>
              <a:schemeClr val="accent2">
                <a:shade val="45000"/>
                <a:satMod val="135000"/>
              </a:schemeClr>
              <a:prstClr val="white"/>
            </a:duotone>
          </a:blip>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0A77028D-A5F7-439E-2A59-B1823FC7D0EB}"/>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pic>
        <p:nvPicPr>
          <p:cNvPr id="13" name="Picture 12" descr="BONDIS Wall clock - orange 38 cm">
            <a:extLst>
              <a:ext uri="{FF2B5EF4-FFF2-40B4-BE49-F238E27FC236}">
                <a16:creationId xmlns:a16="http://schemas.microsoft.com/office/drawing/2014/main" id="{0184E54D-FC53-193D-973F-1955FB44A2E3}"/>
              </a:ext>
            </a:extLst>
          </p:cNvPr>
          <p:cNvPicPr>
            <a:picLocks noChangeAspect="1"/>
          </p:cNvPicPr>
          <p:nvPr/>
        </p:nvPicPr>
        <p:blipFill>
          <a:blip r:embed="rId3">
            <a:duotone>
              <a:schemeClr val="accent4">
                <a:shade val="45000"/>
                <a:satMod val="135000"/>
              </a:schemeClr>
              <a:prstClr val="white"/>
            </a:duotone>
          </a:blip>
          <a:stretch>
            <a:fillRect/>
          </a:stretch>
        </p:blipFill>
        <p:spPr>
          <a:xfrm>
            <a:off x="1875856" y="3452674"/>
            <a:ext cx="2693634" cy="2693634"/>
          </a:xfrm>
          <a:prstGeom prst="rect">
            <a:avLst/>
          </a:prstGeom>
        </p:spPr>
      </p:pic>
      <p:sp>
        <p:nvSpPr>
          <p:cNvPr id="14" name="TextBox 13">
            <a:extLst>
              <a:ext uri="{FF2B5EF4-FFF2-40B4-BE49-F238E27FC236}">
                <a16:creationId xmlns:a16="http://schemas.microsoft.com/office/drawing/2014/main" id="{2A797B36-8D63-D31F-CA8F-F6218AFD110E}"/>
              </a:ext>
            </a:extLst>
          </p:cNvPr>
          <p:cNvSpPr txBox="1"/>
          <p:nvPr/>
        </p:nvSpPr>
        <p:spPr>
          <a:xfrm>
            <a:off x="8021214" y="3250688"/>
            <a:ext cx="2494197" cy="830997"/>
          </a:xfrm>
          <a:prstGeom prst="rect">
            <a:avLst/>
          </a:prstGeom>
          <a:noFill/>
        </p:spPr>
        <p:txBody>
          <a:bodyPr wrap="square" rtlCol="0">
            <a:spAutoFit/>
          </a:bodyPr>
          <a:lstStyle/>
          <a:p>
            <a:pPr algn="ctr"/>
            <a:r>
              <a:rPr lang="en-US" sz="2400" b="1" dirty="0">
                <a:solidFill>
                  <a:srgbClr val="6DB2D2"/>
                </a:solidFill>
              </a:rPr>
              <a:t>COORDINATION TIME</a:t>
            </a:r>
          </a:p>
        </p:txBody>
      </p:sp>
      <p:cxnSp>
        <p:nvCxnSpPr>
          <p:cNvPr id="15" name="Straight Arrow Connector 14">
            <a:extLst>
              <a:ext uri="{FF2B5EF4-FFF2-40B4-BE49-F238E27FC236}">
                <a16:creationId xmlns:a16="http://schemas.microsoft.com/office/drawing/2014/main" id="{B1D3D247-C41F-613E-F567-5ABF8CEE8B4F}"/>
              </a:ext>
            </a:extLst>
          </p:cNvPr>
          <p:cNvCxnSpPr>
            <a:cxnSpLocks/>
          </p:cNvCxnSpPr>
          <p:nvPr/>
        </p:nvCxnSpPr>
        <p:spPr>
          <a:xfrm>
            <a:off x="9967516" y="1428295"/>
            <a:ext cx="697994" cy="433011"/>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2783B3E-57AE-78E2-020A-6596211C0F09}"/>
              </a:ext>
            </a:extLst>
          </p:cNvPr>
          <p:cNvCxnSpPr>
            <a:cxnSpLocks/>
          </p:cNvCxnSpPr>
          <p:nvPr/>
        </p:nvCxnSpPr>
        <p:spPr>
          <a:xfrm flipV="1">
            <a:off x="8034787" y="1338464"/>
            <a:ext cx="818215" cy="274508"/>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D097D8A6-1CA6-1D43-F9BE-A9C166BAC4AA}"/>
              </a:ext>
            </a:extLst>
          </p:cNvPr>
          <p:cNvCxnSpPr>
            <a:cxnSpLocks/>
          </p:cNvCxnSpPr>
          <p:nvPr/>
        </p:nvCxnSpPr>
        <p:spPr>
          <a:xfrm>
            <a:off x="11695640" y="3236168"/>
            <a:ext cx="0" cy="1377873"/>
          </a:xfrm>
          <a:prstGeom prst="straightConnector1">
            <a:avLst/>
          </a:prstGeom>
          <a:ln w="57150">
            <a:solidFill>
              <a:srgbClr val="FFFF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5550C008-62F4-D765-8AD6-FDA8E0FA465A}"/>
              </a:ext>
            </a:extLst>
          </p:cNvPr>
          <p:cNvCxnSpPr>
            <a:cxnSpLocks/>
          </p:cNvCxnSpPr>
          <p:nvPr/>
        </p:nvCxnSpPr>
        <p:spPr>
          <a:xfrm flipH="1">
            <a:off x="9812535" y="5896303"/>
            <a:ext cx="771508" cy="461912"/>
          </a:xfrm>
          <a:prstGeom prst="straightConnector1">
            <a:avLst/>
          </a:prstGeom>
          <a:ln w="57150">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B3A8968-DD4E-D728-EDEA-1E184BE179BB}"/>
              </a:ext>
            </a:extLst>
          </p:cNvPr>
          <p:cNvCxnSpPr>
            <a:cxnSpLocks/>
          </p:cNvCxnSpPr>
          <p:nvPr/>
        </p:nvCxnSpPr>
        <p:spPr>
          <a:xfrm flipH="1" flipV="1">
            <a:off x="6986382" y="5330909"/>
            <a:ext cx="1457512" cy="1027306"/>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5C36C48-DBA6-4673-B29F-F882D91C3F0E}"/>
              </a:ext>
            </a:extLst>
          </p:cNvPr>
          <p:cNvCxnSpPr>
            <a:cxnSpLocks/>
          </p:cNvCxnSpPr>
          <p:nvPr/>
        </p:nvCxnSpPr>
        <p:spPr>
          <a:xfrm flipV="1">
            <a:off x="6628576" y="2401560"/>
            <a:ext cx="167951" cy="1738179"/>
          </a:xfrm>
          <a:prstGeom prst="straightConnector1">
            <a:avLst/>
          </a:prstGeom>
          <a:ln w="57150">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0FE3CD2-EABF-719E-30B6-A3A8E8899F1B}"/>
              </a:ext>
            </a:extLst>
          </p:cNvPr>
          <p:cNvSpPr txBox="1"/>
          <p:nvPr/>
        </p:nvSpPr>
        <p:spPr>
          <a:xfrm>
            <a:off x="7913151" y="847241"/>
            <a:ext cx="1982330" cy="461665"/>
          </a:xfrm>
          <a:prstGeom prst="rect">
            <a:avLst/>
          </a:prstGeom>
          <a:noFill/>
        </p:spPr>
        <p:txBody>
          <a:bodyPr wrap="square">
            <a:spAutoFit/>
          </a:bodyPr>
          <a:lstStyle/>
          <a:p>
            <a:r>
              <a:rPr lang="en-US" sz="2400" b="1" dirty="0"/>
              <a:t>g</a:t>
            </a:r>
            <a:r>
              <a:rPr lang="en-US" sz="2400" b="1" baseline="-25000" dirty="0"/>
              <a:t>0</a:t>
            </a:r>
            <a:r>
              <a:rPr lang="en-US" sz="2400" b="1" baseline="30000" dirty="0"/>
              <a:t>A</a:t>
            </a:r>
            <a:r>
              <a:rPr lang="en-US" sz="2400" b="1" dirty="0"/>
              <a:t> </a:t>
            </a:r>
          </a:p>
        </p:txBody>
      </p:sp>
      <p:sp>
        <p:nvSpPr>
          <p:cNvPr id="30" name="TextBox 29">
            <a:extLst>
              <a:ext uri="{FF2B5EF4-FFF2-40B4-BE49-F238E27FC236}">
                <a16:creationId xmlns:a16="http://schemas.microsoft.com/office/drawing/2014/main" id="{A6E8231E-B0A5-9BBB-5CA6-2395972DBD61}"/>
              </a:ext>
            </a:extLst>
          </p:cNvPr>
          <p:cNvSpPr txBox="1"/>
          <p:nvPr/>
        </p:nvSpPr>
        <p:spPr>
          <a:xfrm>
            <a:off x="10286020" y="959885"/>
            <a:ext cx="1982330" cy="461665"/>
          </a:xfrm>
          <a:prstGeom prst="rect">
            <a:avLst/>
          </a:prstGeom>
          <a:noFill/>
        </p:spPr>
        <p:txBody>
          <a:bodyPr wrap="square">
            <a:spAutoFit/>
          </a:bodyPr>
          <a:lstStyle/>
          <a:p>
            <a:r>
              <a:rPr lang="en-US" sz="2400" b="1" dirty="0"/>
              <a:t>g</a:t>
            </a:r>
            <a:r>
              <a:rPr lang="en-US" sz="2400" b="1" baseline="-25000" dirty="0"/>
              <a:t>1</a:t>
            </a:r>
            <a:r>
              <a:rPr lang="en-US" sz="2400" b="1" baseline="30000" dirty="0"/>
              <a:t>B</a:t>
            </a:r>
            <a:r>
              <a:rPr lang="en-US" sz="2400" b="1" dirty="0"/>
              <a:t> </a:t>
            </a:r>
          </a:p>
        </p:txBody>
      </p:sp>
      <p:sp>
        <p:nvSpPr>
          <p:cNvPr id="31" name="TextBox 30">
            <a:extLst>
              <a:ext uri="{FF2B5EF4-FFF2-40B4-BE49-F238E27FC236}">
                <a16:creationId xmlns:a16="http://schemas.microsoft.com/office/drawing/2014/main" id="{4211086B-9961-C0CB-2CD8-A0EB3EEA8A49}"/>
              </a:ext>
            </a:extLst>
          </p:cNvPr>
          <p:cNvSpPr txBox="1"/>
          <p:nvPr/>
        </p:nvSpPr>
        <p:spPr>
          <a:xfrm>
            <a:off x="10837112" y="3736929"/>
            <a:ext cx="1982330" cy="461665"/>
          </a:xfrm>
          <a:prstGeom prst="rect">
            <a:avLst/>
          </a:prstGeom>
          <a:noFill/>
        </p:spPr>
        <p:txBody>
          <a:bodyPr wrap="square">
            <a:spAutoFit/>
          </a:bodyPr>
          <a:lstStyle/>
          <a:p>
            <a:r>
              <a:rPr lang="en-US" sz="2400" b="1" dirty="0"/>
              <a:t>g</a:t>
            </a:r>
            <a:r>
              <a:rPr lang="en-US" sz="2400" b="1" baseline="-25000" dirty="0"/>
              <a:t>2</a:t>
            </a:r>
            <a:r>
              <a:rPr lang="en-US" sz="2400" b="1" baseline="30000" dirty="0"/>
              <a:t>C</a:t>
            </a:r>
            <a:r>
              <a:rPr lang="en-US" sz="2400" b="1" dirty="0"/>
              <a:t> </a:t>
            </a:r>
          </a:p>
        </p:txBody>
      </p:sp>
      <p:sp>
        <p:nvSpPr>
          <p:cNvPr id="3" name="Slide Number Placeholder 2">
            <a:extLst>
              <a:ext uri="{FF2B5EF4-FFF2-40B4-BE49-F238E27FC236}">
                <a16:creationId xmlns:a16="http://schemas.microsoft.com/office/drawing/2014/main" id="{9C89A0DA-5257-5CE5-D1D8-D2106D3FB60B}"/>
              </a:ext>
            </a:extLst>
          </p:cNvPr>
          <p:cNvSpPr>
            <a:spLocks noGrp="1"/>
          </p:cNvSpPr>
          <p:nvPr>
            <p:ph type="sldNum" sz="quarter" idx="12"/>
          </p:nvPr>
        </p:nvSpPr>
        <p:spPr/>
        <p:txBody>
          <a:bodyPr/>
          <a:lstStyle/>
          <a:p>
            <a:fld id="{4544B810-10F2-2E49-94DF-FA7BE986B6B9}" type="slidenum">
              <a:rPr lang="en-US" smtClean="0"/>
              <a:t>14</a:t>
            </a:fld>
            <a:endParaRPr lang="en-US"/>
          </a:p>
        </p:txBody>
      </p:sp>
    </p:spTree>
    <p:extLst>
      <p:ext uri="{BB962C8B-B14F-4D97-AF65-F5344CB8AC3E}">
        <p14:creationId xmlns:p14="http://schemas.microsoft.com/office/powerpoint/2010/main" val="1008478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405B2-78BB-87B8-DA61-D1986B245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444C2-0418-073B-2380-CFD99EBD75A2}"/>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47FA9E10-061E-E73B-6061-2842AE9EE22E}"/>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6A2D1B0-DBA2-64EC-4FCE-B9E49056740E}"/>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p>
        </p:txBody>
      </p:sp>
      <p:sp>
        <p:nvSpPr>
          <p:cNvPr id="7" name="Rectangle 6">
            <a:extLst>
              <a:ext uri="{FF2B5EF4-FFF2-40B4-BE49-F238E27FC236}">
                <a16:creationId xmlns:a16="http://schemas.microsoft.com/office/drawing/2014/main" id="{138EF2FB-AFD9-FF27-F7DB-5BB514F5811C}"/>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8" name="Rectangle 7">
            <a:extLst>
              <a:ext uri="{FF2B5EF4-FFF2-40B4-BE49-F238E27FC236}">
                <a16:creationId xmlns:a16="http://schemas.microsoft.com/office/drawing/2014/main" id="{7EA7073D-8977-F8D8-8D95-1D335CA93A0C}"/>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10" name="Rectangle 9">
            <a:extLst>
              <a:ext uri="{FF2B5EF4-FFF2-40B4-BE49-F238E27FC236}">
                <a16:creationId xmlns:a16="http://schemas.microsoft.com/office/drawing/2014/main" id="{78591E5B-2143-AA16-A541-03B72B97AC34}"/>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p>
        </p:txBody>
      </p:sp>
      <p:sp>
        <p:nvSpPr>
          <p:cNvPr id="11" name="Rectangle 10">
            <a:extLst>
              <a:ext uri="{FF2B5EF4-FFF2-40B4-BE49-F238E27FC236}">
                <a16:creationId xmlns:a16="http://schemas.microsoft.com/office/drawing/2014/main" id="{5C079B8C-EE38-126C-EC8B-B5DC6D4E2DBB}"/>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p>
        </p:txBody>
      </p:sp>
      <p:sp>
        <p:nvSpPr>
          <p:cNvPr id="12" name="Rectangle 11">
            <a:extLst>
              <a:ext uri="{FF2B5EF4-FFF2-40B4-BE49-F238E27FC236}">
                <a16:creationId xmlns:a16="http://schemas.microsoft.com/office/drawing/2014/main" id="{5B83F9AE-3907-9CE3-E28B-0F9F9BB0735C}"/>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pic>
        <p:nvPicPr>
          <p:cNvPr id="44" name="Picture 43">
            <a:extLst>
              <a:ext uri="{FF2B5EF4-FFF2-40B4-BE49-F238E27FC236}">
                <a16:creationId xmlns:a16="http://schemas.microsoft.com/office/drawing/2014/main" id="{0F3E48E9-83BC-8452-5423-FA6E3532E652}"/>
              </a:ext>
            </a:extLst>
          </p:cNvPr>
          <p:cNvPicPr>
            <a:picLocks noChangeAspect="1"/>
          </p:cNvPicPr>
          <p:nvPr/>
        </p:nvPicPr>
        <p:blipFill>
          <a:blip r:embed="rId2">
            <a:duotone>
              <a:schemeClr val="accent2">
                <a:shade val="45000"/>
                <a:satMod val="135000"/>
              </a:schemeClr>
              <a:prstClr val="white"/>
            </a:duotone>
          </a:blip>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998067C9-9377-BFA0-D377-1DD880B6F2DA}"/>
              </a:ext>
            </a:extLst>
          </p:cNvPr>
          <p:cNvPicPr>
            <a:picLocks noChangeAspect="1"/>
          </p:cNvPicPr>
          <p:nvPr/>
        </p:nvPicPr>
        <p:blipFill>
          <a:blip r:embed="rId2">
            <a:duotone>
              <a:schemeClr val="accent2">
                <a:shade val="45000"/>
                <a:satMod val="135000"/>
              </a:schemeClr>
              <a:prstClr val="white"/>
            </a:duotone>
          </a:blip>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16F8985E-7A13-9401-5D84-30AB96D9917B}"/>
              </a:ext>
            </a:extLst>
          </p:cNvPr>
          <p:cNvPicPr>
            <a:picLocks noChangeAspect="1"/>
          </p:cNvPicPr>
          <p:nvPr/>
        </p:nvPicPr>
        <p:blipFill>
          <a:blip r:embed="rId2">
            <a:duotone>
              <a:schemeClr val="accent2">
                <a:shade val="45000"/>
                <a:satMod val="135000"/>
              </a:schemeClr>
              <a:prstClr val="white"/>
            </a:duotone>
          </a:blip>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9393148D-4A23-F889-1195-9BE59251C9A5}"/>
              </a:ext>
            </a:extLst>
          </p:cNvPr>
          <p:cNvPicPr>
            <a:picLocks noChangeAspect="1"/>
          </p:cNvPicPr>
          <p:nvPr/>
        </p:nvPicPr>
        <p:blipFill>
          <a:blip r:embed="rId2">
            <a:duotone>
              <a:schemeClr val="accent2">
                <a:shade val="45000"/>
                <a:satMod val="135000"/>
              </a:schemeClr>
              <a:prstClr val="white"/>
            </a:duotone>
          </a:blip>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7EC0232E-C63B-60BB-8753-89DC8EBDDA0E}"/>
              </a:ext>
            </a:extLst>
          </p:cNvPr>
          <p:cNvPicPr>
            <a:picLocks noChangeAspect="1"/>
          </p:cNvPicPr>
          <p:nvPr/>
        </p:nvPicPr>
        <p:blipFill>
          <a:blip r:embed="rId2">
            <a:duotone>
              <a:schemeClr val="accent2">
                <a:shade val="45000"/>
                <a:satMod val="135000"/>
              </a:schemeClr>
              <a:prstClr val="white"/>
            </a:duotone>
          </a:blip>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48121AED-D47C-91F1-4F81-B9BB648F7855}"/>
              </a:ext>
            </a:extLst>
          </p:cNvPr>
          <p:cNvPicPr>
            <a:picLocks noChangeAspect="1"/>
          </p:cNvPicPr>
          <p:nvPr/>
        </p:nvPicPr>
        <p:blipFill>
          <a:blip r:embed="rId2">
            <a:duotone>
              <a:schemeClr val="accent2">
                <a:shade val="45000"/>
                <a:satMod val="135000"/>
              </a:schemeClr>
              <a:prstClr val="white"/>
            </a:duotone>
          </a:blip>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14582757-0725-0EAC-251B-310E9C0609B2}"/>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pic>
        <p:nvPicPr>
          <p:cNvPr id="13" name="Picture 12" descr="BONDIS Wall clock - orange 38 cm">
            <a:extLst>
              <a:ext uri="{FF2B5EF4-FFF2-40B4-BE49-F238E27FC236}">
                <a16:creationId xmlns:a16="http://schemas.microsoft.com/office/drawing/2014/main" id="{0C1D8B63-DD17-8FFD-3573-6EA16A43299F}"/>
              </a:ext>
            </a:extLst>
          </p:cNvPr>
          <p:cNvPicPr>
            <a:picLocks noChangeAspect="1"/>
          </p:cNvPicPr>
          <p:nvPr/>
        </p:nvPicPr>
        <p:blipFill>
          <a:blip r:embed="rId3">
            <a:duotone>
              <a:schemeClr val="accent4">
                <a:shade val="45000"/>
                <a:satMod val="135000"/>
              </a:schemeClr>
              <a:prstClr val="white"/>
            </a:duotone>
          </a:blip>
          <a:stretch>
            <a:fillRect/>
          </a:stretch>
        </p:blipFill>
        <p:spPr>
          <a:xfrm>
            <a:off x="1875856" y="3452674"/>
            <a:ext cx="2693634" cy="2693634"/>
          </a:xfrm>
          <a:prstGeom prst="rect">
            <a:avLst/>
          </a:prstGeom>
        </p:spPr>
      </p:pic>
      <p:sp>
        <p:nvSpPr>
          <p:cNvPr id="14" name="TextBox 13">
            <a:extLst>
              <a:ext uri="{FF2B5EF4-FFF2-40B4-BE49-F238E27FC236}">
                <a16:creationId xmlns:a16="http://schemas.microsoft.com/office/drawing/2014/main" id="{4A9EEA83-0FFF-EC2C-420C-3006258E8CC5}"/>
              </a:ext>
            </a:extLst>
          </p:cNvPr>
          <p:cNvSpPr txBox="1"/>
          <p:nvPr/>
        </p:nvSpPr>
        <p:spPr>
          <a:xfrm>
            <a:off x="8021214" y="3250688"/>
            <a:ext cx="2494197" cy="830997"/>
          </a:xfrm>
          <a:prstGeom prst="rect">
            <a:avLst/>
          </a:prstGeom>
          <a:noFill/>
        </p:spPr>
        <p:txBody>
          <a:bodyPr wrap="square" rtlCol="0">
            <a:spAutoFit/>
          </a:bodyPr>
          <a:lstStyle/>
          <a:p>
            <a:pPr algn="ctr"/>
            <a:r>
              <a:rPr lang="en-US" sz="2400" b="1" dirty="0">
                <a:solidFill>
                  <a:srgbClr val="6DB2D2"/>
                </a:solidFill>
              </a:rPr>
              <a:t>COORDINATION TIME</a:t>
            </a:r>
          </a:p>
        </p:txBody>
      </p:sp>
      <p:sp>
        <p:nvSpPr>
          <p:cNvPr id="38" name="TextBox 37">
            <a:extLst>
              <a:ext uri="{FF2B5EF4-FFF2-40B4-BE49-F238E27FC236}">
                <a16:creationId xmlns:a16="http://schemas.microsoft.com/office/drawing/2014/main" id="{3FB93671-E94F-16D1-9937-DFE9F3BAADFD}"/>
              </a:ext>
            </a:extLst>
          </p:cNvPr>
          <p:cNvSpPr txBox="1"/>
          <p:nvPr/>
        </p:nvSpPr>
        <p:spPr>
          <a:xfrm>
            <a:off x="4931702" y="4476224"/>
            <a:ext cx="1982330" cy="369332"/>
          </a:xfrm>
          <a:prstGeom prst="rect">
            <a:avLst/>
          </a:prstGeom>
          <a:noFill/>
        </p:spPr>
        <p:txBody>
          <a:bodyPr wrap="square">
            <a:spAutoFit/>
          </a:bodyPr>
          <a:lstStyle/>
          <a:p>
            <a:r>
              <a:rPr lang="en-US" dirty="0">
                <a:highlight>
                  <a:srgbClr val="FFFF00"/>
                </a:highlight>
              </a:rPr>
              <a:t>g</a:t>
            </a:r>
            <a:r>
              <a:rPr lang="en-US" baseline="-25000" dirty="0">
                <a:highlight>
                  <a:srgbClr val="FFFF00"/>
                </a:highlight>
              </a:rPr>
              <a:t>0</a:t>
            </a:r>
            <a:r>
              <a:rPr lang="en-US" baseline="30000" dirty="0">
                <a:highlight>
                  <a:srgbClr val="FFFF00"/>
                </a:highlight>
              </a:rPr>
              <a:t>FINAL </a:t>
            </a:r>
            <a:r>
              <a:rPr lang="en-US" dirty="0">
                <a:highlight>
                  <a:srgbClr val="FFFF00"/>
                </a:highlight>
              </a:rPr>
              <a:t>&amp; g</a:t>
            </a:r>
            <a:r>
              <a:rPr lang="en-US" baseline="-25000" dirty="0">
                <a:highlight>
                  <a:srgbClr val="FFFF00"/>
                </a:highlight>
              </a:rPr>
              <a:t>7</a:t>
            </a:r>
            <a:r>
              <a:rPr lang="en-US" baseline="30000" dirty="0">
                <a:highlight>
                  <a:srgbClr val="FFFF00"/>
                </a:highlight>
              </a:rPr>
              <a:t>FINAL</a:t>
            </a:r>
            <a:r>
              <a:rPr lang="en-US" sz="1800" dirty="0">
                <a:highlight>
                  <a:srgbClr val="FFFF00"/>
                </a:highlight>
              </a:rPr>
              <a:t> </a:t>
            </a:r>
            <a:endParaRPr lang="en-US" dirty="0">
              <a:highlight>
                <a:srgbClr val="FFFF00"/>
              </a:highlight>
            </a:endParaRPr>
          </a:p>
        </p:txBody>
      </p:sp>
      <p:sp>
        <p:nvSpPr>
          <p:cNvPr id="39" name="TextBox 38">
            <a:extLst>
              <a:ext uri="{FF2B5EF4-FFF2-40B4-BE49-F238E27FC236}">
                <a16:creationId xmlns:a16="http://schemas.microsoft.com/office/drawing/2014/main" id="{4E7D5A36-5E65-6FE3-5716-EA8CA508F0F0}"/>
              </a:ext>
            </a:extLst>
          </p:cNvPr>
          <p:cNvSpPr txBox="1"/>
          <p:nvPr/>
        </p:nvSpPr>
        <p:spPr>
          <a:xfrm>
            <a:off x="5302075" y="1972835"/>
            <a:ext cx="1982330" cy="369332"/>
          </a:xfrm>
          <a:prstGeom prst="rect">
            <a:avLst/>
          </a:prstGeom>
          <a:noFill/>
        </p:spPr>
        <p:txBody>
          <a:bodyPr wrap="square">
            <a:spAutoFit/>
          </a:bodyPr>
          <a:lstStyle/>
          <a:p>
            <a:r>
              <a:rPr lang="en-US" dirty="0">
                <a:highlight>
                  <a:srgbClr val="FFFF00"/>
                </a:highlight>
              </a:rPr>
              <a:t>g</a:t>
            </a:r>
            <a:r>
              <a:rPr lang="en-US" baseline="-25000" dirty="0">
                <a:highlight>
                  <a:srgbClr val="FFFF00"/>
                </a:highlight>
              </a:rPr>
              <a:t>6</a:t>
            </a:r>
            <a:r>
              <a:rPr lang="en-US" baseline="30000" dirty="0">
                <a:highlight>
                  <a:srgbClr val="FFFF00"/>
                </a:highlight>
              </a:rPr>
              <a:t>FINAL</a:t>
            </a:r>
            <a:endParaRPr lang="en-US" dirty="0">
              <a:highlight>
                <a:srgbClr val="FFFF00"/>
              </a:highlight>
            </a:endParaRPr>
          </a:p>
        </p:txBody>
      </p:sp>
      <p:sp>
        <p:nvSpPr>
          <p:cNvPr id="40" name="TextBox 39">
            <a:extLst>
              <a:ext uri="{FF2B5EF4-FFF2-40B4-BE49-F238E27FC236}">
                <a16:creationId xmlns:a16="http://schemas.microsoft.com/office/drawing/2014/main" id="{6E2D9FB2-7DE7-1B32-A64D-A3003279C39A}"/>
              </a:ext>
            </a:extLst>
          </p:cNvPr>
          <p:cNvSpPr txBox="1"/>
          <p:nvPr/>
        </p:nvSpPr>
        <p:spPr>
          <a:xfrm>
            <a:off x="8022452" y="888953"/>
            <a:ext cx="1982330" cy="369332"/>
          </a:xfrm>
          <a:prstGeom prst="rect">
            <a:avLst/>
          </a:prstGeom>
          <a:noFill/>
        </p:spPr>
        <p:txBody>
          <a:bodyPr wrap="square">
            <a:spAutoFit/>
          </a:bodyPr>
          <a:lstStyle/>
          <a:p>
            <a:r>
              <a:rPr lang="en-US" dirty="0">
                <a:highlight>
                  <a:srgbClr val="FFFF00"/>
                </a:highlight>
              </a:rPr>
              <a:t>g</a:t>
            </a:r>
            <a:r>
              <a:rPr lang="en-US" baseline="-25000" dirty="0">
                <a:highlight>
                  <a:srgbClr val="FFFF00"/>
                </a:highlight>
              </a:rPr>
              <a:t>5</a:t>
            </a:r>
            <a:r>
              <a:rPr lang="en-US" baseline="30000" dirty="0">
                <a:highlight>
                  <a:srgbClr val="FFFF00"/>
                </a:highlight>
              </a:rPr>
              <a:t>FINAL</a:t>
            </a:r>
            <a:endParaRPr lang="en-US" dirty="0">
              <a:highlight>
                <a:srgbClr val="FFFF00"/>
              </a:highlight>
            </a:endParaRPr>
          </a:p>
        </p:txBody>
      </p:sp>
      <p:sp>
        <p:nvSpPr>
          <p:cNvPr id="41" name="TextBox 40">
            <a:extLst>
              <a:ext uri="{FF2B5EF4-FFF2-40B4-BE49-F238E27FC236}">
                <a16:creationId xmlns:a16="http://schemas.microsoft.com/office/drawing/2014/main" id="{51CFB6EE-18F4-3684-0FEB-E0FBFBFC842C}"/>
              </a:ext>
            </a:extLst>
          </p:cNvPr>
          <p:cNvSpPr txBox="1"/>
          <p:nvPr/>
        </p:nvSpPr>
        <p:spPr>
          <a:xfrm>
            <a:off x="9987997" y="4392461"/>
            <a:ext cx="1982330" cy="369332"/>
          </a:xfrm>
          <a:prstGeom prst="rect">
            <a:avLst/>
          </a:prstGeom>
          <a:noFill/>
        </p:spPr>
        <p:txBody>
          <a:bodyPr wrap="square">
            <a:spAutoFit/>
          </a:bodyPr>
          <a:lstStyle/>
          <a:p>
            <a:r>
              <a:rPr lang="en-US" dirty="0">
                <a:highlight>
                  <a:srgbClr val="FFFF00"/>
                </a:highlight>
              </a:rPr>
              <a:t>g</a:t>
            </a:r>
            <a:r>
              <a:rPr lang="en-US" baseline="-25000" dirty="0">
                <a:highlight>
                  <a:srgbClr val="FFFF00"/>
                </a:highlight>
              </a:rPr>
              <a:t>3</a:t>
            </a:r>
            <a:r>
              <a:rPr lang="en-US" baseline="30000" dirty="0">
                <a:highlight>
                  <a:srgbClr val="FFFF00"/>
                </a:highlight>
              </a:rPr>
              <a:t>FINAL</a:t>
            </a:r>
            <a:endParaRPr lang="en-US" dirty="0">
              <a:highlight>
                <a:srgbClr val="FFFF00"/>
              </a:highlight>
            </a:endParaRPr>
          </a:p>
        </p:txBody>
      </p:sp>
      <p:sp>
        <p:nvSpPr>
          <p:cNvPr id="42" name="TextBox 41">
            <a:extLst>
              <a:ext uri="{FF2B5EF4-FFF2-40B4-BE49-F238E27FC236}">
                <a16:creationId xmlns:a16="http://schemas.microsoft.com/office/drawing/2014/main" id="{923D64F0-D87D-2BDA-D2D9-6B93B2370A53}"/>
              </a:ext>
            </a:extLst>
          </p:cNvPr>
          <p:cNvSpPr txBox="1"/>
          <p:nvPr/>
        </p:nvSpPr>
        <p:spPr>
          <a:xfrm>
            <a:off x="10699304" y="3294760"/>
            <a:ext cx="1982330" cy="369332"/>
          </a:xfrm>
          <a:prstGeom prst="rect">
            <a:avLst/>
          </a:prstGeom>
          <a:noFill/>
        </p:spPr>
        <p:txBody>
          <a:bodyPr wrap="square">
            <a:spAutoFit/>
          </a:bodyPr>
          <a:lstStyle/>
          <a:p>
            <a:r>
              <a:rPr lang="en-US" dirty="0">
                <a:highlight>
                  <a:srgbClr val="FFFF00"/>
                </a:highlight>
              </a:rPr>
              <a:t>g</a:t>
            </a:r>
            <a:r>
              <a:rPr lang="en-US" baseline="-25000" dirty="0">
                <a:highlight>
                  <a:srgbClr val="FFFF00"/>
                </a:highlight>
              </a:rPr>
              <a:t>4</a:t>
            </a:r>
            <a:r>
              <a:rPr lang="en-US" baseline="30000" dirty="0">
                <a:highlight>
                  <a:srgbClr val="FFFF00"/>
                </a:highlight>
              </a:rPr>
              <a:t>FINAL</a:t>
            </a:r>
            <a:endParaRPr lang="en-US" dirty="0">
              <a:highlight>
                <a:srgbClr val="FFFF00"/>
              </a:highlight>
            </a:endParaRPr>
          </a:p>
        </p:txBody>
      </p:sp>
      <p:sp>
        <p:nvSpPr>
          <p:cNvPr id="43" name="TextBox 42">
            <a:extLst>
              <a:ext uri="{FF2B5EF4-FFF2-40B4-BE49-F238E27FC236}">
                <a16:creationId xmlns:a16="http://schemas.microsoft.com/office/drawing/2014/main" id="{2A2BA1E2-B413-E320-F695-D529B1A70A7C}"/>
              </a:ext>
            </a:extLst>
          </p:cNvPr>
          <p:cNvSpPr txBox="1"/>
          <p:nvPr/>
        </p:nvSpPr>
        <p:spPr>
          <a:xfrm>
            <a:off x="7484631" y="6117031"/>
            <a:ext cx="1982330" cy="369332"/>
          </a:xfrm>
          <a:prstGeom prst="rect">
            <a:avLst/>
          </a:prstGeom>
          <a:noFill/>
        </p:spPr>
        <p:txBody>
          <a:bodyPr wrap="square">
            <a:spAutoFit/>
          </a:bodyPr>
          <a:lstStyle/>
          <a:p>
            <a:r>
              <a:rPr lang="en-US" dirty="0">
                <a:highlight>
                  <a:srgbClr val="FFFF00"/>
                </a:highlight>
              </a:rPr>
              <a:t>g</a:t>
            </a:r>
            <a:r>
              <a:rPr lang="en-US" baseline="-25000" dirty="0">
                <a:highlight>
                  <a:srgbClr val="FFFF00"/>
                </a:highlight>
              </a:rPr>
              <a:t>1</a:t>
            </a:r>
            <a:r>
              <a:rPr lang="en-US" baseline="30000" dirty="0">
                <a:highlight>
                  <a:srgbClr val="FFFF00"/>
                </a:highlight>
              </a:rPr>
              <a:t>FINAL </a:t>
            </a:r>
            <a:r>
              <a:rPr lang="en-US" dirty="0">
                <a:highlight>
                  <a:srgbClr val="FFFF00"/>
                </a:highlight>
              </a:rPr>
              <a:t>&amp; g</a:t>
            </a:r>
            <a:r>
              <a:rPr lang="en-US" baseline="-25000" dirty="0">
                <a:highlight>
                  <a:srgbClr val="FFFF00"/>
                </a:highlight>
              </a:rPr>
              <a:t>2</a:t>
            </a:r>
            <a:r>
              <a:rPr lang="en-US" baseline="30000" dirty="0">
                <a:highlight>
                  <a:srgbClr val="FFFF00"/>
                </a:highlight>
              </a:rPr>
              <a:t>FINAL</a:t>
            </a:r>
            <a:r>
              <a:rPr lang="en-US" sz="1800" dirty="0">
                <a:highlight>
                  <a:srgbClr val="FFFF00"/>
                </a:highlight>
              </a:rPr>
              <a:t> </a:t>
            </a:r>
            <a:endParaRPr lang="en-US" dirty="0">
              <a:highlight>
                <a:srgbClr val="FFFF00"/>
              </a:highlight>
            </a:endParaRPr>
          </a:p>
        </p:txBody>
      </p:sp>
      <p:sp>
        <p:nvSpPr>
          <p:cNvPr id="3" name="Slide Number Placeholder 2">
            <a:extLst>
              <a:ext uri="{FF2B5EF4-FFF2-40B4-BE49-F238E27FC236}">
                <a16:creationId xmlns:a16="http://schemas.microsoft.com/office/drawing/2014/main" id="{5DB3A537-2B6C-6214-6D2F-76652B245177}"/>
              </a:ext>
            </a:extLst>
          </p:cNvPr>
          <p:cNvSpPr>
            <a:spLocks noGrp="1"/>
          </p:cNvSpPr>
          <p:nvPr>
            <p:ph type="sldNum" sz="quarter" idx="12"/>
          </p:nvPr>
        </p:nvSpPr>
        <p:spPr/>
        <p:txBody>
          <a:bodyPr/>
          <a:lstStyle/>
          <a:p>
            <a:fld id="{4544B810-10F2-2E49-94DF-FA7BE986B6B9}" type="slidenum">
              <a:rPr lang="en-US" smtClean="0"/>
              <a:t>15</a:t>
            </a:fld>
            <a:endParaRPr lang="en-US"/>
          </a:p>
        </p:txBody>
      </p:sp>
    </p:spTree>
    <p:extLst>
      <p:ext uri="{BB962C8B-B14F-4D97-AF65-F5344CB8AC3E}">
        <p14:creationId xmlns:p14="http://schemas.microsoft.com/office/powerpoint/2010/main" val="34818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4CDE0-7619-927F-1E31-34F004DAD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3EAD4D-599F-4806-19D4-2F8DFB8BDC5B}"/>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6C3E58FD-A04D-515B-2AB6-E9F46E66372B}"/>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91FBA99F-D094-F75D-1524-DB957DA6E20A}"/>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p>
        </p:txBody>
      </p:sp>
      <p:sp>
        <p:nvSpPr>
          <p:cNvPr id="7" name="Rectangle 6">
            <a:extLst>
              <a:ext uri="{FF2B5EF4-FFF2-40B4-BE49-F238E27FC236}">
                <a16:creationId xmlns:a16="http://schemas.microsoft.com/office/drawing/2014/main" id="{8167EFE9-A7FD-8A22-A7DC-27DB36970994}"/>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8" name="Rectangle 7">
            <a:extLst>
              <a:ext uri="{FF2B5EF4-FFF2-40B4-BE49-F238E27FC236}">
                <a16:creationId xmlns:a16="http://schemas.microsoft.com/office/drawing/2014/main" id="{BA52BA26-BF4C-F0F6-021B-12BD1E1A124E}"/>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10" name="Rectangle 9">
            <a:extLst>
              <a:ext uri="{FF2B5EF4-FFF2-40B4-BE49-F238E27FC236}">
                <a16:creationId xmlns:a16="http://schemas.microsoft.com/office/drawing/2014/main" id="{2C72A411-3772-00AF-B833-846743FC302B}"/>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p>
        </p:txBody>
      </p:sp>
      <p:sp>
        <p:nvSpPr>
          <p:cNvPr id="11" name="Rectangle 10">
            <a:extLst>
              <a:ext uri="{FF2B5EF4-FFF2-40B4-BE49-F238E27FC236}">
                <a16:creationId xmlns:a16="http://schemas.microsoft.com/office/drawing/2014/main" id="{01B07984-CB4C-5C8B-6CB6-21DDC7A1C423}"/>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p>
        </p:txBody>
      </p:sp>
      <p:sp>
        <p:nvSpPr>
          <p:cNvPr id="12" name="Rectangle 11">
            <a:extLst>
              <a:ext uri="{FF2B5EF4-FFF2-40B4-BE49-F238E27FC236}">
                <a16:creationId xmlns:a16="http://schemas.microsoft.com/office/drawing/2014/main" id="{8C4DE311-A282-0071-DE39-F06E27DB18F6}"/>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pic>
        <p:nvPicPr>
          <p:cNvPr id="44" name="Picture 43">
            <a:extLst>
              <a:ext uri="{FF2B5EF4-FFF2-40B4-BE49-F238E27FC236}">
                <a16:creationId xmlns:a16="http://schemas.microsoft.com/office/drawing/2014/main" id="{999D47A3-8BC6-D32F-F690-2E9BC1F1F20D}"/>
              </a:ext>
            </a:extLst>
          </p:cNvPr>
          <p:cNvPicPr>
            <a:picLocks noChangeAspect="1"/>
          </p:cNvPicPr>
          <p:nvPr/>
        </p:nvPicPr>
        <p:blipFill>
          <a:blip r:embed="rId2">
            <a:duotone>
              <a:schemeClr val="accent2">
                <a:shade val="45000"/>
                <a:satMod val="135000"/>
              </a:schemeClr>
              <a:prstClr val="white"/>
            </a:duotone>
          </a:blip>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74C21711-71B6-C110-5555-54DC87EC8624}"/>
              </a:ext>
            </a:extLst>
          </p:cNvPr>
          <p:cNvPicPr>
            <a:picLocks noChangeAspect="1"/>
          </p:cNvPicPr>
          <p:nvPr/>
        </p:nvPicPr>
        <p:blipFill>
          <a:blip r:embed="rId2">
            <a:duotone>
              <a:schemeClr val="accent2">
                <a:shade val="45000"/>
                <a:satMod val="135000"/>
              </a:schemeClr>
              <a:prstClr val="white"/>
            </a:duotone>
          </a:blip>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62F68D16-926F-252A-573F-555F7CAEE417}"/>
              </a:ext>
            </a:extLst>
          </p:cNvPr>
          <p:cNvPicPr>
            <a:picLocks noChangeAspect="1"/>
          </p:cNvPicPr>
          <p:nvPr/>
        </p:nvPicPr>
        <p:blipFill>
          <a:blip r:embed="rId2">
            <a:duotone>
              <a:schemeClr val="accent2">
                <a:shade val="45000"/>
                <a:satMod val="135000"/>
              </a:schemeClr>
              <a:prstClr val="white"/>
            </a:duotone>
          </a:blip>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EE64CDE1-FB64-613F-4511-1C45F9BD225A}"/>
              </a:ext>
            </a:extLst>
          </p:cNvPr>
          <p:cNvPicPr>
            <a:picLocks noChangeAspect="1"/>
          </p:cNvPicPr>
          <p:nvPr/>
        </p:nvPicPr>
        <p:blipFill>
          <a:blip r:embed="rId2">
            <a:duotone>
              <a:schemeClr val="accent2">
                <a:shade val="45000"/>
                <a:satMod val="135000"/>
              </a:schemeClr>
              <a:prstClr val="white"/>
            </a:duotone>
          </a:blip>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9AD1FFF5-67A7-318F-E7F0-06EB8A047DF0}"/>
              </a:ext>
            </a:extLst>
          </p:cNvPr>
          <p:cNvPicPr>
            <a:picLocks noChangeAspect="1"/>
          </p:cNvPicPr>
          <p:nvPr/>
        </p:nvPicPr>
        <p:blipFill>
          <a:blip r:embed="rId2">
            <a:duotone>
              <a:schemeClr val="accent2">
                <a:shade val="45000"/>
                <a:satMod val="135000"/>
              </a:schemeClr>
              <a:prstClr val="white"/>
            </a:duotone>
          </a:blip>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8213C5DB-2291-B62A-A297-2E11FC182151}"/>
              </a:ext>
            </a:extLst>
          </p:cNvPr>
          <p:cNvPicPr>
            <a:picLocks noChangeAspect="1"/>
          </p:cNvPicPr>
          <p:nvPr/>
        </p:nvPicPr>
        <p:blipFill>
          <a:blip r:embed="rId2">
            <a:duotone>
              <a:schemeClr val="accent2">
                <a:shade val="45000"/>
                <a:satMod val="135000"/>
              </a:schemeClr>
              <a:prstClr val="white"/>
            </a:duotone>
          </a:blip>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422ED54E-A853-7434-6FA8-BC0AF32DCD32}"/>
              </a:ext>
            </a:extLst>
          </p:cNvPr>
          <p:cNvSpPr>
            <a:spLocks noGrp="1"/>
          </p:cNvSpPr>
          <p:nvPr>
            <p:ph idx="1"/>
          </p:nvPr>
        </p:nvSpPr>
        <p:spPr>
          <a:xfrm>
            <a:off x="838200" y="1825625"/>
            <a:ext cx="4920671" cy="4351338"/>
          </a:xfrm>
        </p:spPr>
        <p:txBody>
          <a:bodyPr/>
          <a:lstStyle/>
          <a:p>
            <a:pPr marL="0" indent="0" algn="ctr">
              <a:buNone/>
            </a:pPr>
            <a:r>
              <a:rPr lang="en-GB" b="1" u="sng" dirty="0"/>
              <a:t>END STATE</a:t>
            </a:r>
          </a:p>
          <a:p>
            <a:pPr marL="0" indent="0">
              <a:buNone/>
            </a:pPr>
            <a:r>
              <a:rPr lang="en-GB" dirty="0"/>
              <a:t>All devices share one consistent model.</a:t>
            </a:r>
            <a:endParaRPr lang="en-US" dirty="0"/>
          </a:p>
          <a:p>
            <a:pPr marL="0" indent="0">
              <a:buNone/>
            </a:pPr>
            <a:endParaRPr lang="en-US" dirty="0"/>
          </a:p>
        </p:txBody>
      </p:sp>
      <p:pic>
        <p:nvPicPr>
          <p:cNvPr id="13" name="Picture 12" descr="BONDIS Wall clock - orange 38 cm">
            <a:extLst>
              <a:ext uri="{FF2B5EF4-FFF2-40B4-BE49-F238E27FC236}">
                <a16:creationId xmlns:a16="http://schemas.microsoft.com/office/drawing/2014/main" id="{9BD659BE-53A1-AB5A-51B0-E54C308EFFDE}"/>
              </a:ext>
            </a:extLst>
          </p:cNvPr>
          <p:cNvPicPr>
            <a:picLocks noChangeAspect="1"/>
          </p:cNvPicPr>
          <p:nvPr/>
        </p:nvPicPr>
        <p:blipFill>
          <a:blip r:embed="rId3">
            <a:duotone>
              <a:schemeClr val="accent4">
                <a:shade val="45000"/>
                <a:satMod val="135000"/>
              </a:schemeClr>
              <a:prstClr val="white"/>
            </a:duotone>
          </a:blip>
          <a:stretch>
            <a:fillRect/>
          </a:stretch>
        </p:blipFill>
        <p:spPr>
          <a:xfrm>
            <a:off x="1875856" y="3452674"/>
            <a:ext cx="2693634" cy="2693634"/>
          </a:xfrm>
          <a:prstGeom prst="rect">
            <a:avLst/>
          </a:prstGeom>
        </p:spPr>
      </p:pic>
      <p:sp>
        <p:nvSpPr>
          <p:cNvPr id="14" name="TextBox 13">
            <a:extLst>
              <a:ext uri="{FF2B5EF4-FFF2-40B4-BE49-F238E27FC236}">
                <a16:creationId xmlns:a16="http://schemas.microsoft.com/office/drawing/2014/main" id="{25D35ECB-1A30-7BDF-2B93-097B51146252}"/>
              </a:ext>
            </a:extLst>
          </p:cNvPr>
          <p:cNvSpPr txBox="1"/>
          <p:nvPr/>
        </p:nvSpPr>
        <p:spPr>
          <a:xfrm>
            <a:off x="8021214" y="3250688"/>
            <a:ext cx="2494197" cy="830997"/>
          </a:xfrm>
          <a:prstGeom prst="rect">
            <a:avLst/>
          </a:prstGeom>
          <a:noFill/>
        </p:spPr>
        <p:txBody>
          <a:bodyPr wrap="square" rtlCol="0">
            <a:spAutoFit/>
          </a:bodyPr>
          <a:lstStyle/>
          <a:p>
            <a:pPr algn="ctr"/>
            <a:r>
              <a:rPr lang="en-US" sz="2400" b="1" dirty="0">
                <a:solidFill>
                  <a:srgbClr val="6DB2D2"/>
                </a:solidFill>
              </a:rPr>
              <a:t>COORDINATION TIME</a:t>
            </a:r>
          </a:p>
        </p:txBody>
      </p:sp>
      <p:sp>
        <p:nvSpPr>
          <p:cNvPr id="3" name="TextBox 2">
            <a:extLst>
              <a:ext uri="{FF2B5EF4-FFF2-40B4-BE49-F238E27FC236}">
                <a16:creationId xmlns:a16="http://schemas.microsoft.com/office/drawing/2014/main" id="{B8042162-D729-3BE3-63E8-572E3EDE6487}"/>
              </a:ext>
            </a:extLst>
          </p:cNvPr>
          <p:cNvSpPr txBox="1"/>
          <p:nvPr/>
        </p:nvSpPr>
        <p:spPr>
          <a:xfrm rot="19453679">
            <a:off x="4648222" y="714262"/>
            <a:ext cx="2494197" cy="461665"/>
          </a:xfrm>
          <a:prstGeom prst="rect">
            <a:avLst/>
          </a:prstGeom>
          <a:noFill/>
        </p:spPr>
        <p:txBody>
          <a:bodyPr wrap="square" rtlCol="0">
            <a:spAutoFit/>
          </a:bodyPr>
          <a:lstStyle/>
          <a:p>
            <a:pPr algn="ctr"/>
            <a:r>
              <a:rPr lang="en-US" sz="2400" b="1" dirty="0">
                <a:solidFill>
                  <a:srgbClr val="FF0000"/>
                </a:solidFill>
              </a:rPr>
              <a:t>LAST STEP</a:t>
            </a:r>
          </a:p>
        </p:txBody>
      </p:sp>
      <p:sp>
        <p:nvSpPr>
          <p:cNvPr id="4" name="Oval 3">
            <a:extLst>
              <a:ext uri="{FF2B5EF4-FFF2-40B4-BE49-F238E27FC236}">
                <a16:creationId xmlns:a16="http://schemas.microsoft.com/office/drawing/2014/main" id="{9A0E7A24-4B46-F810-2161-2A7905B74570}"/>
              </a:ext>
            </a:extLst>
          </p:cNvPr>
          <p:cNvSpPr/>
          <p:nvPr/>
        </p:nvSpPr>
        <p:spPr>
          <a:xfrm>
            <a:off x="6781892" y="1594392"/>
            <a:ext cx="4771505" cy="4527231"/>
          </a:xfrm>
          <a:prstGeom prst="ellipse">
            <a:avLst/>
          </a:prstGeom>
          <a:noFill/>
          <a:ln>
            <a:solidFill>
              <a:srgbClr val="FF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Slide Number Placeholder 14">
            <a:extLst>
              <a:ext uri="{FF2B5EF4-FFF2-40B4-BE49-F238E27FC236}">
                <a16:creationId xmlns:a16="http://schemas.microsoft.com/office/drawing/2014/main" id="{FC3D34FD-C92F-4EB5-066D-8C6E2B3A03C8}"/>
              </a:ext>
            </a:extLst>
          </p:cNvPr>
          <p:cNvSpPr>
            <a:spLocks noGrp="1"/>
          </p:cNvSpPr>
          <p:nvPr>
            <p:ph type="sldNum" sz="quarter" idx="12"/>
          </p:nvPr>
        </p:nvSpPr>
        <p:spPr/>
        <p:txBody>
          <a:bodyPr/>
          <a:lstStyle/>
          <a:p>
            <a:fld id="{4544B810-10F2-2E49-94DF-FA7BE986B6B9}" type="slidenum">
              <a:rPr lang="en-US" smtClean="0"/>
              <a:t>16</a:t>
            </a:fld>
            <a:endParaRPr lang="en-US"/>
          </a:p>
        </p:txBody>
      </p:sp>
    </p:spTree>
    <p:extLst>
      <p:ext uri="{BB962C8B-B14F-4D97-AF65-F5344CB8AC3E}">
        <p14:creationId xmlns:p14="http://schemas.microsoft.com/office/powerpoint/2010/main" val="2391402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F301-1B22-5EEE-4C2B-9224D9088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6B68F-BD1B-B281-0DB0-7A851BD4A8A9}"/>
              </a:ext>
            </a:extLst>
          </p:cNvPr>
          <p:cNvSpPr>
            <a:spLocks noGrp="1"/>
          </p:cNvSpPr>
          <p:nvPr>
            <p:ph type="title"/>
          </p:nvPr>
        </p:nvSpPr>
        <p:spPr/>
        <p:txBody>
          <a:bodyPr/>
          <a:lstStyle/>
          <a:p>
            <a:r>
              <a:rPr lang="en-US" dirty="0"/>
              <a:t>Ring all reduce</a:t>
            </a:r>
          </a:p>
        </p:txBody>
      </p:sp>
      <p:sp>
        <p:nvSpPr>
          <p:cNvPr id="9" name="Oval 8">
            <a:extLst>
              <a:ext uri="{FF2B5EF4-FFF2-40B4-BE49-F238E27FC236}">
                <a16:creationId xmlns:a16="http://schemas.microsoft.com/office/drawing/2014/main" id="{C0DA3975-CB37-CE61-7363-1A4714095197}"/>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F272AC19-7381-BC9C-7D6D-387FF9F41983}"/>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78117B23-0EFA-195D-B7C3-DF0AC027EB18}"/>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64721C5A-9795-2556-8AB0-FAA16907D0BB}"/>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E91F35D9-22D7-62B0-546F-208C760C1CCF}"/>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EDEE6C32-5321-6F4B-E976-8CCDFD73B4E8}"/>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EBCF7610-A989-30B4-9C0C-43EBA0B49C2A}"/>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44" name="Picture 43">
            <a:extLst>
              <a:ext uri="{FF2B5EF4-FFF2-40B4-BE49-F238E27FC236}">
                <a16:creationId xmlns:a16="http://schemas.microsoft.com/office/drawing/2014/main" id="{532906B3-AF39-ABA6-3A3B-7341D1CECCB8}"/>
              </a:ext>
            </a:extLst>
          </p:cNvPr>
          <p:cNvPicPr>
            <a:picLocks noChangeAspect="1"/>
          </p:cNvPicPr>
          <p:nvPr/>
        </p:nvPicPr>
        <p:blipFill>
          <a:blip r:embed="rId2"/>
          <a:stretch/>
        </p:blipFill>
        <p:spPr>
          <a:xfrm>
            <a:off x="6293240" y="1117109"/>
            <a:ext cx="1386284" cy="764771"/>
          </a:xfrm>
          <a:prstGeom prst="rect">
            <a:avLst/>
          </a:prstGeom>
        </p:spPr>
      </p:pic>
      <p:pic>
        <p:nvPicPr>
          <p:cNvPr id="45" name="Picture 44">
            <a:extLst>
              <a:ext uri="{FF2B5EF4-FFF2-40B4-BE49-F238E27FC236}">
                <a16:creationId xmlns:a16="http://schemas.microsoft.com/office/drawing/2014/main" id="{66A0D15C-2C5B-3DAF-1815-61C4373EE891}"/>
              </a:ext>
            </a:extLst>
          </p:cNvPr>
          <p:cNvPicPr>
            <a:picLocks noChangeAspect="1"/>
          </p:cNvPicPr>
          <p:nvPr/>
        </p:nvPicPr>
        <p:blipFill>
          <a:blip r:embed="rId2"/>
          <a:stretch/>
        </p:blipFill>
        <p:spPr>
          <a:xfrm>
            <a:off x="8618498" y="280729"/>
            <a:ext cx="1386284" cy="764771"/>
          </a:xfrm>
          <a:prstGeom prst="rect">
            <a:avLst/>
          </a:prstGeom>
        </p:spPr>
      </p:pic>
      <p:pic>
        <p:nvPicPr>
          <p:cNvPr id="46" name="Picture 45">
            <a:extLst>
              <a:ext uri="{FF2B5EF4-FFF2-40B4-BE49-F238E27FC236}">
                <a16:creationId xmlns:a16="http://schemas.microsoft.com/office/drawing/2014/main" id="{617434E6-4AA1-57D2-2018-3B5660F91530}"/>
              </a:ext>
            </a:extLst>
          </p:cNvPr>
          <p:cNvPicPr>
            <a:picLocks noChangeAspect="1"/>
          </p:cNvPicPr>
          <p:nvPr/>
        </p:nvPicPr>
        <p:blipFill>
          <a:blip r:embed="rId2"/>
          <a:stretch/>
        </p:blipFill>
        <p:spPr>
          <a:xfrm>
            <a:off x="10702776" y="1308302"/>
            <a:ext cx="1386284" cy="764771"/>
          </a:xfrm>
          <a:prstGeom prst="rect">
            <a:avLst/>
          </a:prstGeom>
        </p:spPr>
      </p:pic>
      <p:pic>
        <p:nvPicPr>
          <p:cNvPr id="47" name="Picture 46">
            <a:extLst>
              <a:ext uri="{FF2B5EF4-FFF2-40B4-BE49-F238E27FC236}">
                <a16:creationId xmlns:a16="http://schemas.microsoft.com/office/drawing/2014/main" id="{FAC85ABA-6EC7-8277-B1F0-B4727F566DF9}"/>
              </a:ext>
            </a:extLst>
          </p:cNvPr>
          <p:cNvPicPr>
            <a:picLocks noChangeAspect="1"/>
          </p:cNvPicPr>
          <p:nvPr/>
        </p:nvPicPr>
        <p:blipFill>
          <a:blip r:embed="rId2"/>
          <a:stretch/>
        </p:blipFill>
        <p:spPr>
          <a:xfrm>
            <a:off x="5882226" y="5286894"/>
            <a:ext cx="1386284" cy="764771"/>
          </a:xfrm>
          <a:prstGeom prst="rect">
            <a:avLst/>
          </a:prstGeom>
        </p:spPr>
      </p:pic>
      <p:pic>
        <p:nvPicPr>
          <p:cNvPr id="48" name="Picture 47">
            <a:extLst>
              <a:ext uri="{FF2B5EF4-FFF2-40B4-BE49-F238E27FC236}">
                <a16:creationId xmlns:a16="http://schemas.microsoft.com/office/drawing/2014/main" id="{EDBD5571-5379-E7D0-B070-CBA89EC0BE78}"/>
              </a:ext>
            </a:extLst>
          </p:cNvPr>
          <p:cNvPicPr>
            <a:picLocks noChangeAspect="1"/>
          </p:cNvPicPr>
          <p:nvPr/>
        </p:nvPicPr>
        <p:blipFill>
          <a:blip r:embed="rId2"/>
          <a:stretch/>
        </p:blipFill>
        <p:spPr>
          <a:xfrm>
            <a:off x="8475796" y="4688376"/>
            <a:ext cx="1386284" cy="764771"/>
          </a:xfrm>
          <a:prstGeom prst="rect">
            <a:avLst/>
          </a:prstGeom>
        </p:spPr>
      </p:pic>
      <p:pic>
        <p:nvPicPr>
          <p:cNvPr id="49" name="Picture 48">
            <a:extLst>
              <a:ext uri="{FF2B5EF4-FFF2-40B4-BE49-F238E27FC236}">
                <a16:creationId xmlns:a16="http://schemas.microsoft.com/office/drawing/2014/main" id="{39B2EB7F-7BC9-0295-886D-FC69D238FC0C}"/>
              </a:ext>
            </a:extLst>
          </p:cNvPr>
          <p:cNvPicPr>
            <a:picLocks noChangeAspect="1"/>
          </p:cNvPicPr>
          <p:nvPr/>
        </p:nvPicPr>
        <p:blipFill>
          <a:blip r:embed="rId2"/>
          <a:stretch/>
        </p:blipFill>
        <p:spPr>
          <a:xfrm>
            <a:off x="10584043" y="5727672"/>
            <a:ext cx="1386284" cy="764771"/>
          </a:xfrm>
          <a:prstGeom prst="rect">
            <a:avLst/>
          </a:prstGeom>
        </p:spPr>
      </p:pic>
      <p:sp>
        <p:nvSpPr>
          <p:cNvPr id="5" name="Content Placeholder 4">
            <a:extLst>
              <a:ext uri="{FF2B5EF4-FFF2-40B4-BE49-F238E27FC236}">
                <a16:creationId xmlns:a16="http://schemas.microsoft.com/office/drawing/2014/main" id="{B9D0140A-6AF8-D08D-2829-9D4F427F778A}"/>
              </a:ext>
            </a:extLst>
          </p:cNvPr>
          <p:cNvSpPr>
            <a:spLocks noGrp="1"/>
          </p:cNvSpPr>
          <p:nvPr>
            <p:ph idx="1"/>
          </p:nvPr>
        </p:nvSpPr>
        <p:spPr>
          <a:xfrm>
            <a:off x="838200" y="1825625"/>
            <a:ext cx="4920671" cy="4351338"/>
          </a:xfrm>
        </p:spPr>
        <p:txBody>
          <a:bodyPr/>
          <a:lstStyle/>
          <a:p>
            <a:pPr marL="0" indent="0" algn="ctr">
              <a:buNone/>
            </a:pPr>
            <a:r>
              <a:rPr lang="en-GB" b="1" u="sng" dirty="0"/>
              <a:t>Complexity</a:t>
            </a:r>
          </a:p>
          <a:p>
            <a:pPr marL="0" indent="0" algn="ctr">
              <a:buNone/>
            </a:pPr>
            <a:r>
              <a:rPr lang="en-GB" sz="2000" dirty="0"/>
              <a:t>2(N−1) communication rounds</a:t>
            </a:r>
          </a:p>
          <a:p>
            <a:pPr marL="0" indent="0" algn="ctr">
              <a:buNone/>
            </a:pPr>
            <a:r>
              <a:rPr lang="en-GB" sz="2000" dirty="0"/>
              <a:t>N = number of devices</a:t>
            </a:r>
          </a:p>
          <a:p>
            <a:pPr marL="0" indent="0" algn="ctr">
              <a:buNone/>
            </a:pPr>
            <a:endParaRPr lang="en-GB" sz="2000" dirty="0"/>
          </a:p>
          <a:p>
            <a:r>
              <a:rPr lang="en-GB" sz="2000" dirty="0"/>
              <a:t>scatter-reduce (N−1) </a:t>
            </a:r>
          </a:p>
          <a:p>
            <a:r>
              <a:rPr lang="en-GB" sz="2000" dirty="0"/>
              <a:t>all-gather (N−1)</a:t>
            </a:r>
            <a:endParaRPr lang="en-US" sz="2000" dirty="0"/>
          </a:p>
        </p:txBody>
      </p:sp>
      <p:sp>
        <p:nvSpPr>
          <p:cNvPr id="3" name="Slide Number Placeholder 2">
            <a:extLst>
              <a:ext uri="{FF2B5EF4-FFF2-40B4-BE49-F238E27FC236}">
                <a16:creationId xmlns:a16="http://schemas.microsoft.com/office/drawing/2014/main" id="{FB722A1D-2E02-4D85-D865-D3BF1FAA3C08}"/>
              </a:ext>
            </a:extLst>
          </p:cNvPr>
          <p:cNvSpPr>
            <a:spLocks noGrp="1"/>
          </p:cNvSpPr>
          <p:nvPr>
            <p:ph type="sldNum" sz="quarter" idx="12"/>
          </p:nvPr>
        </p:nvSpPr>
        <p:spPr/>
        <p:txBody>
          <a:bodyPr/>
          <a:lstStyle/>
          <a:p>
            <a:fld id="{4544B810-10F2-2E49-94DF-FA7BE986B6B9}" type="slidenum">
              <a:rPr lang="en-US" smtClean="0"/>
              <a:t>17</a:t>
            </a:fld>
            <a:endParaRPr lang="en-US"/>
          </a:p>
        </p:txBody>
      </p:sp>
    </p:spTree>
    <p:extLst>
      <p:ext uri="{BB962C8B-B14F-4D97-AF65-F5344CB8AC3E}">
        <p14:creationId xmlns:p14="http://schemas.microsoft.com/office/powerpoint/2010/main" val="512419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02A6E2-C185-E6E8-C1D3-7CA4880A3A5D}"/>
              </a:ext>
            </a:extLst>
          </p:cNvPr>
          <p:cNvSpPr>
            <a:spLocks noGrp="1"/>
          </p:cNvSpPr>
          <p:nvPr>
            <p:ph idx="1"/>
          </p:nvPr>
        </p:nvSpPr>
        <p:spPr>
          <a:xfrm>
            <a:off x="838200" y="1888687"/>
            <a:ext cx="10515600" cy="1380030"/>
          </a:xfrm>
        </p:spPr>
        <p:txBody>
          <a:bodyPr>
            <a:noAutofit/>
          </a:bodyPr>
          <a:lstStyle/>
          <a:p>
            <a:pPr marL="0" indent="0" algn="ctr">
              <a:buNone/>
            </a:pPr>
            <a:r>
              <a:rPr lang="en-US" sz="7200" dirty="0"/>
              <a:t>WHAT WOULD A QUANTUM VERSION LOOK LIKE?</a:t>
            </a:r>
          </a:p>
        </p:txBody>
      </p:sp>
      <p:sp>
        <p:nvSpPr>
          <p:cNvPr id="2" name="Slide Number Placeholder 1">
            <a:extLst>
              <a:ext uri="{FF2B5EF4-FFF2-40B4-BE49-F238E27FC236}">
                <a16:creationId xmlns:a16="http://schemas.microsoft.com/office/drawing/2014/main" id="{B268BDCA-5BC3-1E13-22EF-6F3205EDD1EE}"/>
              </a:ext>
            </a:extLst>
          </p:cNvPr>
          <p:cNvSpPr>
            <a:spLocks noGrp="1"/>
          </p:cNvSpPr>
          <p:nvPr>
            <p:ph type="sldNum" sz="quarter" idx="12"/>
          </p:nvPr>
        </p:nvSpPr>
        <p:spPr/>
        <p:txBody>
          <a:bodyPr/>
          <a:lstStyle/>
          <a:p>
            <a:fld id="{4544B810-10F2-2E49-94DF-FA7BE986B6B9}" type="slidenum">
              <a:rPr lang="en-US" smtClean="0"/>
              <a:t>18</a:t>
            </a:fld>
            <a:endParaRPr lang="en-US"/>
          </a:p>
        </p:txBody>
      </p:sp>
    </p:spTree>
    <p:extLst>
      <p:ext uri="{BB962C8B-B14F-4D97-AF65-F5344CB8AC3E}">
        <p14:creationId xmlns:p14="http://schemas.microsoft.com/office/powerpoint/2010/main" val="4190778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CA29-F092-5BDD-6B85-0327933DFA24}"/>
              </a:ext>
            </a:extLst>
          </p:cNvPr>
          <p:cNvSpPr>
            <a:spLocks noGrp="1"/>
          </p:cNvSpPr>
          <p:nvPr>
            <p:ph type="title"/>
          </p:nvPr>
        </p:nvSpPr>
        <p:spPr/>
        <p:txBody>
          <a:bodyPr/>
          <a:lstStyle/>
          <a:p>
            <a:r>
              <a:rPr lang="en-US" dirty="0"/>
              <a:t>Superdense encoding</a:t>
            </a:r>
          </a:p>
        </p:txBody>
      </p:sp>
      <p:pic>
        <p:nvPicPr>
          <p:cNvPr id="7" name="Picture 6" descr="Famous Bobs | Famous Birthdays">
            <a:extLst>
              <a:ext uri="{FF2B5EF4-FFF2-40B4-BE49-F238E27FC236}">
                <a16:creationId xmlns:a16="http://schemas.microsoft.com/office/drawing/2014/main" id="{3C061225-60CB-9EBA-1DA0-2C3EE02FCA32}"/>
              </a:ext>
            </a:extLst>
          </p:cNvPr>
          <p:cNvPicPr>
            <a:picLocks noChangeAspect="1"/>
          </p:cNvPicPr>
          <p:nvPr/>
        </p:nvPicPr>
        <p:blipFill>
          <a:blip r:embed="rId2"/>
          <a:stretch>
            <a:fillRect/>
          </a:stretch>
        </p:blipFill>
        <p:spPr>
          <a:xfrm>
            <a:off x="8761467" y="3059058"/>
            <a:ext cx="2253374" cy="2253374"/>
          </a:xfrm>
          <a:prstGeom prst="rect">
            <a:avLst/>
          </a:prstGeom>
        </p:spPr>
      </p:pic>
      <p:pic>
        <p:nvPicPr>
          <p:cNvPr id="8" name="Picture 7" descr="Alice | Alice in Wonderland Wiki | Fandom">
            <a:extLst>
              <a:ext uri="{FF2B5EF4-FFF2-40B4-BE49-F238E27FC236}">
                <a16:creationId xmlns:a16="http://schemas.microsoft.com/office/drawing/2014/main" id="{64FC8F0E-10C5-B726-3061-9FAEBA10CBA2}"/>
              </a:ext>
            </a:extLst>
          </p:cNvPr>
          <p:cNvPicPr>
            <a:picLocks noChangeAspect="1"/>
          </p:cNvPicPr>
          <p:nvPr/>
        </p:nvPicPr>
        <p:blipFill>
          <a:blip r:embed="rId3"/>
          <a:stretch>
            <a:fillRect/>
          </a:stretch>
        </p:blipFill>
        <p:spPr>
          <a:xfrm>
            <a:off x="969142" y="3026432"/>
            <a:ext cx="1803400" cy="2286000"/>
          </a:xfrm>
          <a:prstGeom prst="rect">
            <a:avLst/>
          </a:prstGeom>
        </p:spPr>
      </p:pic>
      <p:sp>
        <p:nvSpPr>
          <p:cNvPr id="9" name="Rectangle 8">
            <a:extLst>
              <a:ext uri="{FF2B5EF4-FFF2-40B4-BE49-F238E27FC236}">
                <a16:creationId xmlns:a16="http://schemas.microsoft.com/office/drawing/2014/main" id="{A8876C85-6538-BE8F-6527-E75853FA3F31}"/>
              </a:ext>
            </a:extLst>
          </p:cNvPr>
          <p:cNvSpPr/>
          <p:nvPr/>
        </p:nvSpPr>
        <p:spPr>
          <a:xfrm>
            <a:off x="3541987" y="3499945"/>
            <a:ext cx="4624551" cy="1240221"/>
          </a:xfrm>
          <a:prstGeom prst="rect">
            <a:avLst/>
          </a:prstGeom>
          <a:ln w="38100">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THEY WANT TO SHARE 2 BITS WORTH OF INFO</a:t>
            </a:r>
          </a:p>
        </p:txBody>
      </p:sp>
      <p:sp>
        <p:nvSpPr>
          <p:cNvPr id="3" name="Slide Number Placeholder 2">
            <a:extLst>
              <a:ext uri="{FF2B5EF4-FFF2-40B4-BE49-F238E27FC236}">
                <a16:creationId xmlns:a16="http://schemas.microsoft.com/office/drawing/2014/main" id="{5EDC4CB6-9B4F-E093-EAFD-07FF7DAEB6A2}"/>
              </a:ext>
            </a:extLst>
          </p:cNvPr>
          <p:cNvSpPr>
            <a:spLocks noGrp="1"/>
          </p:cNvSpPr>
          <p:nvPr>
            <p:ph type="sldNum" sz="quarter" idx="12"/>
          </p:nvPr>
        </p:nvSpPr>
        <p:spPr/>
        <p:txBody>
          <a:bodyPr/>
          <a:lstStyle/>
          <a:p>
            <a:fld id="{4544B810-10F2-2E49-94DF-FA7BE986B6B9}" type="slidenum">
              <a:rPr lang="en-US" smtClean="0"/>
              <a:t>19</a:t>
            </a:fld>
            <a:endParaRPr lang="en-US"/>
          </a:p>
        </p:txBody>
      </p:sp>
    </p:spTree>
    <p:extLst>
      <p:ext uri="{BB962C8B-B14F-4D97-AF65-F5344CB8AC3E}">
        <p14:creationId xmlns:p14="http://schemas.microsoft.com/office/powerpoint/2010/main" val="4020902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951F9-7378-95BB-88A0-37F453644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9DB87-44CE-4627-EA04-52528B192447}"/>
              </a:ext>
            </a:extLst>
          </p:cNvPr>
          <p:cNvSpPr>
            <a:spLocks noGrp="1"/>
          </p:cNvSpPr>
          <p:nvPr>
            <p:ph type="title"/>
          </p:nvPr>
        </p:nvSpPr>
        <p:spPr/>
        <p:txBody>
          <a:bodyPr/>
          <a:lstStyle/>
          <a:p>
            <a:r>
              <a:rPr lang="en-US" dirty="0"/>
              <a:t>Superdense encoding</a:t>
            </a:r>
          </a:p>
        </p:txBody>
      </p:sp>
      <p:pic>
        <p:nvPicPr>
          <p:cNvPr id="7" name="Picture 6" descr="Famous Bobs | Famous Birthdays">
            <a:extLst>
              <a:ext uri="{FF2B5EF4-FFF2-40B4-BE49-F238E27FC236}">
                <a16:creationId xmlns:a16="http://schemas.microsoft.com/office/drawing/2014/main" id="{03576251-70A9-9DB3-AC34-3B09A641E17B}"/>
              </a:ext>
            </a:extLst>
          </p:cNvPr>
          <p:cNvPicPr>
            <a:picLocks noChangeAspect="1"/>
          </p:cNvPicPr>
          <p:nvPr/>
        </p:nvPicPr>
        <p:blipFill>
          <a:blip r:embed="rId2"/>
          <a:stretch>
            <a:fillRect/>
          </a:stretch>
        </p:blipFill>
        <p:spPr>
          <a:xfrm>
            <a:off x="8761467" y="3059058"/>
            <a:ext cx="2253374" cy="2253374"/>
          </a:xfrm>
          <a:prstGeom prst="rect">
            <a:avLst/>
          </a:prstGeom>
        </p:spPr>
      </p:pic>
      <p:pic>
        <p:nvPicPr>
          <p:cNvPr id="8" name="Picture 7" descr="Alice | Alice in Wonderland Wiki | Fandom">
            <a:extLst>
              <a:ext uri="{FF2B5EF4-FFF2-40B4-BE49-F238E27FC236}">
                <a16:creationId xmlns:a16="http://schemas.microsoft.com/office/drawing/2014/main" id="{5BCFB8C6-3E9A-7ED7-12A6-DE04FF54A346}"/>
              </a:ext>
            </a:extLst>
          </p:cNvPr>
          <p:cNvPicPr>
            <a:picLocks noChangeAspect="1"/>
          </p:cNvPicPr>
          <p:nvPr/>
        </p:nvPicPr>
        <p:blipFill>
          <a:blip r:embed="rId3"/>
          <a:stretch>
            <a:fillRect/>
          </a:stretch>
        </p:blipFill>
        <p:spPr>
          <a:xfrm>
            <a:off x="969142" y="3026432"/>
            <a:ext cx="1803400" cy="2286000"/>
          </a:xfrm>
          <a:prstGeom prst="rect">
            <a:avLst/>
          </a:prstGeom>
        </p:spPr>
      </p:pic>
      <p:sp>
        <p:nvSpPr>
          <p:cNvPr id="9" name="Rectangle 8">
            <a:extLst>
              <a:ext uri="{FF2B5EF4-FFF2-40B4-BE49-F238E27FC236}">
                <a16:creationId xmlns:a16="http://schemas.microsoft.com/office/drawing/2014/main" id="{67639D60-3D9B-20AA-4ADE-C6B4706E8656}"/>
              </a:ext>
            </a:extLst>
          </p:cNvPr>
          <p:cNvSpPr/>
          <p:nvPr/>
        </p:nvSpPr>
        <p:spPr>
          <a:xfrm>
            <a:off x="3436883" y="1534511"/>
            <a:ext cx="4624551" cy="1240221"/>
          </a:xfrm>
          <a:prstGeom prst="rect">
            <a:avLst/>
          </a:prstGeom>
          <a:ln w="38100">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THEY WANT TO SHARE 2 BITS WORTH OF INFO</a:t>
            </a:r>
          </a:p>
        </p:txBody>
      </p:sp>
      <p:cxnSp>
        <p:nvCxnSpPr>
          <p:cNvPr id="4" name="Straight Arrow Connector 3">
            <a:extLst>
              <a:ext uri="{FF2B5EF4-FFF2-40B4-BE49-F238E27FC236}">
                <a16:creationId xmlns:a16="http://schemas.microsoft.com/office/drawing/2014/main" id="{6002728D-74BB-9E87-10DF-2AFBC14E8057}"/>
              </a:ext>
            </a:extLst>
          </p:cNvPr>
          <p:cNvCxnSpPr/>
          <p:nvPr/>
        </p:nvCxnSpPr>
        <p:spPr>
          <a:xfrm>
            <a:off x="3174124" y="4361793"/>
            <a:ext cx="5171090" cy="0"/>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DD174F89-B072-075E-BBBC-238491A329FA}"/>
              </a:ext>
            </a:extLst>
          </p:cNvPr>
          <p:cNvSpPr txBox="1"/>
          <p:nvPr/>
        </p:nvSpPr>
        <p:spPr>
          <a:xfrm>
            <a:off x="4585685" y="3870546"/>
            <a:ext cx="2362638" cy="1200329"/>
          </a:xfrm>
          <a:prstGeom prst="rect">
            <a:avLst/>
          </a:prstGeom>
          <a:noFill/>
        </p:spPr>
        <p:txBody>
          <a:bodyPr wrap="square" rtlCol="0">
            <a:spAutoFit/>
          </a:bodyPr>
          <a:lstStyle/>
          <a:p>
            <a:r>
              <a:rPr lang="en-US" dirty="0"/>
              <a:t>In the classical world</a:t>
            </a:r>
          </a:p>
          <a:p>
            <a:endParaRPr lang="en-US" dirty="0"/>
          </a:p>
          <a:p>
            <a:r>
              <a:rPr lang="en-US" dirty="0"/>
              <a:t>Alice sends two bits</a:t>
            </a:r>
          </a:p>
          <a:p>
            <a:endParaRPr lang="en-US" dirty="0"/>
          </a:p>
        </p:txBody>
      </p:sp>
      <p:sp>
        <p:nvSpPr>
          <p:cNvPr id="3" name="Slide Number Placeholder 2">
            <a:extLst>
              <a:ext uri="{FF2B5EF4-FFF2-40B4-BE49-F238E27FC236}">
                <a16:creationId xmlns:a16="http://schemas.microsoft.com/office/drawing/2014/main" id="{1E9EFC51-2A9D-6E14-11E7-4C6D10454C65}"/>
              </a:ext>
            </a:extLst>
          </p:cNvPr>
          <p:cNvSpPr>
            <a:spLocks noGrp="1"/>
          </p:cNvSpPr>
          <p:nvPr>
            <p:ph type="sldNum" sz="quarter" idx="12"/>
          </p:nvPr>
        </p:nvSpPr>
        <p:spPr/>
        <p:txBody>
          <a:bodyPr/>
          <a:lstStyle/>
          <a:p>
            <a:fld id="{4544B810-10F2-2E49-94DF-FA7BE986B6B9}" type="slidenum">
              <a:rPr lang="en-US" smtClean="0"/>
              <a:t>20</a:t>
            </a:fld>
            <a:endParaRPr lang="en-US"/>
          </a:p>
        </p:txBody>
      </p:sp>
    </p:spTree>
    <p:extLst>
      <p:ext uri="{BB962C8B-B14F-4D97-AF65-F5344CB8AC3E}">
        <p14:creationId xmlns:p14="http://schemas.microsoft.com/office/powerpoint/2010/main" val="1193275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40D0B-659C-3F88-5B05-AF8AF69F8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2D201-AB6D-4382-CE05-B99E7E20AB3E}"/>
              </a:ext>
            </a:extLst>
          </p:cNvPr>
          <p:cNvSpPr>
            <a:spLocks noGrp="1"/>
          </p:cNvSpPr>
          <p:nvPr>
            <p:ph type="title"/>
          </p:nvPr>
        </p:nvSpPr>
        <p:spPr/>
        <p:txBody>
          <a:bodyPr/>
          <a:lstStyle/>
          <a:p>
            <a:r>
              <a:rPr lang="en-US" dirty="0"/>
              <a:t>Superdense encoding</a:t>
            </a:r>
          </a:p>
        </p:txBody>
      </p:sp>
      <p:pic>
        <p:nvPicPr>
          <p:cNvPr id="7" name="Picture 6" descr="Famous Bobs | Famous Birthdays">
            <a:extLst>
              <a:ext uri="{FF2B5EF4-FFF2-40B4-BE49-F238E27FC236}">
                <a16:creationId xmlns:a16="http://schemas.microsoft.com/office/drawing/2014/main" id="{C1829290-2F99-C683-1716-EB48D67A15D7}"/>
              </a:ext>
            </a:extLst>
          </p:cNvPr>
          <p:cNvPicPr>
            <a:picLocks noChangeAspect="1"/>
          </p:cNvPicPr>
          <p:nvPr/>
        </p:nvPicPr>
        <p:blipFill>
          <a:blip r:embed="rId2"/>
          <a:stretch>
            <a:fillRect/>
          </a:stretch>
        </p:blipFill>
        <p:spPr>
          <a:xfrm>
            <a:off x="8761467" y="3059058"/>
            <a:ext cx="2253374" cy="2253374"/>
          </a:xfrm>
          <a:prstGeom prst="rect">
            <a:avLst/>
          </a:prstGeom>
        </p:spPr>
      </p:pic>
      <p:sp>
        <p:nvSpPr>
          <p:cNvPr id="9" name="Rectangle 8">
            <a:extLst>
              <a:ext uri="{FF2B5EF4-FFF2-40B4-BE49-F238E27FC236}">
                <a16:creationId xmlns:a16="http://schemas.microsoft.com/office/drawing/2014/main" id="{392D9641-6745-4864-6422-8E2D6A15E08D}"/>
              </a:ext>
            </a:extLst>
          </p:cNvPr>
          <p:cNvSpPr/>
          <p:nvPr/>
        </p:nvSpPr>
        <p:spPr>
          <a:xfrm>
            <a:off x="3436883" y="1534511"/>
            <a:ext cx="4624551" cy="1240221"/>
          </a:xfrm>
          <a:prstGeom prst="rect">
            <a:avLst/>
          </a:prstGeom>
          <a:ln w="38100">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THEY WANT TO SHARE 2 BITS WORTH OF INFO</a:t>
            </a:r>
          </a:p>
        </p:txBody>
      </p:sp>
      <p:cxnSp>
        <p:nvCxnSpPr>
          <p:cNvPr id="4" name="Straight Arrow Connector 3">
            <a:extLst>
              <a:ext uri="{FF2B5EF4-FFF2-40B4-BE49-F238E27FC236}">
                <a16:creationId xmlns:a16="http://schemas.microsoft.com/office/drawing/2014/main" id="{B94F6A71-F30C-E890-FB71-F6EBF5F9D400}"/>
              </a:ext>
            </a:extLst>
          </p:cNvPr>
          <p:cNvCxnSpPr/>
          <p:nvPr/>
        </p:nvCxnSpPr>
        <p:spPr>
          <a:xfrm>
            <a:off x="3316013" y="4078014"/>
            <a:ext cx="5171090" cy="0"/>
          </a:xfrm>
          <a:prstGeom prst="straightConnector1">
            <a:avLst/>
          </a:prstGeom>
          <a:ln w="571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2E76E63D-2B88-9DBE-D02B-C33650C2C268}"/>
              </a:ext>
            </a:extLst>
          </p:cNvPr>
          <p:cNvSpPr txBox="1"/>
          <p:nvPr/>
        </p:nvSpPr>
        <p:spPr>
          <a:xfrm>
            <a:off x="3955556" y="3020788"/>
            <a:ext cx="3892004" cy="954107"/>
          </a:xfrm>
          <a:prstGeom prst="rect">
            <a:avLst/>
          </a:prstGeom>
          <a:noFill/>
        </p:spPr>
        <p:txBody>
          <a:bodyPr wrap="square" rtlCol="0">
            <a:spAutoFit/>
          </a:bodyPr>
          <a:lstStyle/>
          <a:p>
            <a:pPr algn="ctr"/>
            <a:r>
              <a:rPr lang="en-US" sz="2000" b="1" dirty="0">
                <a:solidFill>
                  <a:schemeClr val="accent2">
                    <a:lumMod val="75000"/>
                  </a:schemeClr>
                </a:solidFill>
              </a:rPr>
              <a:t>BUT IN THE QUANTUM WORLD</a:t>
            </a:r>
          </a:p>
          <a:p>
            <a:endParaRPr lang="en-US" dirty="0"/>
          </a:p>
          <a:p>
            <a:endParaRPr lang="en-US" dirty="0"/>
          </a:p>
        </p:txBody>
      </p:sp>
      <p:pic>
        <p:nvPicPr>
          <p:cNvPr id="3" name="Picture 2" descr="Alice in Wonderland: I'm Late &amp; Down the Rabbit Hole">
            <a:extLst>
              <a:ext uri="{FF2B5EF4-FFF2-40B4-BE49-F238E27FC236}">
                <a16:creationId xmlns:a16="http://schemas.microsoft.com/office/drawing/2014/main" id="{8CC71059-F233-630D-35CA-7B5D1E0CE441}"/>
              </a:ext>
            </a:extLst>
          </p:cNvPr>
          <p:cNvPicPr>
            <a:picLocks noChangeAspect="1"/>
          </p:cNvPicPr>
          <p:nvPr/>
        </p:nvPicPr>
        <p:blipFill>
          <a:blip r:embed="rId3"/>
          <a:stretch>
            <a:fillRect/>
          </a:stretch>
        </p:blipFill>
        <p:spPr>
          <a:xfrm>
            <a:off x="140794" y="3153103"/>
            <a:ext cx="2900855" cy="2175641"/>
          </a:xfrm>
          <a:prstGeom prst="rect">
            <a:avLst/>
          </a:prstGeom>
        </p:spPr>
      </p:pic>
      <p:pic>
        <p:nvPicPr>
          <p:cNvPr id="6" name="Picture 5">
            <a:extLst>
              <a:ext uri="{FF2B5EF4-FFF2-40B4-BE49-F238E27FC236}">
                <a16:creationId xmlns:a16="http://schemas.microsoft.com/office/drawing/2014/main" id="{B338502B-F966-CC13-F427-F97372CD8720}"/>
              </a:ext>
            </a:extLst>
          </p:cNvPr>
          <p:cNvPicPr>
            <a:picLocks noChangeAspect="1"/>
          </p:cNvPicPr>
          <p:nvPr/>
        </p:nvPicPr>
        <p:blipFill>
          <a:blip r:embed="rId4"/>
          <a:stretch>
            <a:fillRect/>
          </a:stretch>
        </p:blipFill>
        <p:spPr>
          <a:xfrm>
            <a:off x="3453165" y="4377683"/>
            <a:ext cx="4896785" cy="895349"/>
          </a:xfrm>
          <a:prstGeom prst="rect">
            <a:avLst/>
          </a:prstGeom>
        </p:spPr>
      </p:pic>
      <p:sp>
        <p:nvSpPr>
          <p:cNvPr id="8" name="TextBox 7">
            <a:extLst>
              <a:ext uri="{FF2B5EF4-FFF2-40B4-BE49-F238E27FC236}">
                <a16:creationId xmlns:a16="http://schemas.microsoft.com/office/drawing/2014/main" id="{0B094F09-550C-F992-AE97-1C474FADE328}"/>
              </a:ext>
            </a:extLst>
          </p:cNvPr>
          <p:cNvSpPr txBox="1"/>
          <p:nvPr/>
        </p:nvSpPr>
        <p:spPr>
          <a:xfrm>
            <a:off x="4567839" y="3652913"/>
            <a:ext cx="2362638" cy="923330"/>
          </a:xfrm>
          <a:prstGeom prst="rect">
            <a:avLst/>
          </a:prstGeom>
          <a:noFill/>
        </p:spPr>
        <p:txBody>
          <a:bodyPr wrap="square" rtlCol="0">
            <a:spAutoFit/>
          </a:bodyPr>
          <a:lstStyle/>
          <a:p>
            <a:pPr algn="ctr"/>
            <a:r>
              <a:rPr lang="en-US" dirty="0"/>
              <a:t>PRE-PROCESSING</a:t>
            </a:r>
          </a:p>
          <a:p>
            <a:endParaRPr lang="en-US" dirty="0"/>
          </a:p>
          <a:p>
            <a:endParaRPr lang="en-US" dirty="0"/>
          </a:p>
        </p:txBody>
      </p:sp>
      <p:sp>
        <p:nvSpPr>
          <p:cNvPr id="12" name="Oval 11">
            <a:extLst>
              <a:ext uri="{FF2B5EF4-FFF2-40B4-BE49-F238E27FC236}">
                <a16:creationId xmlns:a16="http://schemas.microsoft.com/office/drawing/2014/main" id="{3FC3FFBD-F472-8656-810C-DCB8DE518319}"/>
              </a:ext>
            </a:extLst>
          </p:cNvPr>
          <p:cNvSpPr/>
          <p:nvPr/>
        </p:nvSpPr>
        <p:spPr>
          <a:xfrm>
            <a:off x="1277006" y="5759669"/>
            <a:ext cx="819807" cy="735724"/>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49AD5C2-15C6-C8C3-7674-75E087A1CE94}"/>
              </a:ext>
            </a:extLst>
          </p:cNvPr>
          <p:cNvSpPr/>
          <p:nvPr/>
        </p:nvSpPr>
        <p:spPr>
          <a:xfrm>
            <a:off x="9685283" y="5759669"/>
            <a:ext cx="819807" cy="735724"/>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0A68C6F-612D-AA54-CA21-66224D7B370E}"/>
              </a:ext>
            </a:extLst>
          </p:cNvPr>
          <p:cNvCxnSpPr>
            <a:stCxn id="12" idx="6"/>
            <a:endCxn id="13" idx="2"/>
          </p:cNvCxnSpPr>
          <p:nvPr/>
        </p:nvCxnSpPr>
        <p:spPr>
          <a:xfrm>
            <a:off x="2096813" y="6127531"/>
            <a:ext cx="7588470"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Slide Number Placeholder 9">
            <a:extLst>
              <a:ext uri="{FF2B5EF4-FFF2-40B4-BE49-F238E27FC236}">
                <a16:creationId xmlns:a16="http://schemas.microsoft.com/office/drawing/2014/main" id="{D652CB45-A811-BC42-72BC-A0903DD17FA2}"/>
              </a:ext>
            </a:extLst>
          </p:cNvPr>
          <p:cNvSpPr>
            <a:spLocks noGrp="1"/>
          </p:cNvSpPr>
          <p:nvPr>
            <p:ph type="sldNum" sz="quarter" idx="12"/>
          </p:nvPr>
        </p:nvSpPr>
        <p:spPr/>
        <p:txBody>
          <a:bodyPr/>
          <a:lstStyle/>
          <a:p>
            <a:fld id="{4544B810-10F2-2E49-94DF-FA7BE986B6B9}" type="slidenum">
              <a:rPr lang="en-US" smtClean="0"/>
              <a:t>21</a:t>
            </a:fld>
            <a:endParaRPr lang="en-US"/>
          </a:p>
        </p:txBody>
      </p:sp>
    </p:spTree>
    <p:extLst>
      <p:ext uri="{BB962C8B-B14F-4D97-AF65-F5344CB8AC3E}">
        <p14:creationId xmlns:p14="http://schemas.microsoft.com/office/powerpoint/2010/main" val="40786089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BB049-3C3B-A477-F8EB-32F43AB1B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CB889-CB00-87B5-9E91-292F78E9163D}"/>
              </a:ext>
            </a:extLst>
          </p:cNvPr>
          <p:cNvSpPr>
            <a:spLocks noGrp="1"/>
          </p:cNvSpPr>
          <p:nvPr>
            <p:ph type="title"/>
          </p:nvPr>
        </p:nvSpPr>
        <p:spPr/>
        <p:txBody>
          <a:bodyPr/>
          <a:lstStyle/>
          <a:p>
            <a:r>
              <a:rPr lang="en-US" dirty="0"/>
              <a:t>Superdense encoding</a:t>
            </a:r>
          </a:p>
        </p:txBody>
      </p:sp>
      <p:pic>
        <p:nvPicPr>
          <p:cNvPr id="7" name="Picture 6" descr="Famous Bobs | Famous Birthdays">
            <a:extLst>
              <a:ext uri="{FF2B5EF4-FFF2-40B4-BE49-F238E27FC236}">
                <a16:creationId xmlns:a16="http://schemas.microsoft.com/office/drawing/2014/main" id="{219F1B76-1FDC-33D0-9081-A1E94492E651}"/>
              </a:ext>
            </a:extLst>
          </p:cNvPr>
          <p:cNvPicPr>
            <a:picLocks noChangeAspect="1"/>
          </p:cNvPicPr>
          <p:nvPr/>
        </p:nvPicPr>
        <p:blipFill>
          <a:blip r:embed="rId2"/>
          <a:stretch>
            <a:fillRect/>
          </a:stretch>
        </p:blipFill>
        <p:spPr>
          <a:xfrm>
            <a:off x="8761467" y="3059058"/>
            <a:ext cx="2253374" cy="2253374"/>
          </a:xfrm>
          <a:prstGeom prst="rect">
            <a:avLst/>
          </a:prstGeom>
        </p:spPr>
      </p:pic>
      <p:sp>
        <p:nvSpPr>
          <p:cNvPr id="9" name="Rectangle 8">
            <a:extLst>
              <a:ext uri="{FF2B5EF4-FFF2-40B4-BE49-F238E27FC236}">
                <a16:creationId xmlns:a16="http://schemas.microsoft.com/office/drawing/2014/main" id="{BEC075C0-89B8-D914-07E5-74BD2DA57329}"/>
              </a:ext>
            </a:extLst>
          </p:cNvPr>
          <p:cNvSpPr/>
          <p:nvPr/>
        </p:nvSpPr>
        <p:spPr>
          <a:xfrm>
            <a:off x="3436883" y="1534511"/>
            <a:ext cx="4624551" cy="1240221"/>
          </a:xfrm>
          <a:prstGeom prst="rect">
            <a:avLst/>
          </a:prstGeom>
          <a:ln w="38100">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THEY WANT TO SHARE 2 BITS WORTH OF INFO</a:t>
            </a:r>
          </a:p>
        </p:txBody>
      </p:sp>
      <p:sp>
        <p:nvSpPr>
          <p:cNvPr id="5" name="TextBox 4">
            <a:extLst>
              <a:ext uri="{FF2B5EF4-FFF2-40B4-BE49-F238E27FC236}">
                <a16:creationId xmlns:a16="http://schemas.microsoft.com/office/drawing/2014/main" id="{8076F596-21C8-2EE6-E1B3-0AFA86FB34AE}"/>
              </a:ext>
            </a:extLst>
          </p:cNvPr>
          <p:cNvSpPr txBox="1"/>
          <p:nvPr/>
        </p:nvSpPr>
        <p:spPr>
          <a:xfrm>
            <a:off x="3955556" y="3020788"/>
            <a:ext cx="3892004" cy="954107"/>
          </a:xfrm>
          <a:prstGeom prst="rect">
            <a:avLst/>
          </a:prstGeom>
          <a:noFill/>
        </p:spPr>
        <p:txBody>
          <a:bodyPr wrap="square" rtlCol="0">
            <a:spAutoFit/>
          </a:bodyPr>
          <a:lstStyle/>
          <a:p>
            <a:pPr algn="ctr"/>
            <a:r>
              <a:rPr lang="en-US" sz="2000" b="1" dirty="0">
                <a:solidFill>
                  <a:schemeClr val="accent2">
                    <a:lumMod val="75000"/>
                  </a:schemeClr>
                </a:solidFill>
              </a:rPr>
              <a:t>IN THE QUANTUM WORLD</a:t>
            </a:r>
          </a:p>
          <a:p>
            <a:endParaRPr lang="en-US" dirty="0"/>
          </a:p>
          <a:p>
            <a:endParaRPr lang="en-US" dirty="0"/>
          </a:p>
        </p:txBody>
      </p:sp>
      <p:pic>
        <p:nvPicPr>
          <p:cNvPr id="3" name="Picture 2" descr="Alice in Wonderland: I'm Late &amp; Down the Rabbit Hole">
            <a:extLst>
              <a:ext uri="{FF2B5EF4-FFF2-40B4-BE49-F238E27FC236}">
                <a16:creationId xmlns:a16="http://schemas.microsoft.com/office/drawing/2014/main" id="{F6902C2E-28A9-107C-78B4-736521558E6D}"/>
              </a:ext>
            </a:extLst>
          </p:cNvPr>
          <p:cNvPicPr>
            <a:picLocks noChangeAspect="1"/>
          </p:cNvPicPr>
          <p:nvPr/>
        </p:nvPicPr>
        <p:blipFill>
          <a:blip r:embed="rId3"/>
          <a:stretch>
            <a:fillRect/>
          </a:stretch>
        </p:blipFill>
        <p:spPr>
          <a:xfrm>
            <a:off x="140794" y="3153103"/>
            <a:ext cx="2900855" cy="2175641"/>
          </a:xfrm>
          <a:prstGeom prst="rect">
            <a:avLst/>
          </a:prstGeom>
        </p:spPr>
      </p:pic>
      <p:sp>
        <p:nvSpPr>
          <p:cNvPr id="8" name="TextBox 7">
            <a:extLst>
              <a:ext uri="{FF2B5EF4-FFF2-40B4-BE49-F238E27FC236}">
                <a16:creationId xmlns:a16="http://schemas.microsoft.com/office/drawing/2014/main" id="{03FDDC74-5B39-2F98-96DB-726695E37E26}"/>
              </a:ext>
            </a:extLst>
          </p:cNvPr>
          <p:cNvSpPr txBox="1"/>
          <p:nvPr/>
        </p:nvSpPr>
        <p:spPr>
          <a:xfrm>
            <a:off x="4567839" y="3652913"/>
            <a:ext cx="2362638" cy="923330"/>
          </a:xfrm>
          <a:prstGeom prst="rect">
            <a:avLst/>
          </a:prstGeom>
          <a:noFill/>
        </p:spPr>
        <p:txBody>
          <a:bodyPr wrap="square" rtlCol="0">
            <a:spAutoFit/>
          </a:bodyPr>
          <a:lstStyle/>
          <a:p>
            <a:pPr algn="ctr"/>
            <a:r>
              <a:rPr lang="en-US" dirty="0"/>
              <a:t>PRE-PROCESSING</a:t>
            </a:r>
          </a:p>
          <a:p>
            <a:endParaRPr lang="en-US" dirty="0"/>
          </a:p>
          <a:p>
            <a:endParaRPr lang="en-US" dirty="0"/>
          </a:p>
        </p:txBody>
      </p:sp>
      <p:sp>
        <p:nvSpPr>
          <p:cNvPr id="12" name="Oval 11">
            <a:extLst>
              <a:ext uri="{FF2B5EF4-FFF2-40B4-BE49-F238E27FC236}">
                <a16:creationId xmlns:a16="http://schemas.microsoft.com/office/drawing/2014/main" id="{1A5E6EE1-ED1B-B4F5-DCEC-ED9B910AC750}"/>
              </a:ext>
            </a:extLst>
          </p:cNvPr>
          <p:cNvSpPr/>
          <p:nvPr/>
        </p:nvSpPr>
        <p:spPr>
          <a:xfrm>
            <a:off x="1277006" y="5759669"/>
            <a:ext cx="819807" cy="735724"/>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3" name="Oval 12">
            <a:extLst>
              <a:ext uri="{FF2B5EF4-FFF2-40B4-BE49-F238E27FC236}">
                <a16:creationId xmlns:a16="http://schemas.microsoft.com/office/drawing/2014/main" id="{5E635750-8563-D2A6-09EE-162469A6E88C}"/>
              </a:ext>
            </a:extLst>
          </p:cNvPr>
          <p:cNvSpPr/>
          <p:nvPr/>
        </p:nvSpPr>
        <p:spPr>
          <a:xfrm>
            <a:off x="9685283" y="5759669"/>
            <a:ext cx="819807" cy="735724"/>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9AE04C30-97F6-5570-BE2B-0074BC898C89}"/>
              </a:ext>
            </a:extLst>
          </p:cNvPr>
          <p:cNvCxnSpPr>
            <a:stCxn id="12" idx="6"/>
            <a:endCxn id="13" idx="2"/>
          </p:cNvCxnSpPr>
          <p:nvPr/>
        </p:nvCxnSpPr>
        <p:spPr>
          <a:xfrm>
            <a:off x="2096813" y="6127531"/>
            <a:ext cx="7588470"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0" name="Picture 9">
            <a:extLst>
              <a:ext uri="{FF2B5EF4-FFF2-40B4-BE49-F238E27FC236}">
                <a16:creationId xmlns:a16="http://schemas.microsoft.com/office/drawing/2014/main" id="{BD3B209F-089F-497C-B42F-F8717F15CCA5}"/>
              </a:ext>
            </a:extLst>
          </p:cNvPr>
          <p:cNvPicPr>
            <a:picLocks noChangeAspect="1"/>
          </p:cNvPicPr>
          <p:nvPr/>
        </p:nvPicPr>
        <p:blipFill>
          <a:blip r:embed="rId4"/>
          <a:stretch>
            <a:fillRect/>
          </a:stretch>
        </p:blipFill>
        <p:spPr>
          <a:xfrm>
            <a:off x="3335939" y="4177863"/>
            <a:ext cx="1231900" cy="1422400"/>
          </a:xfrm>
          <a:prstGeom prst="rect">
            <a:avLst/>
          </a:prstGeom>
        </p:spPr>
      </p:pic>
      <p:cxnSp>
        <p:nvCxnSpPr>
          <p:cNvPr id="14" name="Curved Connector 13">
            <a:extLst>
              <a:ext uri="{FF2B5EF4-FFF2-40B4-BE49-F238E27FC236}">
                <a16:creationId xmlns:a16="http://schemas.microsoft.com/office/drawing/2014/main" id="{82131B65-6788-1588-33FF-8F86CDDF864F}"/>
              </a:ext>
            </a:extLst>
          </p:cNvPr>
          <p:cNvCxnSpPr>
            <a:cxnSpLocks/>
            <a:stCxn id="12" idx="7"/>
          </p:cNvCxnSpPr>
          <p:nvPr/>
        </p:nvCxnSpPr>
        <p:spPr>
          <a:xfrm rot="16200000" flipH="1" flipV="1">
            <a:off x="1643966" y="5910356"/>
            <a:ext cx="375732" cy="289846"/>
          </a:xfrm>
          <a:prstGeom prst="curvedConnector3">
            <a:avLst>
              <a:gd name="adj1" fmla="val -89517"/>
            </a:avLst>
          </a:prstGeom>
          <a:ln w="5715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8FFCE0CA-CD80-A340-2F5E-0466200D86EA}"/>
              </a:ext>
            </a:extLst>
          </p:cNvPr>
          <p:cNvSpPr>
            <a:spLocks noGrp="1"/>
          </p:cNvSpPr>
          <p:nvPr>
            <p:ph type="sldNum" sz="quarter" idx="12"/>
          </p:nvPr>
        </p:nvSpPr>
        <p:spPr/>
        <p:txBody>
          <a:bodyPr/>
          <a:lstStyle/>
          <a:p>
            <a:fld id="{4544B810-10F2-2E49-94DF-FA7BE986B6B9}" type="slidenum">
              <a:rPr lang="en-US" smtClean="0"/>
              <a:t>22</a:t>
            </a:fld>
            <a:endParaRPr lang="en-US"/>
          </a:p>
        </p:txBody>
      </p:sp>
    </p:spTree>
    <p:extLst>
      <p:ext uri="{BB962C8B-B14F-4D97-AF65-F5344CB8AC3E}">
        <p14:creationId xmlns:p14="http://schemas.microsoft.com/office/powerpoint/2010/main" val="1310604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8BB3F-16A5-0B55-F2AA-AF337133B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98002-57D1-D196-7A36-92FC7EC86A4A}"/>
              </a:ext>
            </a:extLst>
          </p:cNvPr>
          <p:cNvSpPr>
            <a:spLocks noGrp="1"/>
          </p:cNvSpPr>
          <p:nvPr>
            <p:ph type="title"/>
          </p:nvPr>
        </p:nvSpPr>
        <p:spPr/>
        <p:txBody>
          <a:bodyPr/>
          <a:lstStyle/>
          <a:p>
            <a:r>
              <a:rPr lang="en-US" dirty="0"/>
              <a:t>Superdense encoding</a:t>
            </a:r>
          </a:p>
        </p:txBody>
      </p:sp>
      <p:sp>
        <p:nvSpPr>
          <p:cNvPr id="9" name="Rectangle 8">
            <a:extLst>
              <a:ext uri="{FF2B5EF4-FFF2-40B4-BE49-F238E27FC236}">
                <a16:creationId xmlns:a16="http://schemas.microsoft.com/office/drawing/2014/main" id="{CB5DD1FC-DC99-0C91-186F-24ABB0FC5F1C}"/>
              </a:ext>
            </a:extLst>
          </p:cNvPr>
          <p:cNvSpPr/>
          <p:nvPr/>
        </p:nvSpPr>
        <p:spPr>
          <a:xfrm>
            <a:off x="3436883" y="1534511"/>
            <a:ext cx="4624551" cy="1240221"/>
          </a:xfrm>
          <a:prstGeom prst="rect">
            <a:avLst/>
          </a:prstGeom>
          <a:ln w="38100">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THEY WANT TO SHARE 2 BITS WORTH OF INFO</a:t>
            </a:r>
          </a:p>
        </p:txBody>
      </p:sp>
      <p:cxnSp>
        <p:nvCxnSpPr>
          <p:cNvPr id="4" name="Straight Arrow Connector 3">
            <a:extLst>
              <a:ext uri="{FF2B5EF4-FFF2-40B4-BE49-F238E27FC236}">
                <a16:creationId xmlns:a16="http://schemas.microsoft.com/office/drawing/2014/main" id="{046D28D7-8E6B-A878-5CB0-FC2F839B8085}"/>
              </a:ext>
            </a:extLst>
          </p:cNvPr>
          <p:cNvCxnSpPr/>
          <p:nvPr/>
        </p:nvCxnSpPr>
        <p:spPr>
          <a:xfrm>
            <a:off x="3316013" y="4078014"/>
            <a:ext cx="5171090" cy="0"/>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ED00550E-E7F0-2327-AC09-2293DF084BBF}"/>
              </a:ext>
            </a:extLst>
          </p:cNvPr>
          <p:cNvSpPr txBox="1"/>
          <p:nvPr/>
        </p:nvSpPr>
        <p:spPr>
          <a:xfrm>
            <a:off x="3955556" y="3020788"/>
            <a:ext cx="3892004" cy="954107"/>
          </a:xfrm>
          <a:prstGeom prst="rect">
            <a:avLst/>
          </a:prstGeom>
          <a:noFill/>
        </p:spPr>
        <p:txBody>
          <a:bodyPr wrap="square" rtlCol="0">
            <a:spAutoFit/>
          </a:bodyPr>
          <a:lstStyle/>
          <a:p>
            <a:pPr algn="ctr"/>
            <a:r>
              <a:rPr lang="en-US" sz="2000" b="1" dirty="0">
                <a:solidFill>
                  <a:schemeClr val="accent2">
                    <a:lumMod val="75000"/>
                  </a:schemeClr>
                </a:solidFill>
              </a:rPr>
              <a:t>IN THE QUANTUM WORLD</a:t>
            </a:r>
          </a:p>
          <a:p>
            <a:endParaRPr lang="en-US" dirty="0"/>
          </a:p>
          <a:p>
            <a:endParaRPr lang="en-US" dirty="0"/>
          </a:p>
        </p:txBody>
      </p:sp>
      <p:pic>
        <p:nvPicPr>
          <p:cNvPr id="3" name="Picture 2" descr="Alice in Wonderland: I'm Late &amp; Down the Rabbit Hole">
            <a:extLst>
              <a:ext uri="{FF2B5EF4-FFF2-40B4-BE49-F238E27FC236}">
                <a16:creationId xmlns:a16="http://schemas.microsoft.com/office/drawing/2014/main" id="{63C89D5E-5F29-B638-73AE-31D68CDD2097}"/>
              </a:ext>
            </a:extLst>
          </p:cNvPr>
          <p:cNvPicPr>
            <a:picLocks noChangeAspect="1"/>
          </p:cNvPicPr>
          <p:nvPr/>
        </p:nvPicPr>
        <p:blipFill>
          <a:blip r:embed="rId2"/>
          <a:stretch>
            <a:fillRect/>
          </a:stretch>
        </p:blipFill>
        <p:spPr>
          <a:xfrm>
            <a:off x="140794" y="3153103"/>
            <a:ext cx="2900855" cy="2175641"/>
          </a:xfrm>
          <a:prstGeom prst="rect">
            <a:avLst/>
          </a:prstGeom>
        </p:spPr>
      </p:pic>
      <p:sp>
        <p:nvSpPr>
          <p:cNvPr id="8" name="TextBox 7">
            <a:extLst>
              <a:ext uri="{FF2B5EF4-FFF2-40B4-BE49-F238E27FC236}">
                <a16:creationId xmlns:a16="http://schemas.microsoft.com/office/drawing/2014/main" id="{641521E0-7172-5721-C56C-0959A60C54E0}"/>
              </a:ext>
            </a:extLst>
          </p:cNvPr>
          <p:cNvSpPr txBox="1"/>
          <p:nvPr/>
        </p:nvSpPr>
        <p:spPr>
          <a:xfrm>
            <a:off x="4567839" y="3652913"/>
            <a:ext cx="2362638" cy="1200329"/>
          </a:xfrm>
          <a:prstGeom prst="rect">
            <a:avLst/>
          </a:prstGeom>
          <a:noFill/>
        </p:spPr>
        <p:txBody>
          <a:bodyPr wrap="square" rtlCol="0">
            <a:spAutoFit/>
          </a:bodyPr>
          <a:lstStyle/>
          <a:p>
            <a:pPr algn="ctr"/>
            <a:r>
              <a:rPr lang="en-US" dirty="0"/>
              <a:t>COMMUNICATION</a:t>
            </a:r>
          </a:p>
          <a:p>
            <a:pPr algn="ctr"/>
            <a:endParaRPr lang="en-US" dirty="0"/>
          </a:p>
          <a:p>
            <a:pPr algn="ctr"/>
            <a:r>
              <a:rPr lang="en-US" dirty="0"/>
              <a:t>Alice sends her qubit</a:t>
            </a:r>
          </a:p>
          <a:p>
            <a:endParaRPr lang="en-US" dirty="0"/>
          </a:p>
        </p:txBody>
      </p:sp>
      <p:sp>
        <p:nvSpPr>
          <p:cNvPr id="13" name="Oval 12">
            <a:extLst>
              <a:ext uri="{FF2B5EF4-FFF2-40B4-BE49-F238E27FC236}">
                <a16:creationId xmlns:a16="http://schemas.microsoft.com/office/drawing/2014/main" id="{F50C8DB5-CCB1-AD6E-7CC8-25476AF4D9BC}"/>
              </a:ext>
            </a:extLst>
          </p:cNvPr>
          <p:cNvSpPr/>
          <p:nvPr/>
        </p:nvSpPr>
        <p:spPr>
          <a:xfrm>
            <a:off x="9685283" y="5759669"/>
            <a:ext cx="819807" cy="735724"/>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A907C7F-957E-7DDA-D769-728B5FED4F4E}"/>
              </a:ext>
            </a:extLst>
          </p:cNvPr>
          <p:cNvSpPr/>
          <p:nvPr/>
        </p:nvSpPr>
        <p:spPr>
          <a:xfrm>
            <a:off x="8676289" y="5759669"/>
            <a:ext cx="819807" cy="735724"/>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pic>
        <p:nvPicPr>
          <p:cNvPr id="14" name="Picture 13" descr="Famous Bobs | Famous Birthdays">
            <a:extLst>
              <a:ext uri="{FF2B5EF4-FFF2-40B4-BE49-F238E27FC236}">
                <a16:creationId xmlns:a16="http://schemas.microsoft.com/office/drawing/2014/main" id="{767D94D6-FB33-303A-A7C6-DC115A98B3BB}"/>
              </a:ext>
            </a:extLst>
          </p:cNvPr>
          <p:cNvPicPr>
            <a:picLocks noChangeAspect="1"/>
          </p:cNvPicPr>
          <p:nvPr/>
        </p:nvPicPr>
        <p:blipFill>
          <a:blip r:embed="rId3"/>
          <a:stretch>
            <a:fillRect/>
          </a:stretch>
        </p:blipFill>
        <p:spPr>
          <a:xfrm>
            <a:off x="8761467" y="3059058"/>
            <a:ext cx="2253374" cy="2253374"/>
          </a:xfrm>
          <a:prstGeom prst="rect">
            <a:avLst/>
          </a:prstGeom>
        </p:spPr>
      </p:pic>
      <p:sp>
        <p:nvSpPr>
          <p:cNvPr id="6" name="Slide Number Placeholder 5">
            <a:extLst>
              <a:ext uri="{FF2B5EF4-FFF2-40B4-BE49-F238E27FC236}">
                <a16:creationId xmlns:a16="http://schemas.microsoft.com/office/drawing/2014/main" id="{576F5770-3948-539E-D9B9-03253BB1BE87}"/>
              </a:ext>
            </a:extLst>
          </p:cNvPr>
          <p:cNvSpPr>
            <a:spLocks noGrp="1"/>
          </p:cNvSpPr>
          <p:nvPr>
            <p:ph type="sldNum" sz="quarter" idx="12"/>
          </p:nvPr>
        </p:nvSpPr>
        <p:spPr/>
        <p:txBody>
          <a:bodyPr/>
          <a:lstStyle/>
          <a:p>
            <a:fld id="{4544B810-10F2-2E49-94DF-FA7BE986B6B9}" type="slidenum">
              <a:rPr lang="en-US" smtClean="0"/>
              <a:t>23</a:t>
            </a:fld>
            <a:endParaRPr lang="en-US"/>
          </a:p>
        </p:txBody>
      </p:sp>
    </p:spTree>
    <p:extLst>
      <p:ext uri="{BB962C8B-B14F-4D97-AF65-F5344CB8AC3E}">
        <p14:creationId xmlns:p14="http://schemas.microsoft.com/office/powerpoint/2010/main" val="653955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C6E5-E35C-5F0F-C706-3D0AF383E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E6ECB-C35B-798C-952D-914DA00E706B}"/>
              </a:ext>
            </a:extLst>
          </p:cNvPr>
          <p:cNvSpPr>
            <a:spLocks noGrp="1"/>
          </p:cNvSpPr>
          <p:nvPr>
            <p:ph type="title"/>
          </p:nvPr>
        </p:nvSpPr>
        <p:spPr/>
        <p:txBody>
          <a:bodyPr/>
          <a:lstStyle/>
          <a:p>
            <a:r>
              <a:rPr lang="en-US" dirty="0"/>
              <a:t>Superdense encoding</a:t>
            </a:r>
          </a:p>
        </p:txBody>
      </p:sp>
      <p:sp>
        <p:nvSpPr>
          <p:cNvPr id="9" name="Rectangle 8">
            <a:extLst>
              <a:ext uri="{FF2B5EF4-FFF2-40B4-BE49-F238E27FC236}">
                <a16:creationId xmlns:a16="http://schemas.microsoft.com/office/drawing/2014/main" id="{29CE690E-7A83-EDA4-EDDB-4A6604915B50}"/>
              </a:ext>
            </a:extLst>
          </p:cNvPr>
          <p:cNvSpPr/>
          <p:nvPr/>
        </p:nvSpPr>
        <p:spPr>
          <a:xfrm>
            <a:off x="3436883" y="1534511"/>
            <a:ext cx="4624551" cy="1240221"/>
          </a:xfrm>
          <a:prstGeom prst="rect">
            <a:avLst/>
          </a:prstGeom>
          <a:ln w="38100">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THEY WANT TO SHARE 2 BITS WORTH OF INFO</a:t>
            </a:r>
          </a:p>
        </p:txBody>
      </p:sp>
      <p:sp>
        <p:nvSpPr>
          <p:cNvPr id="5" name="TextBox 4">
            <a:extLst>
              <a:ext uri="{FF2B5EF4-FFF2-40B4-BE49-F238E27FC236}">
                <a16:creationId xmlns:a16="http://schemas.microsoft.com/office/drawing/2014/main" id="{6F439513-8AC5-6E3C-21D3-6214176D8D1C}"/>
              </a:ext>
            </a:extLst>
          </p:cNvPr>
          <p:cNvSpPr txBox="1"/>
          <p:nvPr/>
        </p:nvSpPr>
        <p:spPr>
          <a:xfrm>
            <a:off x="3955556" y="3020788"/>
            <a:ext cx="3892004" cy="954107"/>
          </a:xfrm>
          <a:prstGeom prst="rect">
            <a:avLst/>
          </a:prstGeom>
          <a:noFill/>
        </p:spPr>
        <p:txBody>
          <a:bodyPr wrap="square" rtlCol="0">
            <a:spAutoFit/>
          </a:bodyPr>
          <a:lstStyle/>
          <a:p>
            <a:pPr algn="ctr"/>
            <a:r>
              <a:rPr lang="en-US" sz="2000" b="1" dirty="0">
                <a:solidFill>
                  <a:schemeClr val="accent2">
                    <a:lumMod val="75000"/>
                  </a:schemeClr>
                </a:solidFill>
              </a:rPr>
              <a:t>IN THE QUANTUM WORLD</a:t>
            </a:r>
          </a:p>
          <a:p>
            <a:endParaRPr lang="en-US" dirty="0"/>
          </a:p>
          <a:p>
            <a:endParaRPr lang="en-US" dirty="0"/>
          </a:p>
        </p:txBody>
      </p:sp>
      <p:pic>
        <p:nvPicPr>
          <p:cNvPr id="3" name="Picture 2" descr="Alice in Wonderland: I'm Late &amp; Down the Rabbit Hole">
            <a:extLst>
              <a:ext uri="{FF2B5EF4-FFF2-40B4-BE49-F238E27FC236}">
                <a16:creationId xmlns:a16="http://schemas.microsoft.com/office/drawing/2014/main" id="{9CB7950A-CCE0-C5D7-8CB1-86AF179E7322}"/>
              </a:ext>
            </a:extLst>
          </p:cNvPr>
          <p:cNvPicPr>
            <a:picLocks noChangeAspect="1"/>
          </p:cNvPicPr>
          <p:nvPr/>
        </p:nvPicPr>
        <p:blipFill>
          <a:blip r:embed="rId2"/>
          <a:stretch>
            <a:fillRect/>
          </a:stretch>
        </p:blipFill>
        <p:spPr>
          <a:xfrm>
            <a:off x="140794" y="3153103"/>
            <a:ext cx="2900855" cy="2175641"/>
          </a:xfrm>
          <a:prstGeom prst="rect">
            <a:avLst/>
          </a:prstGeom>
        </p:spPr>
      </p:pic>
      <p:sp>
        <p:nvSpPr>
          <p:cNvPr id="8" name="TextBox 7">
            <a:extLst>
              <a:ext uri="{FF2B5EF4-FFF2-40B4-BE49-F238E27FC236}">
                <a16:creationId xmlns:a16="http://schemas.microsoft.com/office/drawing/2014/main" id="{DEC64E9E-4258-DB48-A749-008EB7FD74AD}"/>
              </a:ext>
            </a:extLst>
          </p:cNvPr>
          <p:cNvSpPr txBox="1"/>
          <p:nvPr/>
        </p:nvSpPr>
        <p:spPr>
          <a:xfrm>
            <a:off x="4567839" y="3652913"/>
            <a:ext cx="2362638" cy="1200329"/>
          </a:xfrm>
          <a:prstGeom prst="rect">
            <a:avLst/>
          </a:prstGeom>
          <a:noFill/>
        </p:spPr>
        <p:txBody>
          <a:bodyPr wrap="square" rtlCol="0">
            <a:spAutoFit/>
          </a:bodyPr>
          <a:lstStyle/>
          <a:p>
            <a:pPr algn="ctr"/>
            <a:r>
              <a:rPr lang="en-US" dirty="0"/>
              <a:t>Bob measures</a:t>
            </a:r>
          </a:p>
          <a:p>
            <a:pPr algn="ctr"/>
            <a:endParaRPr lang="en-US" dirty="0"/>
          </a:p>
          <a:p>
            <a:pPr algn="ctr"/>
            <a:r>
              <a:rPr lang="en-US" dirty="0"/>
              <a:t>&amp; holds two bits!</a:t>
            </a:r>
          </a:p>
          <a:p>
            <a:endParaRPr lang="en-US" dirty="0"/>
          </a:p>
        </p:txBody>
      </p:sp>
      <p:pic>
        <p:nvPicPr>
          <p:cNvPr id="11" name="Picture 10" descr="Netflix Teases Mysterious New Documentary About Famed Painter Bob Ross">
            <a:extLst>
              <a:ext uri="{FF2B5EF4-FFF2-40B4-BE49-F238E27FC236}">
                <a16:creationId xmlns:a16="http://schemas.microsoft.com/office/drawing/2014/main" id="{DB649D03-E331-C356-EE72-CBA8CC7BCAE5}"/>
              </a:ext>
            </a:extLst>
          </p:cNvPr>
          <p:cNvPicPr>
            <a:picLocks noChangeAspect="1"/>
          </p:cNvPicPr>
          <p:nvPr/>
        </p:nvPicPr>
        <p:blipFill>
          <a:blip r:embed="rId3"/>
          <a:stretch>
            <a:fillRect/>
          </a:stretch>
        </p:blipFill>
        <p:spPr>
          <a:xfrm>
            <a:off x="8676289" y="3020788"/>
            <a:ext cx="3286027" cy="2189316"/>
          </a:xfrm>
          <a:prstGeom prst="rect">
            <a:avLst/>
          </a:prstGeom>
        </p:spPr>
      </p:pic>
      <p:graphicFrame>
        <p:nvGraphicFramePr>
          <p:cNvPr id="7" name="Table 6">
            <a:extLst>
              <a:ext uri="{FF2B5EF4-FFF2-40B4-BE49-F238E27FC236}">
                <a16:creationId xmlns:a16="http://schemas.microsoft.com/office/drawing/2014/main" id="{27AF998A-957F-E82A-1D48-5A828EEA115D}"/>
              </a:ext>
            </a:extLst>
          </p:cNvPr>
          <p:cNvGraphicFramePr>
            <a:graphicFrameLocks noGrp="1"/>
          </p:cNvGraphicFramePr>
          <p:nvPr>
            <p:extLst>
              <p:ext uri="{D42A27DB-BD31-4B8C-83A1-F6EECF244321}">
                <p14:modId xmlns:p14="http://schemas.microsoft.com/office/powerpoint/2010/main" val="3648024426"/>
              </p:ext>
            </p:extLst>
          </p:nvPr>
        </p:nvGraphicFramePr>
        <p:xfrm>
          <a:off x="9701048" y="5543950"/>
          <a:ext cx="1292774" cy="579120"/>
        </p:xfrm>
        <a:graphic>
          <a:graphicData uri="http://schemas.openxmlformats.org/drawingml/2006/table">
            <a:tbl>
              <a:tblPr firstRow="1" bandRow="1">
                <a:tableStyleId>{5940675A-B579-460E-94D1-54222C63F5DA}</a:tableStyleId>
              </a:tblPr>
              <a:tblGrid>
                <a:gridCol w="646387">
                  <a:extLst>
                    <a:ext uri="{9D8B030D-6E8A-4147-A177-3AD203B41FA5}">
                      <a16:colId xmlns:a16="http://schemas.microsoft.com/office/drawing/2014/main" val="917971700"/>
                    </a:ext>
                  </a:extLst>
                </a:gridCol>
                <a:gridCol w="646387">
                  <a:extLst>
                    <a:ext uri="{9D8B030D-6E8A-4147-A177-3AD203B41FA5}">
                      <a16:colId xmlns:a16="http://schemas.microsoft.com/office/drawing/2014/main" val="2057700912"/>
                    </a:ext>
                  </a:extLst>
                </a:gridCol>
              </a:tblGrid>
              <a:tr h="573072">
                <a:tc>
                  <a:txBody>
                    <a:bodyPr/>
                    <a:lstStyle/>
                    <a:p>
                      <a:pPr algn="ctr"/>
                      <a:r>
                        <a:rPr lang="en-US" sz="3200" dirty="0"/>
                        <a:t>0</a:t>
                      </a:r>
                    </a:p>
                  </a:txBody>
                  <a:tcPr/>
                </a:tc>
                <a:tc>
                  <a:txBody>
                    <a:bodyPr/>
                    <a:lstStyle/>
                    <a:p>
                      <a:pPr algn="ctr"/>
                      <a:r>
                        <a:rPr lang="en-US" sz="3200" dirty="0"/>
                        <a:t>1</a:t>
                      </a:r>
                    </a:p>
                  </a:txBody>
                  <a:tcPr/>
                </a:tc>
                <a:extLst>
                  <a:ext uri="{0D108BD9-81ED-4DB2-BD59-A6C34878D82A}">
                    <a16:rowId xmlns:a16="http://schemas.microsoft.com/office/drawing/2014/main" val="3805256504"/>
                  </a:ext>
                </a:extLst>
              </a:tr>
            </a:tbl>
          </a:graphicData>
        </a:graphic>
      </p:graphicFrame>
      <p:sp>
        <p:nvSpPr>
          <p:cNvPr id="12" name="Rectangle 11">
            <a:extLst>
              <a:ext uri="{FF2B5EF4-FFF2-40B4-BE49-F238E27FC236}">
                <a16:creationId xmlns:a16="http://schemas.microsoft.com/office/drawing/2014/main" id="{72525E11-1E7F-A28A-8F9F-ED020DC50AC1}"/>
              </a:ext>
            </a:extLst>
          </p:cNvPr>
          <p:cNvSpPr/>
          <p:nvPr/>
        </p:nvSpPr>
        <p:spPr>
          <a:xfrm>
            <a:off x="3546693" y="5092263"/>
            <a:ext cx="4624551" cy="1240221"/>
          </a:xfrm>
          <a:prstGeom prst="rect">
            <a:avLst/>
          </a:prstGeom>
          <a:ln w="38100">
            <a:solidFill>
              <a:srgbClr val="FF0000"/>
            </a:solidFill>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2 BITS = 1 QUBITS</a:t>
            </a:r>
          </a:p>
        </p:txBody>
      </p:sp>
      <p:sp>
        <p:nvSpPr>
          <p:cNvPr id="4" name="Slide Number Placeholder 3">
            <a:extLst>
              <a:ext uri="{FF2B5EF4-FFF2-40B4-BE49-F238E27FC236}">
                <a16:creationId xmlns:a16="http://schemas.microsoft.com/office/drawing/2014/main" id="{432C0AEB-E0BC-EF1B-8091-841967F7E3B0}"/>
              </a:ext>
            </a:extLst>
          </p:cNvPr>
          <p:cNvSpPr>
            <a:spLocks noGrp="1"/>
          </p:cNvSpPr>
          <p:nvPr>
            <p:ph type="sldNum" sz="quarter" idx="12"/>
          </p:nvPr>
        </p:nvSpPr>
        <p:spPr/>
        <p:txBody>
          <a:bodyPr/>
          <a:lstStyle/>
          <a:p>
            <a:fld id="{4544B810-10F2-2E49-94DF-FA7BE986B6B9}" type="slidenum">
              <a:rPr lang="en-US" smtClean="0"/>
              <a:t>24</a:t>
            </a:fld>
            <a:endParaRPr lang="en-US"/>
          </a:p>
        </p:txBody>
      </p:sp>
    </p:spTree>
    <p:extLst>
      <p:ext uri="{BB962C8B-B14F-4D97-AF65-F5344CB8AC3E}">
        <p14:creationId xmlns:p14="http://schemas.microsoft.com/office/powerpoint/2010/main" val="10709899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B8953-4DF3-01B8-B5E9-ADF0FC7F4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0B65E-BB52-46CC-5F94-81BE1FD0D148}"/>
              </a:ext>
            </a:extLst>
          </p:cNvPr>
          <p:cNvSpPr>
            <a:spLocks noGrp="1"/>
          </p:cNvSpPr>
          <p:nvPr>
            <p:ph type="title"/>
          </p:nvPr>
        </p:nvSpPr>
        <p:spPr/>
        <p:txBody>
          <a:bodyPr/>
          <a:lstStyle/>
          <a:p>
            <a:r>
              <a:rPr lang="en-US" b="1" dirty="0"/>
              <a:t>Quantum</a:t>
            </a:r>
            <a:r>
              <a:rPr lang="en-US" dirty="0"/>
              <a:t> Ring all reduce </a:t>
            </a:r>
          </a:p>
        </p:txBody>
      </p:sp>
      <p:sp>
        <p:nvSpPr>
          <p:cNvPr id="9" name="Oval 8">
            <a:extLst>
              <a:ext uri="{FF2B5EF4-FFF2-40B4-BE49-F238E27FC236}">
                <a16:creationId xmlns:a16="http://schemas.microsoft.com/office/drawing/2014/main" id="{7C12CF06-6963-A61C-D7B1-1180B8D1D171}"/>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CE9F46DD-7ED0-1975-8452-EB89BF590FF3}"/>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B41739AA-B548-5576-08A8-F1B3D70AE96A}"/>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713E8645-4465-F695-C9ED-E7FBA37EA550}"/>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DDEB1A86-ECAE-7485-8697-1085F5879F2A}"/>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654EC17B-D96B-A3DD-C494-CE9332C43465}"/>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9FC06CBC-E44B-A327-2000-9605D0BE91E2}"/>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0CA4AD7A-9267-19F5-FD8C-159A1DD956A8}"/>
              </a:ext>
            </a:extLst>
          </p:cNvPr>
          <p:cNvSpPr>
            <a:spLocks noGrp="1"/>
          </p:cNvSpPr>
          <p:nvPr>
            <p:ph idx="1"/>
          </p:nvPr>
        </p:nvSpPr>
        <p:spPr>
          <a:xfrm>
            <a:off x="838200" y="1825625"/>
            <a:ext cx="4920671" cy="4351338"/>
          </a:xfrm>
        </p:spPr>
        <p:txBody>
          <a:bodyPr/>
          <a:lstStyle/>
          <a:p>
            <a:pPr marL="0" indent="0" algn="ctr">
              <a:buNone/>
            </a:pPr>
            <a:r>
              <a:rPr lang="en-GB" b="1" u="sng" dirty="0"/>
              <a:t>Complexity</a:t>
            </a:r>
          </a:p>
          <a:p>
            <a:pPr marL="0" indent="0" algn="ctr">
              <a:buNone/>
            </a:pPr>
            <a:r>
              <a:rPr lang="en-GB" dirty="0"/>
              <a:t>2P bits → P qubits</a:t>
            </a:r>
          </a:p>
          <a:p>
            <a:pPr marL="0" indent="0" algn="ctr">
              <a:buNone/>
            </a:pPr>
            <a:endParaRPr lang="en-GB" sz="2000" dirty="0"/>
          </a:p>
          <a:p>
            <a:pPr marL="0" indent="0" algn="ctr">
              <a:buNone/>
            </a:pPr>
            <a:endParaRPr lang="en-GB" sz="2000" dirty="0"/>
          </a:p>
          <a:p>
            <a:pPr marL="0" indent="0" algn="ctr">
              <a:buNone/>
            </a:pPr>
            <a:r>
              <a:rPr lang="en-GB" dirty="0"/>
              <a:t>EPR version = a relay race</a:t>
            </a:r>
            <a:endParaRPr lang="en-GB" sz="2000" dirty="0"/>
          </a:p>
        </p:txBody>
      </p:sp>
      <p:sp>
        <p:nvSpPr>
          <p:cNvPr id="21" name="Oval 20">
            <a:extLst>
              <a:ext uri="{FF2B5EF4-FFF2-40B4-BE49-F238E27FC236}">
                <a16:creationId xmlns:a16="http://schemas.microsoft.com/office/drawing/2014/main" id="{27384F20-ED12-68A2-E6D7-86CCDE1A864E}"/>
              </a:ext>
            </a:extLst>
          </p:cNvPr>
          <p:cNvSpPr/>
          <p:nvPr/>
        </p:nvSpPr>
        <p:spPr>
          <a:xfrm>
            <a:off x="6659831" y="4247238"/>
            <a:ext cx="345945" cy="31349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2" name="Oval 21">
            <a:extLst>
              <a:ext uri="{FF2B5EF4-FFF2-40B4-BE49-F238E27FC236}">
                <a16:creationId xmlns:a16="http://schemas.microsoft.com/office/drawing/2014/main" id="{A15CC4E2-FBD0-EAC3-4B95-7EF625AB0119}"/>
              </a:ext>
            </a:extLst>
          </p:cNvPr>
          <p:cNvSpPr/>
          <p:nvPr/>
        </p:nvSpPr>
        <p:spPr>
          <a:xfrm>
            <a:off x="6966157" y="4872868"/>
            <a:ext cx="319499" cy="31843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0B0585A-B9C1-FCDD-82A0-A8AFD47A797F}"/>
              </a:ext>
            </a:extLst>
          </p:cNvPr>
          <p:cNvSpPr/>
          <p:nvPr/>
        </p:nvSpPr>
        <p:spPr>
          <a:xfrm>
            <a:off x="9364198" y="5983267"/>
            <a:ext cx="319499" cy="31843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2E25773-314B-4188-EFA3-64526CB704E2}"/>
              </a:ext>
            </a:extLst>
          </p:cNvPr>
          <p:cNvSpPr/>
          <p:nvPr/>
        </p:nvSpPr>
        <p:spPr>
          <a:xfrm>
            <a:off x="11110636" y="4812247"/>
            <a:ext cx="319499" cy="31843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87D39DD-40BD-0AFB-F08C-E274A0FD606D}"/>
              </a:ext>
            </a:extLst>
          </p:cNvPr>
          <p:cNvSpPr/>
          <p:nvPr/>
        </p:nvSpPr>
        <p:spPr>
          <a:xfrm>
            <a:off x="10681881" y="2086925"/>
            <a:ext cx="319499" cy="31843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F04C3FC-9FA3-5F84-849A-7694926D3003}"/>
              </a:ext>
            </a:extLst>
          </p:cNvPr>
          <p:cNvSpPr/>
          <p:nvPr/>
        </p:nvSpPr>
        <p:spPr>
          <a:xfrm>
            <a:off x="8744566" y="1495872"/>
            <a:ext cx="319499" cy="31843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9AB9062-D8C9-196B-CAAF-19EBB83D7EEA}"/>
              </a:ext>
            </a:extLst>
          </p:cNvPr>
          <p:cNvSpPr/>
          <p:nvPr/>
        </p:nvSpPr>
        <p:spPr>
          <a:xfrm>
            <a:off x="7025262" y="2524631"/>
            <a:ext cx="319499" cy="31843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3D16C4B-B9AC-BAFE-0298-FFAF5FF13B93}"/>
              </a:ext>
            </a:extLst>
          </p:cNvPr>
          <p:cNvSpPr/>
          <p:nvPr/>
        </p:nvSpPr>
        <p:spPr>
          <a:xfrm>
            <a:off x="7652512" y="1844716"/>
            <a:ext cx="345945" cy="31349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9" name="Oval 28">
            <a:extLst>
              <a:ext uri="{FF2B5EF4-FFF2-40B4-BE49-F238E27FC236}">
                <a16:creationId xmlns:a16="http://schemas.microsoft.com/office/drawing/2014/main" id="{88ACC532-310F-1D6F-C278-41A3FD7493BC}"/>
              </a:ext>
            </a:extLst>
          </p:cNvPr>
          <p:cNvSpPr/>
          <p:nvPr/>
        </p:nvSpPr>
        <p:spPr>
          <a:xfrm>
            <a:off x="9532769" y="1534811"/>
            <a:ext cx="345945" cy="31349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0" name="Oval 29">
            <a:extLst>
              <a:ext uri="{FF2B5EF4-FFF2-40B4-BE49-F238E27FC236}">
                <a16:creationId xmlns:a16="http://schemas.microsoft.com/office/drawing/2014/main" id="{C230AC74-55B9-3161-DEA9-83C69313AB1D}"/>
              </a:ext>
            </a:extLst>
          </p:cNvPr>
          <p:cNvSpPr/>
          <p:nvPr/>
        </p:nvSpPr>
        <p:spPr>
          <a:xfrm>
            <a:off x="11097412" y="2744466"/>
            <a:ext cx="345945" cy="31349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1" name="Oval 30">
            <a:extLst>
              <a:ext uri="{FF2B5EF4-FFF2-40B4-BE49-F238E27FC236}">
                <a16:creationId xmlns:a16="http://schemas.microsoft.com/office/drawing/2014/main" id="{F65E8F61-4369-C05E-E7A5-DD9078C34CED}"/>
              </a:ext>
            </a:extLst>
          </p:cNvPr>
          <p:cNvSpPr/>
          <p:nvPr/>
        </p:nvSpPr>
        <p:spPr>
          <a:xfrm>
            <a:off x="10550448" y="5450428"/>
            <a:ext cx="345945" cy="31349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2" name="Oval 31">
            <a:extLst>
              <a:ext uri="{FF2B5EF4-FFF2-40B4-BE49-F238E27FC236}">
                <a16:creationId xmlns:a16="http://schemas.microsoft.com/office/drawing/2014/main" id="{AEACA1E3-057B-6B3A-36A7-3604446E0929}"/>
              </a:ext>
            </a:extLst>
          </p:cNvPr>
          <p:cNvSpPr/>
          <p:nvPr/>
        </p:nvSpPr>
        <p:spPr>
          <a:xfrm>
            <a:off x="8600308" y="5953309"/>
            <a:ext cx="345945" cy="31349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pic>
        <p:nvPicPr>
          <p:cNvPr id="35" name="Picture 34" descr="Relays: History, Types, Objective, &amp; Equipment - Sportsmatik">
            <a:extLst>
              <a:ext uri="{FF2B5EF4-FFF2-40B4-BE49-F238E27FC236}">
                <a16:creationId xmlns:a16="http://schemas.microsoft.com/office/drawing/2014/main" id="{7A573665-F9B8-10A5-2267-E949E00CC2ED}"/>
              </a:ext>
            </a:extLst>
          </p:cNvPr>
          <p:cNvPicPr>
            <a:picLocks noChangeAspect="1"/>
          </p:cNvPicPr>
          <p:nvPr/>
        </p:nvPicPr>
        <p:blipFill>
          <a:blip r:embed="rId2"/>
          <a:stretch>
            <a:fillRect/>
          </a:stretch>
        </p:blipFill>
        <p:spPr>
          <a:xfrm>
            <a:off x="1880328" y="4147907"/>
            <a:ext cx="3107399" cy="2441528"/>
          </a:xfrm>
          <a:prstGeom prst="rect">
            <a:avLst/>
          </a:prstGeom>
        </p:spPr>
      </p:pic>
      <p:sp>
        <p:nvSpPr>
          <p:cNvPr id="3" name="Slide Number Placeholder 2">
            <a:extLst>
              <a:ext uri="{FF2B5EF4-FFF2-40B4-BE49-F238E27FC236}">
                <a16:creationId xmlns:a16="http://schemas.microsoft.com/office/drawing/2014/main" id="{6D492C17-E10C-34C3-E79D-2B25F8222B46}"/>
              </a:ext>
            </a:extLst>
          </p:cNvPr>
          <p:cNvSpPr>
            <a:spLocks noGrp="1"/>
          </p:cNvSpPr>
          <p:nvPr>
            <p:ph type="sldNum" sz="quarter" idx="12"/>
          </p:nvPr>
        </p:nvSpPr>
        <p:spPr/>
        <p:txBody>
          <a:bodyPr/>
          <a:lstStyle/>
          <a:p>
            <a:fld id="{4544B810-10F2-2E49-94DF-FA7BE986B6B9}" type="slidenum">
              <a:rPr lang="en-US" smtClean="0"/>
              <a:t>25</a:t>
            </a:fld>
            <a:endParaRPr lang="en-US"/>
          </a:p>
        </p:txBody>
      </p:sp>
    </p:spTree>
    <p:extLst>
      <p:ext uri="{BB962C8B-B14F-4D97-AF65-F5344CB8AC3E}">
        <p14:creationId xmlns:p14="http://schemas.microsoft.com/office/powerpoint/2010/main" val="1703647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45186-5FA3-C29E-C09E-62039FA79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5F781-30DF-E4FA-707B-7FEA7E6B6C63}"/>
              </a:ext>
            </a:extLst>
          </p:cNvPr>
          <p:cNvSpPr>
            <a:spLocks noGrp="1"/>
          </p:cNvSpPr>
          <p:nvPr>
            <p:ph type="title"/>
          </p:nvPr>
        </p:nvSpPr>
        <p:spPr/>
        <p:txBody>
          <a:bodyPr/>
          <a:lstStyle/>
          <a:p>
            <a:r>
              <a:rPr lang="en-US" dirty="0"/>
              <a:t>SMART</a:t>
            </a:r>
            <a:r>
              <a:rPr lang="en-US" b="1" dirty="0"/>
              <a:t> Quantum</a:t>
            </a:r>
            <a:r>
              <a:rPr lang="en-US" dirty="0"/>
              <a:t> Ring all reduce </a:t>
            </a:r>
          </a:p>
        </p:txBody>
      </p:sp>
      <p:sp>
        <p:nvSpPr>
          <p:cNvPr id="9" name="Oval 8">
            <a:extLst>
              <a:ext uri="{FF2B5EF4-FFF2-40B4-BE49-F238E27FC236}">
                <a16:creationId xmlns:a16="http://schemas.microsoft.com/office/drawing/2014/main" id="{8B8D2EC7-80D1-9FBF-6621-976AF4FB57B1}"/>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F52E910-3A51-AC53-DBD0-17B474D07431}"/>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4A12D6E9-88EC-B45F-1524-D75CD2FDD4CC}"/>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91C399A1-A8C7-9CA2-202C-77E603C2CE9D}"/>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005F12DB-9F19-CEA3-AE99-A623B9C85B70}"/>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680E3632-C541-F47A-6D40-E9D4BC33620B}"/>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70A70DBA-A3AF-1714-CD16-D190F877344E}"/>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14D7BB60-5F1C-998E-9656-CC8097CDEDB7}"/>
              </a:ext>
            </a:extLst>
          </p:cNvPr>
          <p:cNvSpPr>
            <a:spLocks noGrp="1"/>
          </p:cNvSpPr>
          <p:nvPr>
            <p:ph idx="1"/>
          </p:nvPr>
        </p:nvSpPr>
        <p:spPr>
          <a:xfrm>
            <a:off x="409904" y="3685741"/>
            <a:ext cx="5686096" cy="2491222"/>
          </a:xfrm>
        </p:spPr>
        <p:txBody>
          <a:bodyPr>
            <a:normAutofit lnSpcReduction="10000"/>
          </a:bodyPr>
          <a:lstStyle/>
          <a:p>
            <a:pPr marL="0" indent="0" algn="ctr">
              <a:buNone/>
            </a:pPr>
            <a:endParaRPr lang="en-GB" dirty="0"/>
          </a:p>
          <a:p>
            <a:pPr marL="0" indent="0" algn="ctr">
              <a:buNone/>
            </a:pPr>
            <a:endParaRPr lang="en-GB" dirty="0"/>
          </a:p>
          <a:p>
            <a:pPr marL="0" indent="0" algn="ctr">
              <a:buNone/>
            </a:pPr>
            <a:endParaRPr lang="en-GB" dirty="0"/>
          </a:p>
          <a:p>
            <a:pPr marL="0" indent="0" algn="ctr">
              <a:buNone/>
            </a:pPr>
            <a:endParaRPr lang="en-GB" dirty="0"/>
          </a:p>
          <a:p>
            <a:pPr marL="0" indent="0" algn="ctr">
              <a:buNone/>
            </a:pPr>
            <a:r>
              <a:rPr lang="en-GB" dirty="0"/>
              <a:t>GHZ version = one shared canvas</a:t>
            </a:r>
            <a:endParaRPr lang="en-GB" sz="2000" dirty="0"/>
          </a:p>
        </p:txBody>
      </p:sp>
      <p:pic>
        <p:nvPicPr>
          <p:cNvPr id="3" name="Picture 2" descr="Nerd Face Emoji Clever Emoticon With Glasses Geek Or Student Stock  Illustration - Download Image Now - iStock">
            <a:extLst>
              <a:ext uri="{FF2B5EF4-FFF2-40B4-BE49-F238E27FC236}">
                <a16:creationId xmlns:a16="http://schemas.microsoft.com/office/drawing/2014/main" id="{0D5F2CCC-2B86-AD5E-DF8C-FA99AB1CC487}"/>
              </a:ext>
            </a:extLst>
          </p:cNvPr>
          <p:cNvPicPr>
            <a:picLocks noChangeAspect="1"/>
          </p:cNvPicPr>
          <p:nvPr/>
        </p:nvPicPr>
        <p:blipFill>
          <a:blip r:embed="rId2"/>
          <a:stretch/>
        </p:blipFill>
        <p:spPr>
          <a:xfrm>
            <a:off x="0" y="-77600"/>
            <a:ext cx="1105506" cy="1105506"/>
          </a:xfrm>
          <a:prstGeom prst="rect">
            <a:avLst/>
          </a:prstGeom>
        </p:spPr>
      </p:pic>
      <p:pic>
        <p:nvPicPr>
          <p:cNvPr id="4" name="Picture 3" descr="Relays: History, Types, Objective, &amp; Equipment - Sportsmatik">
            <a:extLst>
              <a:ext uri="{FF2B5EF4-FFF2-40B4-BE49-F238E27FC236}">
                <a16:creationId xmlns:a16="http://schemas.microsoft.com/office/drawing/2014/main" id="{9D4F2195-41D1-3FCC-65C1-E619B35CD656}"/>
              </a:ext>
            </a:extLst>
          </p:cNvPr>
          <p:cNvPicPr>
            <a:picLocks noChangeAspect="1"/>
          </p:cNvPicPr>
          <p:nvPr/>
        </p:nvPicPr>
        <p:blipFill>
          <a:blip r:embed="rId3"/>
          <a:stretch>
            <a:fillRect/>
          </a:stretch>
        </p:blipFill>
        <p:spPr>
          <a:xfrm>
            <a:off x="1928367" y="1758427"/>
            <a:ext cx="2366732" cy="1859575"/>
          </a:xfrm>
          <a:prstGeom prst="rect">
            <a:avLst/>
          </a:prstGeom>
        </p:spPr>
      </p:pic>
      <p:sp>
        <p:nvSpPr>
          <p:cNvPr id="13" name="Down Arrow 12">
            <a:extLst>
              <a:ext uri="{FF2B5EF4-FFF2-40B4-BE49-F238E27FC236}">
                <a16:creationId xmlns:a16="http://schemas.microsoft.com/office/drawing/2014/main" id="{F8DB9D28-AC6D-CEEA-AF0E-2047EDD9A88F}"/>
              </a:ext>
            </a:extLst>
          </p:cNvPr>
          <p:cNvSpPr/>
          <p:nvPr/>
        </p:nvSpPr>
        <p:spPr>
          <a:xfrm>
            <a:off x="2859484" y="3882693"/>
            <a:ext cx="504497" cy="1324303"/>
          </a:xfrm>
          <a:prstGeom prst="down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ultiply 13">
            <a:extLst>
              <a:ext uri="{FF2B5EF4-FFF2-40B4-BE49-F238E27FC236}">
                <a16:creationId xmlns:a16="http://schemas.microsoft.com/office/drawing/2014/main" id="{13986B56-9FEA-C620-2BA7-D701EB204239}"/>
              </a:ext>
            </a:extLst>
          </p:cNvPr>
          <p:cNvSpPr/>
          <p:nvPr/>
        </p:nvSpPr>
        <p:spPr>
          <a:xfrm>
            <a:off x="2219212" y="1857183"/>
            <a:ext cx="1723697" cy="1762297"/>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1A6B2B0F-21C8-6A58-CB29-458C3AFE6D93}"/>
              </a:ext>
            </a:extLst>
          </p:cNvPr>
          <p:cNvPicPr>
            <a:picLocks noChangeAspect="1"/>
          </p:cNvPicPr>
          <p:nvPr/>
        </p:nvPicPr>
        <p:blipFill>
          <a:blip r:embed="rId4"/>
          <a:srcRect t="6142"/>
          <a:stretch>
            <a:fillRect/>
          </a:stretch>
        </p:blipFill>
        <p:spPr>
          <a:xfrm>
            <a:off x="7588429" y="3486408"/>
            <a:ext cx="3441076" cy="764771"/>
          </a:xfrm>
          <a:prstGeom prst="rect">
            <a:avLst/>
          </a:prstGeom>
        </p:spPr>
      </p:pic>
      <p:sp>
        <p:nvSpPr>
          <p:cNvPr id="16" name="Oval 15">
            <a:extLst>
              <a:ext uri="{FF2B5EF4-FFF2-40B4-BE49-F238E27FC236}">
                <a16:creationId xmlns:a16="http://schemas.microsoft.com/office/drawing/2014/main" id="{C7B4583A-B6D5-AF86-3BDC-77AFC85DFDCB}"/>
              </a:ext>
            </a:extLst>
          </p:cNvPr>
          <p:cNvSpPr/>
          <p:nvPr/>
        </p:nvSpPr>
        <p:spPr>
          <a:xfrm>
            <a:off x="7288302" y="2166926"/>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CBE4DE7-27A6-F6D8-FF93-2B8AA155E30A}"/>
              </a:ext>
            </a:extLst>
          </p:cNvPr>
          <p:cNvSpPr/>
          <p:nvPr/>
        </p:nvSpPr>
        <p:spPr>
          <a:xfrm>
            <a:off x="6749091" y="4577763"/>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7123E04-9148-169B-577B-D6D6C04EDCAF}"/>
              </a:ext>
            </a:extLst>
          </p:cNvPr>
          <p:cNvSpPr/>
          <p:nvPr/>
        </p:nvSpPr>
        <p:spPr>
          <a:xfrm>
            <a:off x="9009188" y="6017748"/>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70C3166-ADBA-D6FC-4164-B2E6305C6569}"/>
              </a:ext>
            </a:extLst>
          </p:cNvPr>
          <p:cNvSpPr/>
          <p:nvPr/>
        </p:nvSpPr>
        <p:spPr>
          <a:xfrm>
            <a:off x="9149217" y="1439997"/>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E0D6D7F-D8C0-13FC-F5E3-5B6A9DE569C9}"/>
              </a:ext>
            </a:extLst>
          </p:cNvPr>
          <p:cNvSpPr/>
          <p:nvPr/>
        </p:nvSpPr>
        <p:spPr>
          <a:xfrm>
            <a:off x="10987617" y="2434248"/>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047E9C1-4167-AE2C-04E2-146A86B94CF5}"/>
              </a:ext>
            </a:extLst>
          </p:cNvPr>
          <p:cNvSpPr/>
          <p:nvPr/>
        </p:nvSpPr>
        <p:spPr>
          <a:xfrm>
            <a:off x="10970995" y="5119363"/>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950F868D-2E3C-698A-920E-635DEC62AC7F}"/>
              </a:ext>
            </a:extLst>
          </p:cNvPr>
          <p:cNvCxnSpPr>
            <a:cxnSpLocks/>
            <a:stCxn id="16" idx="4"/>
            <a:endCxn id="17" idx="0"/>
          </p:cNvCxnSpPr>
          <p:nvPr/>
        </p:nvCxnSpPr>
        <p:spPr>
          <a:xfrm flipH="1">
            <a:off x="6908841" y="2485356"/>
            <a:ext cx="539211" cy="2092407"/>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B90FB3A-BEFB-5A6B-F0AE-876DD02C258A}"/>
              </a:ext>
            </a:extLst>
          </p:cNvPr>
          <p:cNvCxnSpPr>
            <a:cxnSpLocks/>
            <a:stCxn id="16" idx="5"/>
            <a:endCxn id="18" idx="1"/>
          </p:cNvCxnSpPr>
          <p:nvPr/>
        </p:nvCxnSpPr>
        <p:spPr>
          <a:xfrm>
            <a:off x="7561011" y="2438723"/>
            <a:ext cx="1494967" cy="3625658"/>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47835CF8-0F4D-4277-6640-ADF83DC7A4BE}"/>
              </a:ext>
            </a:extLst>
          </p:cNvPr>
          <p:cNvCxnSpPr>
            <a:cxnSpLocks/>
            <a:stCxn id="16" idx="6"/>
            <a:endCxn id="33" idx="2"/>
          </p:cNvCxnSpPr>
          <p:nvPr/>
        </p:nvCxnSpPr>
        <p:spPr>
          <a:xfrm>
            <a:off x="7607801" y="2326141"/>
            <a:ext cx="3363194" cy="2952437"/>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8C4F11A-1E42-7531-55FA-1C80E5A9D788}"/>
              </a:ext>
            </a:extLst>
          </p:cNvPr>
          <p:cNvCxnSpPr>
            <a:cxnSpLocks/>
            <a:stCxn id="16" idx="0"/>
            <a:endCxn id="19" idx="2"/>
          </p:cNvCxnSpPr>
          <p:nvPr/>
        </p:nvCxnSpPr>
        <p:spPr>
          <a:xfrm flipV="1">
            <a:off x="7448052" y="1599212"/>
            <a:ext cx="1701165" cy="567714"/>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B54E725B-A444-0478-4F69-5EF250030380}"/>
              </a:ext>
            </a:extLst>
          </p:cNvPr>
          <p:cNvCxnSpPr>
            <a:cxnSpLocks/>
            <a:stCxn id="16" idx="7"/>
            <a:endCxn id="20" idx="2"/>
          </p:cNvCxnSpPr>
          <p:nvPr/>
        </p:nvCxnSpPr>
        <p:spPr>
          <a:xfrm>
            <a:off x="7561011" y="2213559"/>
            <a:ext cx="3426606" cy="379904"/>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536A5B41-3EFB-D152-6E9D-269459F7DE93}"/>
              </a:ext>
            </a:extLst>
          </p:cNvPr>
          <p:cNvCxnSpPr>
            <a:cxnSpLocks/>
            <a:stCxn id="19" idx="6"/>
            <a:endCxn id="20" idx="1"/>
          </p:cNvCxnSpPr>
          <p:nvPr/>
        </p:nvCxnSpPr>
        <p:spPr>
          <a:xfrm>
            <a:off x="9468716" y="1599212"/>
            <a:ext cx="1565691" cy="881669"/>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E696BE4-10A6-9994-29B5-B54D407B8303}"/>
              </a:ext>
            </a:extLst>
          </p:cNvPr>
          <p:cNvCxnSpPr>
            <a:cxnSpLocks/>
            <a:stCxn id="19" idx="5"/>
            <a:endCxn id="33" idx="1"/>
          </p:cNvCxnSpPr>
          <p:nvPr/>
        </p:nvCxnSpPr>
        <p:spPr>
          <a:xfrm>
            <a:off x="9421926" y="1711794"/>
            <a:ext cx="1595859" cy="3454202"/>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C4FF907B-BB40-60E3-4C52-D126FDE14EF0}"/>
              </a:ext>
            </a:extLst>
          </p:cNvPr>
          <p:cNvCxnSpPr>
            <a:cxnSpLocks/>
            <a:stCxn id="19" idx="3"/>
            <a:endCxn id="17" idx="7"/>
          </p:cNvCxnSpPr>
          <p:nvPr/>
        </p:nvCxnSpPr>
        <p:spPr>
          <a:xfrm flipH="1">
            <a:off x="7021800" y="1711794"/>
            <a:ext cx="2174207" cy="2912602"/>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39374A9C-D697-0EC1-913B-DD90EE7300F8}"/>
              </a:ext>
            </a:extLst>
          </p:cNvPr>
          <p:cNvCxnSpPr>
            <a:cxnSpLocks/>
            <a:stCxn id="19" idx="4"/>
            <a:endCxn id="18" idx="0"/>
          </p:cNvCxnSpPr>
          <p:nvPr/>
        </p:nvCxnSpPr>
        <p:spPr>
          <a:xfrm flipH="1">
            <a:off x="9168938" y="1758427"/>
            <a:ext cx="140029" cy="4259321"/>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CDBAAEC5-C79B-AEF6-CA05-B2866CA29094}"/>
              </a:ext>
            </a:extLst>
          </p:cNvPr>
          <p:cNvCxnSpPr>
            <a:cxnSpLocks/>
            <a:stCxn id="20" idx="5"/>
            <a:endCxn id="33" idx="0"/>
          </p:cNvCxnSpPr>
          <p:nvPr/>
        </p:nvCxnSpPr>
        <p:spPr>
          <a:xfrm flipH="1">
            <a:off x="11130745" y="2706045"/>
            <a:ext cx="129581" cy="2413318"/>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94F92D6B-3229-1A82-309F-C867110AF480}"/>
              </a:ext>
            </a:extLst>
          </p:cNvPr>
          <p:cNvCxnSpPr>
            <a:cxnSpLocks/>
            <a:stCxn id="20" idx="4"/>
            <a:endCxn id="18" idx="7"/>
          </p:cNvCxnSpPr>
          <p:nvPr/>
        </p:nvCxnSpPr>
        <p:spPr>
          <a:xfrm flipH="1">
            <a:off x="9281897" y="2752678"/>
            <a:ext cx="1865470" cy="3311703"/>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50430143-68DA-D2A7-A8AD-607C6C682481}"/>
              </a:ext>
            </a:extLst>
          </p:cNvPr>
          <p:cNvCxnSpPr>
            <a:cxnSpLocks/>
            <a:stCxn id="33" idx="4"/>
            <a:endCxn id="18" idx="6"/>
          </p:cNvCxnSpPr>
          <p:nvPr/>
        </p:nvCxnSpPr>
        <p:spPr>
          <a:xfrm flipH="1">
            <a:off x="9328687" y="5437793"/>
            <a:ext cx="1802058" cy="739170"/>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55F26EDD-7244-3A9E-86C1-94D379173B8D}"/>
              </a:ext>
            </a:extLst>
          </p:cNvPr>
          <p:cNvCxnSpPr>
            <a:cxnSpLocks/>
            <a:stCxn id="17" idx="4"/>
            <a:endCxn id="18" idx="2"/>
          </p:cNvCxnSpPr>
          <p:nvPr/>
        </p:nvCxnSpPr>
        <p:spPr>
          <a:xfrm>
            <a:off x="6908841" y="4896193"/>
            <a:ext cx="2100347" cy="1280770"/>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0B42AD2E-6865-FCD9-8DF1-19A9C9991897}"/>
              </a:ext>
            </a:extLst>
          </p:cNvPr>
          <p:cNvCxnSpPr>
            <a:cxnSpLocks/>
            <a:stCxn id="17" idx="6"/>
            <a:endCxn id="20" idx="3"/>
          </p:cNvCxnSpPr>
          <p:nvPr/>
        </p:nvCxnSpPr>
        <p:spPr>
          <a:xfrm flipV="1">
            <a:off x="7068590" y="2706045"/>
            <a:ext cx="3965817" cy="2030933"/>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DE887633-4275-968A-84FA-C464443FF739}"/>
              </a:ext>
            </a:extLst>
          </p:cNvPr>
          <p:cNvCxnSpPr>
            <a:cxnSpLocks/>
            <a:stCxn id="17" idx="5"/>
            <a:endCxn id="33" idx="3"/>
          </p:cNvCxnSpPr>
          <p:nvPr/>
        </p:nvCxnSpPr>
        <p:spPr>
          <a:xfrm>
            <a:off x="7021800" y="4849560"/>
            <a:ext cx="3995985" cy="541600"/>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sp>
        <p:nvSpPr>
          <p:cNvPr id="21" name="Slide Number Placeholder 20">
            <a:extLst>
              <a:ext uri="{FF2B5EF4-FFF2-40B4-BE49-F238E27FC236}">
                <a16:creationId xmlns:a16="http://schemas.microsoft.com/office/drawing/2014/main" id="{BD3960DA-EAA5-680A-244B-882C16878FC9}"/>
              </a:ext>
            </a:extLst>
          </p:cNvPr>
          <p:cNvSpPr>
            <a:spLocks noGrp="1"/>
          </p:cNvSpPr>
          <p:nvPr>
            <p:ph type="sldNum" sz="quarter" idx="12"/>
          </p:nvPr>
        </p:nvSpPr>
        <p:spPr/>
        <p:txBody>
          <a:bodyPr/>
          <a:lstStyle/>
          <a:p>
            <a:fld id="{4544B810-10F2-2E49-94DF-FA7BE986B6B9}" type="slidenum">
              <a:rPr lang="en-US" smtClean="0"/>
              <a:t>26</a:t>
            </a:fld>
            <a:endParaRPr lang="en-US"/>
          </a:p>
        </p:txBody>
      </p:sp>
    </p:spTree>
    <p:extLst>
      <p:ext uri="{BB962C8B-B14F-4D97-AF65-F5344CB8AC3E}">
        <p14:creationId xmlns:p14="http://schemas.microsoft.com/office/powerpoint/2010/main" val="4120439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0049F-8EF6-6EFD-D587-E2BCC8040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F9033-B2D8-C7D9-E1D7-1057D842CD78}"/>
              </a:ext>
            </a:extLst>
          </p:cNvPr>
          <p:cNvSpPr>
            <a:spLocks noGrp="1"/>
          </p:cNvSpPr>
          <p:nvPr>
            <p:ph type="title"/>
          </p:nvPr>
        </p:nvSpPr>
        <p:spPr/>
        <p:txBody>
          <a:bodyPr/>
          <a:lstStyle/>
          <a:p>
            <a:r>
              <a:rPr lang="en-US" dirty="0"/>
              <a:t>SMART</a:t>
            </a:r>
            <a:r>
              <a:rPr lang="en-US" b="1" dirty="0"/>
              <a:t> Quantum</a:t>
            </a:r>
            <a:r>
              <a:rPr lang="en-US" dirty="0"/>
              <a:t> Ring all reduce </a:t>
            </a:r>
          </a:p>
        </p:txBody>
      </p:sp>
      <p:sp>
        <p:nvSpPr>
          <p:cNvPr id="9" name="Oval 8">
            <a:extLst>
              <a:ext uri="{FF2B5EF4-FFF2-40B4-BE49-F238E27FC236}">
                <a16:creationId xmlns:a16="http://schemas.microsoft.com/office/drawing/2014/main" id="{251C4310-8B74-61BB-B2CB-FDB113846BA3}"/>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20CF16F7-97FA-93E1-A2DD-807AC4CBECF9}"/>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84F8F5C2-DF4F-71A0-10DF-2D0C7D31A4EE}"/>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BE9B4A2-2574-5326-ED0F-AA65C232BD95}"/>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47605268-81C0-05CD-B2FC-DA8EE775D31C}"/>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E7ACA15D-4A40-6454-104E-538CCA04D25B}"/>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F90DBA27-F49F-8FA4-84B1-9C92AFD400A7}"/>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23990205-5A15-0804-A4AD-26ADBD123E7D}"/>
              </a:ext>
            </a:extLst>
          </p:cNvPr>
          <p:cNvSpPr>
            <a:spLocks noGrp="1"/>
          </p:cNvSpPr>
          <p:nvPr>
            <p:ph idx="1"/>
          </p:nvPr>
        </p:nvSpPr>
        <p:spPr>
          <a:xfrm>
            <a:off x="263544" y="1649732"/>
            <a:ext cx="6317531" cy="4527231"/>
          </a:xfrm>
        </p:spPr>
        <p:txBody>
          <a:bodyPr>
            <a:normAutofit/>
          </a:bodyPr>
          <a:lstStyle/>
          <a:p>
            <a:pPr marL="0" indent="0" algn="ctr">
              <a:buNone/>
            </a:pPr>
            <a:endParaRPr lang="en-GB" sz="2000" dirty="0"/>
          </a:p>
          <a:p>
            <a:pPr marL="514350" indent="-514350">
              <a:buFont typeface="+mj-lt"/>
              <a:buAutoNum type="arabicPeriod"/>
            </a:pPr>
            <a:r>
              <a:rPr lang="en-GB" sz="2000" dirty="0"/>
              <a:t>GHZ state shared (pre-processing during training) </a:t>
            </a:r>
          </a:p>
          <a:p>
            <a:pPr marL="514350" indent="-514350">
              <a:buFont typeface="+mj-lt"/>
              <a:buAutoNum type="arabicPeriod"/>
            </a:pPr>
            <a:r>
              <a:rPr lang="en-GB" sz="2000" dirty="0"/>
              <a:t>Each device writes its gradient into its own qubit as a local phase rotation</a:t>
            </a:r>
          </a:p>
          <a:p>
            <a:pPr marL="514350" indent="-514350">
              <a:buFont typeface="+mj-lt"/>
              <a:buAutoNum type="arabicPeriod"/>
            </a:pPr>
            <a:r>
              <a:rPr lang="en-GB" sz="2000" dirty="0"/>
              <a:t>Each device measures its qubit and broadcasts its 1-bit outcome</a:t>
            </a:r>
          </a:p>
          <a:p>
            <a:pPr marL="514350" indent="-514350">
              <a:buFont typeface="+mj-lt"/>
              <a:buAutoNum type="arabicPeriod"/>
            </a:pPr>
            <a:r>
              <a:rPr lang="en-GB" sz="2000" dirty="0"/>
              <a:t>Everyone XORs the broadcast bits to read off the aggregate</a:t>
            </a:r>
          </a:p>
          <a:p>
            <a:pPr marL="514350" indent="-514350">
              <a:buFont typeface="+mj-lt"/>
              <a:buAutoNum type="arabicPeriod"/>
            </a:pPr>
            <a:endParaRPr lang="en-GB" sz="2000" dirty="0"/>
          </a:p>
          <a:p>
            <a:pPr marL="0" indent="0">
              <a:buNone/>
            </a:pPr>
            <a:r>
              <a:rPr lang="en-GB" sz="2000" dirty="0"/>
              <a:t>SAME COMPLEXITY AS THE SUPERDENSE ENCODING</a:t>
            </a:r>
          </a:p>
        </p:txBody>
      </p:sp>
      <p:pic>
        <p:nvPicPr>
          <p:cNvPr id="3" name="Picture 2" descr="Nerd Face Emoji Clever Emoticon With Glasses Geek Or Student Stock  Illustration - Download Image Now - iStock">
            <a:extLst>
              <a:ext uri="{FF2B5EF4-FFF2-40B4-BE49-F238E27FC236}">
                <a16:creationId xmlns:a16="http://schemas.microsoft.com/office/drawing/2014/main" id="{D1779AD4-6A57-D7D9-CBF5-73E4F7C30C2E}"/>
              </a:ext>
            </a:extLst>
          </p:cNvPr>
          <p:cNvPicPr>
            <a:picLocks noChangeAspect="1"/>
          </p:cNvPicPr>
          <p:nvPr/>
        </p:nvPicPr>
        <p:blipFill>
          <a:blip r:embed="rId3"/>
          <a:stretch/>
        </p:blipFill>
        <p:spPr>
          <a:xfrm>
            <a:off x="0" y="-77600"/>
            <a:ext cx="1105506" cy="1105506"/>
          </a:xfrm>
          <a:prstGeom prst="rect">
            <a:avLst/>
          </a:prstGeom>
        </p:spPr>
      </p:pic>
      <p:pic>
        <p:nvPicPr>
          <p:cNvPr id="15" name="Picture 14">
            <a:extLst>
              <a:ext uri="{FF2B5EF4-FFF2-40B4-BE49-F238E27FC236}">
                <a16:creationId xmlns:a16="http://schemas.microsoft.com/office/drawing/2014/main" id="{8751440D-5698-2079-EE5A-5BC78A38E541}"/>
              </a:ext>
            </a:extLst>
          </p:cNvPr>
          <p:cNvPicPr>
            <a:picLocks noChangeAspect="1"/>
          </p:cNvPicPr>
          <p:nvPr/>
        </p:nvPicPr>
        <p:blipFill>
          <a:blip r:embed="rId4"/>
          <a:srcRect t="6142"/>
          <a:stretch>
            <a:fillRect/>
          </a:stretch>
        </p:blipFill>
        <p:spPr>
          <a:xfrm>
            <a:off x="7588429" y="3486408"/>
            <a:ext cx="3441076" cy="764771"/>
          </a:xfrm>
          <a:prstGeom prst="rect">
            <a:avLst/>
          </a:prstGeom>
        </p:spPr>
      </p:pic>
      <p:sp>
        <p:nvSpPr>
          <p:cNvPr id="16" name="Oval 15">
            <a:extLst>
              <a:ext uri="{FF2B5EF4-FFF2-40B4-BE49-F238E27FC236}">
                <a16:creationId xmlns:a16="http://schemas.microsoft.com/office/drawing/2014/main" id="{F48CE54A-7078-D40C-952C-D9C857D62A22}"/>
              </a:ext>
            </a:extLst>
          </p:cNvPr>
          <p:cNvSpPr/>
          <p:nvPr/>
        </p:nvSpPr>
        <p:spPr>
          <a:xfrm>
            <a:off x="7288302" y="2166926"/>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1D73424-E0D6-746A-F8BF-B88BEE4E4BAC}"/>
              </a:ext>
            </a:extLst>
          </p:cNvPr>
          <p:cNvSpPr/>
          <p:nvPr/>
        </p:nvSpPr>
        <p:spPr>
          <a:xfrm>
            <a:off x="6749091" y="4577763"/>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15ECF8E-DE72-DF6E-948C-F3B333EB6504}"/>
              </a:ext>
            </a:extLst>
          </p:cNvPr>
          <p:cNvSpPr/>
          <p:nvPr/>
        </p:nvSpPr>
        <p:spPr>
          <a:xfrm>
            <a:off x="9009188" y="6017748"/>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237652E-D4D5-60ED-B03B-08C83258E76D}"/>
              </a:ext>
            </a:extLst>
          </p:cNvPr>
          <p:cNvSpPr/>
          <p:nvPr/>
        </p:nvSpPr>
        <p:spPr>
          <a:xfrm>
            <a:off x="9149217" y="1439997"/>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A45E69F-2450-BFFC-D9F2-3056DE4442BC}"/>
              </a:ext>
            </a:extLst>
          </p:cNvPr>
          <p:cNvSpPr/>
          <p:nvPr/>
        </p:nvSpPr>
        <p:spPr>
          <a:xfrm>
            <a:off x="10987617" y="2434248"/>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7D86E50-B075-EA43-FE2C-87E614C4179C}"/>
              </a:ext>
            </a:extLst>
          </p:cNvPr>
          <p:cNvSpPr/>
          <p:nvPr/>
        </p:nvSpPr>
        <p:spPr>
          <a:xfrm>
            <a:off x="10970995" y="5119363"/>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EB1E240-2E88-F1A3-AB68-540D7AA681CD}"/>
              </a:ext>
            </a:extLst>
          </p:cNvPr>
          <p:cNvCxnSpPr>
            <a:cxnSpLocks/>
            <a:stCxn id="16" idx="4"/>
            <a:endCxn id="17" idx="0"/>
          </p:cNvCxnSpPr>
          <p:nvPr/>
        </p:nvCxnSpPr>
        <p:spPr>
          <a:xfrm flipH="1">
            <a:off x="6908841" y="2485356"/>
            <a:ext cx="539211" cy="2092407"/>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D20D961-13B1-8B4A-6535-95E118AED613}"/>
              </a:ext>
            </a:extLst>
          </p:cNvPr>
          <p:cNvCxnSpPr>
            <a:cxnSpLocks/>
            <a:stCxn id="16" idx="5"/>
            <a:endCxn id="18" idx="1"/>
          </p:cNvCxnSpPr>
          <p:nvPr/>
        </p:nvCxnSpPr>
        <p:spPr>
          <a:xfrm>
            <a:off x="7561011" y="2438723"/>
            <a:ext cx="1494967" cy="3625658"/>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8B8C8372-4462-0E9A-8DFC-B71FE7AB343E}"/>
              </a:ext>
            </a:extLst>
          </p:cNvPr>
          <p:cNvCxnSpPr>
            <a:cxnSpLocks/>
            <a:stCxn id="16" idx="6"/>
            <a:endCxn id="33" idx="2"/>
          </p:cNvCxnSpPr>
          <p:nvPr/>
        </p:nvCxnSpPr>
        <p:spPr>
          <a:xfrm>
            <a:off x="7607801" y="2326141"/>
            <a:ext cx="3363194" cy="2952437"/>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6AAC769C-BBF9-B080-B74C-46750FAC4ABB}"/>
              </a:ext>
            </a:extLst>
          </p:cNvPr>
          <p:cNvCxnSpPr>
            <a:cxnSpLocks/>
            <a:stCxn id="16" idx="0"/>
            <a:endCxn id="19" idx="2"/>
          </p:cNvCxnSpPr>
          <p:nvPr/>
        </p:nvCxnSpPr>
        <p:spPr>
          <a:xfrm flipV="1">
            <a:off x="7448052" y="1599212"/>
            <a:ext cx="1701165" cy="567714"/>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1BFDFA20-3221-DC6C-1C35-87974A6F0923}"/>
              </a:ext>
            </a:extLst>
          </p:cNvPr>
          <p:cNvCxnSpPr>
            <a:cxnSpLocks/>
            <a:stCxn id="16" idx="7"/>
            <a:endCxn id="20" idx="2"/>
          </p:cNvCxnSpPr>
          <p:nvPr/>
        </p:nvCxnSpPr>
        <p:spPr>
          <a:xfrm>
            <a:off x="7561011" y="2213559"/>
            <a:ext cx="3426606" cy="379904"/>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3A434E45-50DE-33A2-E25C-8FB6171E71D5}"/>
              </a:ext>
            </a:extLst>
          </p:cNvPr>
          <p:cNvCxnSpPr>
            <a:cxnSpLocks/>
            <a:stCxn id="19" idx="6"/>
            <a:endCxn id="20" idx="1"/>
          </p:cNvCxnSpPr>
          <p:nvPr/>
        </p:nvCxnSpPr>
        <p:spPr>
          <a:xfrm>
            <a:off x="9468716" y="1599212"/>
            <a:ext cx="1565691" cy="881669"/>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BE710063-1E23-08A3-79BC-613B82715562}"/>
              </a:ext>
            </a:extLst>
          </p:cNvPr>
          <p:cNvCxnSpPr>
            <a:cxnSpLocks/>
            <a:stCxn id="19" idx="5"/>
            <a:endCxn id="33" idx="1"/>
          </p:cNvCxnSpPr>
          <p:nvPr/>
        </p:nvCxnSpPr>
        <p:spPr>
          <a:xfrm>
            <a:off x="9421926" y="1711794"/>
            <a:ext cx="1595859" cy="3454202"/>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FABF2759-1591-E658-0133-341DC55727DD}"/>
              </a:ext>
            </a:extLst>
          </p:cNvPr>
          <p:cNvCxnSpPr>
            <a:cxnSpLocks/>
            <a:stCxn id="19" idx="3"/>
            <a:endCxn id="17" idx="7"/>
          </p:cNvCxnSpPr>
          <p:nvPr/>
        </p:nvCxnSpPr>
        <p:spPr>
          <a:xfrm flipH="1">
            <a:off x="7021800" y="1711794"/>
            <a:ext cx="2174207" cy="2912602"/>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10AC0CC3-49C9-A5EE-D576-7593731F31FD}"/>
              </a:ext>
            </a:extLst>
          </p:cNvPr>
          <p:cNvCxnSpPr>
            <a:cxnSpLocks/>
            <a:stCxn id="19" idx="4"/>
            <a:endCxn id="18" idx="0"/>
          </p:cNvCxnSpPr>
          <p:nvPr/>
        </p:nvCxnSpPr>
        <p:spPr>
          <a:xfrm flipH="1">
            <a:off x="9168938" y="1758427"/>
            <a:ext cx="140029" cy="4259321"/>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D72CFDF2-F0CD-AEF4-E439-308B15A47276}"/>
              </a:ext>
            </a:extLst>
          </p:cNvPr>
          <p:cNvCxnSpPr>
            <a:cxnSpLocks/>
            <a:stCxn id="20" idx="5"/>
            <a:endCxn id="33" idx="0"/>
          </p:cNvCxnSpPr>
          <p:nvPr/>
        </p:nvCxnSpPr>
        <p:spPr>
          <a:xfrm flipH="1">
            <a:off x="11130745" y="2706045"/>
            <a:ext cx="129581" cy="2413318"/>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044171A0-FE1F-C9F4-9AF8-174267E4D2FB}"/>
              </a:ext>
            </a:extLst>
          </p:cNvPr>
          <p:cNvCxnSpPr>
            <a:cxnSpLocks/>
            <a:stCxn id="20" idx="4"/>
            <a:endCxn id="18" idx="7"/>
          </p:cNvCxnSpPr>
          <p:nvPr/>
        </p:nvCxnSpPr>
        <p:spPr>
          <a:xfrm flipH="1">
            <a:off x="9281897" y="2752678"/>
            <a:ext cx="1865470" cy="3311703"/>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D88DBA30-C2AD-61F1-3254-5FE3225DA41C}"/>
              </a:ext>
            </a:extLst>
          </p:cNvPr>
          <p:cNvCxnSpPr>
            <a:cxnSpLocks/>
            <a:stCxn id="33" idx="4"/>
            <a:endCxn id="18" idx="6"/>
          </p:cNvCxnSpPr>
          <p:nvPr/>
        </p:nvCxnSpPr>
        <p:spPr>
          <a:xfrm flipH="1">
            <a:off x="9328687" y="5437793"/>
            <a:ext cx="1802058" cy="739170"/>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9A9DE74D-C545-F8ED-72DF-D63960B06FC6}"/>
              </a:ext>
            </a:extLst>
          </p:cNvPr>
          <p:cNvCxnSpPr>
            <a:cxnSpLocks/>
            <a:stCxn id="17" idx="4"/>
            <a:endCxn id="18" idx="2"/>
          </p:cNvCxnSpPr>
          <p:nvPr/>
        </p:nvCxnSpPr>
        <p:spPr>
          <a:xfrm>
            <a:off x="6908841" y="4896193"/>
            <a:ext cx="2100347" cy="1280770"/>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42D8AA12-E518-DABB-A763-3B16A14F70FB}"/>
              </a:ext>
            </a:extLst>
          </p:cNvPr>
          <p:cNvCxnSpPr>
            <a:cxnSpLocks/>
            <a:stCxn id="17" idx="6"/>
            <a:endCxn id="20" idx="3"/>
          </p:cNvCxnSpPr>
          <p:nvPr/>
        </p:nvCxnSpPr>
        <p:spPr>
          <a:xfrm flipV="1">
            <a:off x="7068590" y="2706045"/>
            <a:ext cx="3965817" cy="2030933"/>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58E199BF-5789-C998-6F9E-572CB91E7FBA}"/>
              </a:ext>
            </a:extLst>
          </p:cNvPr>
          <p:cNvCxnSpPr>
            <a:cxnSpLocks/>
            <a:stCxn id="17" idx="5"/>
            <a:endCxn id="33" idx="3"/>
          </p:cNvCxnSpPr>
          <p:nvPr/>
        </p:nvCxnSpPr>
        <p:spPr>
          <a:xfrm>
            <a:off x="7021800" y="4849560"/>
            <a:ext cx="3995985" cy="541600"/>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936B8BA0-D70E-A398-E0C5-3AB05C3AF3DE}"/>
              </a:ext>
            </a:extLst>
          </p:cNvPr>
          <p:cNvSpPr>
            <a:spLocks noGrp="1"/>
          </p:cNvSpPr>
          <p:nvPr>
            <p:ph type="sldNum" sz="quarter" idx="12"/>
          </p:nvPr>
        </p:nvSpPr>
        <p:spPr/>
        <p:txBody>
          <a:bodyPr/>
          <a:lstStyle/>
          <a:p>
            <a:fld id="{4544B810-10F2-2E49-94DF-FA7BE986B6B9}" type="slidenum">
              <a:rPr lang="en-US" smtClean="0"/>
              <a:t>27</a:t>
            </a:fld>
            <a:endParaRPr lang="en-US"/>
          </a:p>
        </p:txBody>
      </p:sp>
    </p:spTree>
    <p:extLst>
      <p:ext uri="{BB962C8B-B14F-4D97-AF65-F5344CB8AC3E}">
        <p14:creationId xmlns:p14="http://schemas.microsoft.com/office/powerpoint/2010/main" val="3868001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E4626-ED4D-3450-7BD0-BAD1E6C74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3F1F05-B1D3-C1BF-7E15-4E96F201CCD2}"/>
              </a:ext>
            </a:extLst>
          </p:cNvPr>
          <p:cNvSpPr>
            <a:spLocks noGrp="1"/>
          </p:cNvSpPr>
          <p:nvPr>
            <p:ph type="title"/>
          </p:nvPr>
        </p:nvSpPr>
        <p:spPr/>
        <p:txBody>
          <a:bodyPr/>
          <a:lstStyle/>
          <a:p>
            <a:r>
              <a:rPr lang="en-US" dirty="0"/>
              <a:t>SMART</a:t>
            </a:r>
            <a:r>
              <a:rPr lang="en-US" b="1" dirty="0"/>
              <a:t> Quantum</a:t>
            </a:r>
            <a:r>
              <a:rPr lang="en-US" dirty="0"/>
              <a:t> Ring all reduce </a:t>
            </a:r>
          </a:p>
        </p:txBody>
      </p:sp>
      <p:sp>
        <p:nvSpPr>
          <p:cNvPr id="9" name="Oval 8">
            <a:extLst>
              <a:ext uri="{FF2B5EF4-FFF2-40B4-BE49-F238E27FC236}">
                <a16:creationId xmlns:a16="http://schemas.microsoft.com/office/drawing/2014/main" id="{A1E1F36F-8921-2B0C-9ABE-9D456059D589}"/>
              </a:ext>
            </a:extLst>
          </p:cNvPr>
          <p:cNvSpPr/>
          <p:nvPr/>
        </p:nvSpPr>
        <p:spPr>
          <a:xfrm>
            <a:off x="6783186" y="1619078"/>
            <a:ext cx="4771505" cy="452723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E5A814C-8FF5-4D4F-7F7B-AA4F70ADDCE0}"/>
              </a:ext>
            </a:extLst>
          </p:cNvPr>
          <p:cNvSpPr/>
          <p:nvPr/>
        </p:nvSpPr>
        <p:spPr>
          <a:xfrm>
            <a:off x="8761614" y="576392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CFB7FBE0-4281-D012-11BA-A3EB02CEF6C4}"/>
              </a:ext>
            </a:extLst>
          </p:cNvPr>
          <p:cNvSpPr/>
          <p:nvPr/>
        </p:nvSpPr>
        <p:spPr>
          <a:xfrm>
            <a:off x="6519950" y="4330931"/>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3FC0F82C-850A-5280-B6BB-ACE549C720E2}"/>
              </a:ext>
            </a:extLst>
          </p:cNvPr>
          <p:cNvSpPr/>
          <p:nvPr/>
        </p:nvSpPr>
        <p:spPr>
          <a:xfrm>
            <a:off x="7068590" y="1923444"/>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2B8B0AB6-7733-E63B-14D2-ECC5E49A8BF1}"/>
              </a:ext>
            </a:extLst>
          </p:cNvPr>
          <p:cNvSpPr/>
          <p:nvPr/>
        </p:nvSpPr>
        <p:spPr>
          <a:xfrm>
            <a:off x="10723421" y="48961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AD58CA7A-7434-832B-AFBC-6B102E06EF16}"/>
              </a:ext>
            </a:extLst>
          </p:cNvPr>
          <p:cNvSpPr/>
          <p:nvPr/>
        </p:nvSpPr>
        <p:spPr>
          <a:xfrm>
            <a:off x="10740043" y="2179870"/>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D303BFDC-BC39-06EB-0730-DC443EBA8356}"/>
              </a:ext>
            </a:extLst>
          </p:cNvPr>
          <p:cNvSpPr/>
          <p:nvPr/>
        </p:nvSpPr>
        <p:spPr>
          <a:xfrm>
            <a:off x="8904316" y="1236693"/>
            <a:ext cx="814648" cy="764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54EE41A2-25F1-0B26-3C1B-D9A57CE371BB}"/>
              </a:ext>
            </a:extLst>
          </p:cNvPr>
          <p:cNvSpPr>
            <a:spLocks noGrp="1"/>
          </p:cNvSpPr>
          <p:nvPr>
            <p:ph idx="1"/>
          </p:nvPr>
        </p:nvSpPr>
        <p:spPr>
          <a:xfrm>
            <a:off x="263544" y="1649732"/>
            <a:ext cx="6317531" cy="4527231"/>
          </a:xfrm>
        </p:spPr>
        <p:txBody>
          <a:bodyPr>
            <a:normAutofit/>
          </a:bodyPr>
          <a:lstStyle/>
          <a:p>
            <a:pPr marL="0" indent="0" algn="ctr">
              <a:buNone/>
            </a:pPr>
            <a:endParaRPr lang="en-GB" sz="2000" dirty="0"/>
          </a:p>
          <a:p>
            <a:pPr marL="514350" indent="-514350">
              <a:buFont typeface="+mj-lt"/>
              <a:buAutoNum type="arabicPeriod"/>
            </a:pPr>
            <a:r>
              <a:rPr lang="en-GB" sz="2000" dirty="0"/>
              <a:t>GHZ state shared (pre-processing during training) </a:t>
            </a:r>
          </a:p>
          <a:p>
            <a:pPr marL="514350" indent="-514350">
              <a:buFont typeface="+mj-lt"/>
              <a:buAutoNum type="arabicPeriod"/>
            </a:pPr>
            <a:r>
              <a:rPr lang="en-GB" sz="2000" dirty="0"/>
              <a:t>Each device writes its gradient into its own qubit as a local phase rotation</a:t>
            </a:r>
          </a:p>
          <a:p>
            <a:pPr marL="514350" indent="-514350">
              <a:buFont typeface="+mj-lt"/>
              <a:buAutoNum type="arabicPeriod"/>
            </a:pPr>
            <a:r>
              <a:rPr lang="en-GB" sz="2000" dirty="0"/>
              <a:t>Each device measures its qubit and broadcasts its 1-bit outcome</a:t>
            </a:r>
          </a:p>
          <a:p>
            <a:pPr marL="514350" indent="-514350">
              <a:buFont typeface="+mj-lt"/>
              <a:buAutoNum type="arabicPeriod"/>
            </a:pPr>
            <a:r>
              <a:rPr lang="en-GB" sz="2000" dirty="0"/>
              <a:t>Everyone XORs the broadcast bits to read off the aggregate</a:t>
            </a:r>
          </a:p>
          <a:p>
            <a:pPr marL="514350" indent="-514350">
              <a:buFont typeface="+mj-lt"/>
              <a:buAutoNum type="arabicPeriod"/>
            </a:pPr>
            <a:endParaRPr lang="en-GB" sz="2000" dirty="0"/>
          </a:p>
          <a:p>
            <a:pPr marL="0" indent="0">
              <a:buNone/>
            </a:pPr>
            <a:r>
              <a:rPr lang="en-GB" sz="2000" dirty="0"/>
              <a:t>SAME COMPLEXITY AS THE SUPERDENSE ENCODING</a:t>
            </a:r>
          </a:p>
        </p:txBody>
      </p:sp>
      <p:pic>
        <p:nvPicPr>
          <p:cNvPr id="3" name="Picture 2" descr="Nerd Face Emoji Clever Emoticon With Glasses Geek Or Student Stock  Illustration - Download Image Now - iStock">
            <a:extLst>
              <a:ext uri="{FF2B5EF4-FFF2-40B4-BE49-F238E27FC236}">
                <a16:creationId xmlns:a16="http://schemas.microsoft.com/office/drawing/2014/main" id="{4442E304-8EE6-009F-CA0E-A4A5CEE67070}"/>
              </a:ext>
            </a:extLst>
          </p:cNvPr>
          <p:cNvPicPr>
            <a:picLocks noChangeAspect="1"/>
          </p:cNvPicPr>
          <p:nvPr/>
        </p:nvPicPr>
        <p:blipFill>
          <a:blip r:embed="rId3"/>
          <a:stretch/>
        </p:blipFill>
        <p:spPr>
          <a:xfrm>
            <a:off x="0" y="-77600"/>
            <a:ext cx="1105506" cy="1105506"/>
          </a:xfrm>
          <a:prstGeom prst="rect">
            <a:avLst/>
          </a:prstGeom>
        </p:spPr>
      </p:pic>
      <p:pic>
        <p:nvPicPr>
          <p:cNvPr id="15" name="Picture 14">
            <a:extLst>
              <a:ext uri="{FF2B5EF4-FFF2-40B4-BE49-F238E27FC236}">
                <a16:creationId xmlns:a16="http://schemas.microsoft.com/office/drawing/2014/main" id="{ED58E061-06DE-471C-7B81-E776E4F99E83}"/>
              </a:ext>
            </a:extLst>
          </p:cNvPr>
          <p:cNvPicPr>
            <a:picLocks noChangeAspect="1"/>
          </p:cNvPicPr>
          <p:nvPr/>
        </p:nvPicPr>
        <p:blipFill>
          <a:blip r:embed="rId4"/>
          <a:srcRect t="6142"/>
          <a:stretch>
            <a:fillRect/>
          </a:stretch>
        </p:blipFill>
        <p:spPr>
          <a:xfrm>
            <a:off x="7588429" y="3486408"/>
            <a:ext cx="3441076" cy="764771"/>
          </a:xfrm>
          <a:prstGeom prst="rect">
            <a:avLst/>
          </a:prstGeom>
        </p:spPr>
      </p:pic>
      <p:sp>
        <p:nvSpPr>
          <p:cNvPr id="16" name="Oval 15">
            <a:extLst>
              <a:ext uri="{FF2B5EF4-FFF2-40B4-BE49-F238E27FC236}">
                <a16:creationId xmlns:a16="http://schemas.microsoft.com/office/drawing/2014/main" id="{CDAB1F25-3BA7-135E-7D79-BBE913FC6FCC}"/>
              </a:ext>
            </a:extLst>
          </p:cNvPr>
          <p:cNvSpPr/>
          <p:nvPr/>
        </p:nvSpPr>
        <p:spPr>
          <a:xfrm>
            <a:off x="7288302" y="2166926"/>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05C34D5-3344-8EDB-41DB-4671B5171774}"/>
              </a:ext>
            </a:extLst>
          </p:cNvPr>
          <p:cNvSpPr/>
          <p:nvPr/>
        </p:nvSpPr>
        <p:spPr>
          <a:xfrm>
            <a:off x="6749091" y="4577763"/>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FA5A08D-9696-A8F1-F91B-308BC2EC5448}"/>
              </a:ext>
            </a:extLst>
          </p:cNvPr>
          <p:cNvSpPr/>
          <p:nvPr/>
        </p:nvSpPr>
        <p:spPr>
          <a:xfrm>
            <a:off x="9009188" y="6017748"/>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FF3261E-9594-9AF7-F2E8-3BDBCF2BF420}"/>
              </a:ext>
            </a:extLst>
          </p:cNvPr>
          <p:cNvSpPr/>
          <p:nvPr/>
        </p:nvSpPr>
        <p:spPr>
          <a:xfrm>
            <a:off x="9149217" y="1439997"/>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5254EBE-FD3E-C9FB-91D9-7270C598CB00}"/>
              </a:ext>
            </a:extLst>
          </p:cNvPr>
          <p:cNvSpPr/>
          <p:nvPr/>
        </p:nvSpPr>
        <p:spPr>
          <a:xfrm>
            <a:off x="10987617" y="2434248"/>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65D3CAD-1E47-6430-D988-330EBA7BEA01}"/>
              </a:ext>
            </a:extLst>
          </p:cNvPr>
          <p:cNvSpPr/>
          <p:nvPr/>
        </p:nvSpPr>
        <p:spPr>
          <a:xfrm>
            <a:off x="10970995" y="5119363"/>
            <a:ext cx="319499" cy="31843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D5583FB-E8F5-F1B6-F6B4-17AB769D76C5}"/>
              </a:ext>
            </a:extLst>
          </p:cNvPr>
          <p:cNvCxnSpPr>
            <a:cxnSpLocks/>
            <a:stCxn id="16" idx="4"/>
            <a:endCxn id="17" idx="0"/>
          </p:cNvCxnSpPr>
          <p:nvPr/>
        </p:nvCxnSpPr>
        <p:spPr>
          <a:xfrm flipH="1">
            <a:off x="6908841" y="2485356"/>
            <a:ext cx="539211" cy="2092407"/>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5ED13D2-34BB-AA17-2042-394BE45398A4}"/>
              </a:ext>
            </a:extLst>
          </p:cNvPr>
          <p:cNvCxnSpPr>
            <a:cxnSpLocks/>
            <a:stCxn id="16" idx="5"/>
            <a:endCxn id="18" idx="1"/>
          </p:cNvCxnSpPr>
          <p:nvPr/>
        </p:nvCxnSpPr>
        <p:spPr>
          <a:xfrm>
            <a:off x="7561011" y="2438723"/>
            <a:ext cx="1494967" cy="3625658"/>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9A6F9B74-402D-55AC-FFD3-FE5D8EFC1D97}"/>
              </a:ext>
            </a:extLst>
          </p:cNvPr>
          <p:cNvCxnSpPr>
            <a:cxnSpLocks/>
            <a:stCxn id="16" idx="6"/>
            <a:endCxn id="33" idx="2"/>
          </p:cNvCxnSpPr>
          <p:nvPr/>
        </p:nvCxnSpPr>
        <p:spPr>
          <a:xfrm>
            <a:off x="7607801" y="2326141"/>
            <a:ext cx="3363194" cy="2952437"/>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4EECC3E5-2C05-6C41-4A8D-83273724D6DC}"/>
              </a:ext>
            </a:extLst>
          </p:cNvPr>
          <p:cNvCxnSpPr>
            <a:cxnSpLocks/>
            <a:stCxn id="16" idx="0"/>
            <a:endCxn id="19" idx="2"/>
          </p:cNvCxnSpPr>
          <p:nvPr/>
        </p:nvCxnSpPr>
        <p:spPr>
          <a:xfrm flipV="1">
            <a:off x="7448052" y="1599212"/>
            <a:ext cx="1701165" cy="567714"/>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375AD733-BC70-BA19-2E94-3C9299FDE1EA}"/>
              </a:ext>
            </a:extLst>
          </p:cNvPr>
          <p:cNvCxnSpPr>
            <a:cxnSpLocks/>
            <a:stCxn id="16" idx="7"/>
            <a:endCxn id="20" idx="2"/>
          </p:cNvCxnSpPr>
          <p:nvPr/>
        </p:nvCxnSpPr>
        <p:spPr>
          <a:xfrm>
            <a:off x="7561011" y="2213559"/>
            <a:ext cx="3426606" cy="379904"/>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E71375C8-2432-92CC-DA78-7E20EAFB042D}"/>
              </a:ext>
            </a:extLst>
          </p:cNvPr>
          <p:cNvCxnSpPr>
            <a:cxnSpLocks/>
            <a:stCxn id="19" idx="6"/>
            <a:endCxn id="20" idx="1"/>
          </p:cNvCxnSpPr>
          <p:nvPr/>
        </p:nvCxnSpPr>
        <p:spPr>
          <a:xfrm>
            <a:off x="9468716" y="1599212"/>
            <a:ext cx="1565691" cy="881669"/>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F9F73CB-473E-95E3-CF78-2372A2170879}"/>
              </a:ext>
            </a:extLst>
          </p:cNvPr>
          <p:cNvCxnSpPr>
            <a:cxnSpLocks/>
            <a:stCxn id="19" idx="5"/>
            <a:endCxn id="33" idx="1"/>
          </p:cNvCxnSpPr>
          <p:nvPr/>
        </p:nvCxnSpPr>
        <p:spPr>
          <a:xfrm>
            <a:off x="9421926" y="1711794"/>
            <a:ext cx="1595859" cy="3454202"/>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6C6D1A2B-9CF2-B92E-3469-BE3418FB0A9A}"/>
              </a:ext>
            </a:extLst>
          </p:cNvPr>
          <p:cNvCxnSpPr>
            <a:cxnSpLocks/>
            <a:stCxn id="19" idx="3"/>
            <a:endCxn id="17" idx="7"/>
          </p:cNvCxnSpPr>
          <p:nvPr/>
        </p:nvCxnSpPr>
        <p:spPr>
          <a:xfrm flipH="1">
            <a:off x="7021800" y="1711794"/>
            <a:ext cx="2174207" cy="2912602"/>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3F7335AB-52B0-3617-2BF7-A62A41570C27}"/>
              </a:ext>
            </a:extLst>
          </p:cNvPr>
          <p:cNvCxnSpPr>
            <a:cxnSpLocks/>
            <a:stCxn id="19" idx="4"/>
            <a:endCxn id="18" idx="0"/>
          </p:cNvCxnSpPr>
          <p:nvPr/>
        </p:nvCxnSpPr>
        <p:spPr>
          <a:xfrm flipH="1">
            <a:off x="9168938" y="1758427"/>
            <a:ext cx="140029" cy="4259321"/>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3B992913-8903-4997-C0F5-E7922DC9A2EC}"/>
              </a:ext>
            </a:extLst>
          </p:cNvPr>
          <p:cNvCxnSpPr>
            <a:cxnSpLocks/>
            <a:stCxn id="20" idx="5"/>
            <a:endCxn id="33" idx="0"/>
          </p:cNvCxnSpPr>
          <p:nvPr/>
        </p:nvCxnSpPr>
        <p:spPr>
          <a:xfrm flipH="1">
            <a:off x="11130745" y="2706045"/>
            <a:ext cx="129581" cy="2413318"/>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0737E8B7-0FDD-47FC-134F-8ABC90C9A2C8}"/>
              </a:ext>
            </a:extLst>
          </p:cNvPr>
          <p:cNvCxnSpPr>
            <a:cxnSpLocks/>
            <a:stCxn id="20" idx="4"/>
            <a:endCxn id="18" idx="7"/>
          </p:cNvCxnSpPr>
          <p:nvPr/>
        </p:nvCxnSpPr>
        <p:spPr>
          <a:xfrm flipH="1">
            <a:off x="9281897" y="2752678"/>
            <a:ext cx="1865470" cy="3311703"/>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FF920BB3-B905-E869-A8E2-AAD524512CD8}"/>
              </a:ext>
            </a:extLst>
          </p:cNvPr>
          <p:cNvCxnSpPr>
            <a:cxnSpLocks/>
            <a:stCxn id="33" idx="4"/>
            <a:endCxn id="18" idx="6"/>
          </p:cNvCxnSpPr>
          <p:nvPr/>
        </p:nvCxnSpPr>
        <p:spPr>
          <a:xfrm flipH="1">
            <a:off x="9328687" y="5437793"/>
            <a:ext cx="1802058" cy="739170"/>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F0399654-7218-1E36-2C99-301A1FD31BCC}"/>
              </a:ext>
            </a:extLst>
          </p:cNvPr>
          <p:cNvCxnSpPr>
            <a:cxnSpLocks/>
            <a:stCxn id="17" idx="4"/>
            <a:endCxn id="18" idx="2"/>
          </p:cNvCxnSpPr>
          <p:nvPr/>
        </p:nvCxnSpPr>
        <p:spPr>
          <a:xfrm>
            <a:off x="6908841" y="4896193"/>
            <a:ext cx="2100347" cy="1280770"/>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4BF1905B-A435-1BC4-49AC-1997E12D1DD8}"/>
              </a:ext>
            </a:extLst>
          </p:cNvPr>
          <p:cNvCxnSpPr>
            <a:cxnSpLocks/>
            <a:stCxn id="17" idx="6"/>
            <a:endCxn id="20" idx="3"/>
          </p:cNvCxnSpPr>
          <p:nvPr/>
        </p:nvCxnSpPr>
        <p:spPr>
          <a:xfrm flipV="1">
            <a:off x="7068590" y="2706045"/>
            <a:ext cx="3965817" cy="2030933"/>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4AFA3752-DCDE-64E0-C8EC-164168FE56ED}"/>
              </a:ext>
            </a:extLst>
          </p:cNvPr>
          <p:cNvCxnSpPr>
            <a:cxnSpLocks/>
            <a:stCxn id="17" idx="5"/>
            <a:endCxn id="33" idx="3"/>
          </p:cNvCxnSpPr>
          <p:nvPr/>
        </p:nvCxnSpPr>
        <p:spPr>
          <a:xfrm>
            <a:off x="7021800" y="4849560"/>
            <a:ext cx="3995985" cy="541600"/>
          </a:xfrm>
          <a:prstGeom prst="line">
            <a:avLst/>
          </a:prstGeom>
          <a:ln w="57150">
            <a:solidFill>
              <a:srgbClr val="00B0F0">
                <a:alpha val="34118"/>
              </a:srgbClr>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5D0A1851-E527-CA62-67A4-4A97C3B2B90A}"/>
              </a:ext>
            </a:extLst>
          </p:cNvPr>
          <p:cNvPicPr>
            <a:picLocks noChangeAspect="1"/>
          </p:cNvPicPr>
          <p:nvPr/>
        </p:nvPicPr>
        <p:blipFill>
          <a:blip r:embed="rId5"/>
          <a:stretch/>
        </p:blipFill>
        <p:spPr>
          <a:xfrm>
            <a:off x="0" y="93814"/>
            <a:ext cx="7772400" cy="4239490"/>
          </a:xfrm>
          <a:prstGeom prst="rect">
            <a:avLst/>
          </a:prstGeom>
        </p:spPr>
      </p:pic>
      <p:sp>
        <p:nvSpPr>
          <p:cNvPr id="23" name="TextBox 22">
            <a:extLst>
              <a:ext uri="{FF2B5EF4-FFF2-40B4-BE49-F238E27FC236}">
                <a16:creationId xmlns:a16="http://schemas.microsoft.com/office/drawing/2014/main" id="{4DA43DEF-1B47-69A8-CDB8-EDDEEB84A445}"/>
              </a:ext>
            </a:extLst>
          </p:cNvPr>
          <p:cNvSpPr txBox="1"/>
          <p:nvPr/>
        </p:nvSpPr>
        <p:spPr>
          <a:xfrm>
            <a:off x="3048000" y="3204920"/>
            <a:ext cx="6096000" cy="369332"/>
          </a:xfrm>
          <a:prstGeom prst="rect">
            <a:avLst/>
          </a:prstGeom>
          <a:noFill/>
        </p:spPr>
        <p:txBody>
          <a:bodyPr wrap="square">
            <a:spAutoFit/>
          </a:bodyPr>
          <a:lstStyle/>
          <a:p>
            <a:endParaRPr lang="en-US" dirty="0"/>
          </a:p>
        </p:txBody>
      </p:sp>
      <p:pic>
        <p:nvPicPr>
          <p:cNvPr id="25" name="Picture 24">
            <a:extLst>
              <a:ext uri="{FF2B5EF4-FFF2-40B4-BE49-F238E27FC236}">
                <a16:creationId xmlns:a16="http://schemas.microsoft.com/office/drawing/2014/main" id="{1CAFE004-FA55-411E-ADDA-12C448B95FA9}"/>
              </a:ext>
            </a:extLst>
          </p:cNvPr>
          <p:cNvPicPr>
            <a:picLocks noChangeAspect="1"/>
          </p:cNvPicPr>
          <p:nvPr/>
        </p:nvPicPr>
        <p:blipFill>
          <a:blip r:embed="rId6"/>
          <a:stretch/>
        </p:blipFill>
        <p:spPr>
          <a:xfrm>
            <a:off x="4527989" y="2396001"/>
            <a:ext cx="7772400" cy="4239490"/>
          </a:xfrm>
          <a:prstGeom prst="rect">
            <a:avLst/>
          </a:prstGeom>
        </p:spPr>
      </p:pic>
      <p:sp>
        <p:nvSpPr>
          <p:cNvPr id="4" name="Slide Number Placeholder 3">
            <a:extLst>
              <a:ext uri="{FF2B5EF4-FFF2-40B4-BE49-F238E27FC236}">
                <a16:creationId xmlns:a16="http://schemas.microsoft.com/office/drawing/2014/main" id="{3161F219-58C4-B010-0048-4D3992E8990E}"/>
              </a:ext>
            </a:extLst>
          </p:cNvPr>
          <p:cNvSpPr>
            <a:spLocks noGrp="1"/>
          </p:cNvSpPr>
          <p:nvPr>
            <p:ph type="sldNum" sz="quarter" idx="12"/>
          </p:nvPr>
        </p:nvSpPr>
        <p:spPr/>
        <p:txBody>
          <a:bodyPr/>
          <a:lstStyle/>
          <a:p>
            <a:fld id="{4544B810-10F2-2E49-94DF-FA7BE986B6B9}" type="slidenum">
              <a:rPr lang="en-US" smtClean="0"/>
              <a:t>28</a:t>
            </a:fld>
            <a:endParaRPr lang="en-US"/>
          </a:p>
        </p:txBody>
      </p:sp>
    </p:spTree>
    <p:extLst>
      <p:ext uri="{BB962C8B-B14F-4D97-AF65-F5344CB8AC3E}">
        <p14:creationId xmlns:p14="http://schemas.microsoft.com/office/powerpoint/2010/main" val="31868434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5B341-6599-BC6B-AF4E-D6D2784A4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AE5252-C68E-DDB4-32E4-34F31F263D6D}"/>
              </a:ext>
            </a:extLst>
          </p:cNvPr>
          <p:cNvSpPr>
            <a:spLocks noGrp="1"/>
          </p:cNvSpPr>
          <p:nvPr>
            <p:ph type="title"/>
          </p:nvPr>
        </p:nvSpPr>
        <p:spPr/>
        <p:txBody>
          <a:bodyPr/>
          <a:lstStyle/>
          <a:p>
            <a:r>
              <a:rPr lang="en-US" dirty="0"/>
              <a:t>SMART</a:t>
            </a:r>
            <a:r>
              <a:rPr lang="en-US" b="1" dirty="0"/>
              <a:t> Quantum</a:t>
            </a:r>
            <a:r>
              <a:rPr lang="en-US" dirty="0"/>
              <a:t> Ring all reduce </a:t>
            </a:r>
          </a:p>
        </p:txBody>
      </p:sp>
      <p:pic>
        <p:nvPicPr>
          <p:cNvPr id="4" name="Picture 3">
            <a:extLst>
              <a:ext uri="{FF2B5EF4-FFF2-40B4-BE49-F238E27FC236}">
                <a16:creationId xmlns:a16="http://schemas.microsoft.com/office/drawing/2014/main" id="{8EA2CF32-A41F-1B92-FA17-7BB88B294D66}"/>
              </a:ext>
            </a:extLst>
          </p:cNvPr>
          <p:cNvPicPr>
            <a:picLocks noChangeAspect="1"/>
          </p:cNvPicPr>
          <p:nvPr/>
        </p:nvPicPr>
        <p:blipFill>
          <a:blip r:embed="rId2"/>
          <a:stretch/>
        </p:blipFill>
        <p:spPr>
          <a:xfrm>
            <a:off x="1450428" y="2047477"/>
            <a:ext cx="3972910" cy="2167041"/>
          </a:xfrm>
          <a:prstGeom prst="rect">
            <a:avLst/>
          </a:prstGeom>
        </p:spPr>
      </p:pic>
      <p:pic>
        <p:nvPicPr>
          <p:cNvPr id="5" name="Picture 4">
            <a:extLst>
              <a:ext uri="{FF2B5EF4-FFF2-40B4-BE49-F238E27FC236}">
                <a16:creationId xmlns:a16="http://schemas.microsoft.com/office/drawing/2014/main" id="{03C0FA2F-A1E1-2D71-EAE1-E4579B4B9966}"/>
              </a:ext>
            </a:extLst>
          </p:cNvPr>
          <p:cNvPicPr>
            <a:picLocks noChangeAspect="1"/>
          </p:cNvPicPr>
          <p:nvPr/>
        </p:nvPicPr>
        <p:blipFill>
          <a:blip r:embed="rId3"/>
          <a:stretch/>
        </p:blipFill>
        <p:spPr>
          <a:xfrm>
            <a:off x="6892817" y="2139929"/>
            <a:ext cx="3520967" cy="1920527"/>
          </a:xfrm>
          <a:prstGeom prst="rect">
            <a:avLst/>
          </a:prstGeom>
        </p:spPr>
      </p:pic>
      <p:sp>
        <p:nvSpPr>
          <p:cNvPr id="7" name="TextBox 6">
            <a:extLst>
              <a:ext uri="{FF2B5EF4-FFF2-40B4-BE49-F238E27FC236}">
                <a16:creationId xmlns:a16="http://schemas.microsoft.com/office/drawing/2014/main" id="{2B0A7117-842C-4E7E-4327-CA7626A1F6F9}"/>
              </a:ext>
            </a:extLst>
          </p:cNvPr>
          <p:cNvSpPr txBox="1"/>
          <p:nvPr/>
        </p:nvSpPr>
        <p:spPr>
          <a:xfrm>
            <a:off x="838200" y="4652436"/>
            <a:ext cx="5184228" cy="923330"/>
          </a:xfrm>
          <a:prstGeom prst="rect">
            <a:avLst/>
          </a:prstGeom>
          <a:noFill/>
        </p:spPr>
        <p:txBody>
          <a:bodyPr wrap="square">
            <a:spAutoFit/>
          </a:bodyPr>
          <a:lstStyle/>
          <a:p>
            <a:r>
              <a:rPr lang="en-GB" b="0" i="0" u="none" strike="noStrike" dirty="0">
                <a:effectLst/>
              </a:rPr>
              <a:t>GHZ is the best quantum state for estimating a linear sum: </a:t>
            </a:r>
          </a:p>
          <a:p>
            <a:r>
              <a:rPr lang="en-GB" b="0" i="0" u="none" strike="noStrike" dirty="0">
                <a:effectLst/>
              </a:rPr>
              <a:t>it maximizes the Fisher information.</a:t>
            </a:r>
            <a:endParaRPr lang="en-US" dirty="0"/>
          </a:p>
        </p:txBody>
      </p:sp>
      <p:sp>
        <p:nvSpPr>
          <p:cNvPr id="9" name="TextBox 8">
            <a:extLst>
              <a:ext uri="{FF2B5EF4-FFF2-40B4-BE49-F238E27FC236}">
                <a16:creationId xmlns:a16="http://schemas.microsoft.com/office/drawing/2014/main" id="{EE1D4718-F874-EDAC-1EE8-D5841277B829}"/>
              </a:ext>
            </a:extLst>
          </p:cNvPr>
          <p:cNvSpPr txBox="1"/>
          <p:nvPr/>
        </p:nvSpPr>
        <p:spPr>
          <a:xfrm>
            <a:off x="6306207" y="4617473"/>
            <a:ext cx="5507421" cy="1200329"/>
          </a:xfrm>
          <a:prstGeom prst="rect">
            <a:avLst/>
          </a:prstGeom>
          <a:noFill/>
        </p:spPr>
        <p:txBody>
          <a:bodyPr wrap="square">
            <a:spAutoFit/>
          </a:bodyPr>
          <a:lstStyle/>
          <a:p>
            <a:r>
              <a:rPr lang="en-GB" b="0" u="none" strike="noStrike" dirty="0">
                <a:effectLst/>
              </a:rPr>
              <a:t>The shared state is set up </a:t>
            </a:r>
            <a:r>
              <a:rPr lang="en-GB" b="0" dirty="0">
                <a:effectLst/>
              </a:rPr>
              <a:t>before</a:t>
            </a:r>
            <a:r>
              <a:rPr lang="en-GB" b="0" u="none" strike="noStrike" dirty="0">
                <a:effectLst/>
              </a:rPr>
              <a:t> any gradient is encoded, you can verify it independently of the data:</a:t>
            </a:r>
          </a:p>
          <a:p>
            <a:r>
              <a:rPr lang="en-GB" b="0" u="none" strike="noStrike" dirty="0">
                <a:effectLst/>
              </a:rPr>
              <a:t>the phase encoding only ever exposes the global sum, never any individual gradient.</a:t>
            </a:r>
            <a:endParaRPr lang="en-US" dirty="0"/>
          </a:p>
        </p:txBody>
      </p:sp>
      <p:sp>
        <p:nvSpPr>
          <p:cNvPr id="3" name="Slide Number Placeholder 2">
            <a:extLst>
              <a:ext uri="{FF2B5EF4-FFF2-40B4-BE49-F238E27FC236}">
                <a16:creationId xmlns:a16="http://schemas.microsoft.com/office/drawing/2014/main" id="{66E2597D-9F74-9901-F8BC-4C758C2B519F}"/>
              </a:ext>
            </a:extLst>
          </p:cNvPr>
          <p:cNvSpPr>
            <a:spLocks noGrp="1"/>
          </p:cNvSpPr>
          <p:nvPr>
            <p:ph type="sldNum" sz="quarter" idx="12"/>
          </p:nvPr>
        </p:nvSpPr>
        <p:spPr/>
        <p:txBody>
          <a:bodyPr/>
          <a:lstStyle/>
          <a:p>
            <a:fld id="{4544B810-10F2-2E49-94DF-FA7BE986B6B9}" type="slidenum">
              <a:rPr lang="en-US" smtClean="0"/>
              <a:t>29</a:t>
            </a:fld>
            <a:endParaRPr lang="en-US"/>
          </a:p>
        </p:txBody>
      </p:sp>
    </p:spTree>
    <p:extLst>
      <p:ext uri="{BB962C8B-B14F-4D97-AF65-F5344CB8AC3E}">
        <p14:creationId xmlns:p14="http://schemas.microsoft.com/office/powerpoint/2010/main" val="2110607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6D70-7A95-ADB1-2BE8-177FEA5D5B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80EEB2-B92E-3090-8096-82BBDA7430DF}"/>
              </a:ext>
            </a:extLst>
          </p:cNvPr>
          <p:cNvSpPr>
            <a:spLocks noGrp="1"/>
          </p:cNvSpPr>
          <p:nvPr>
            <p:ph idx="1"/>
          </p:nvPr>
        </p:nvSpPr>
        <p:spPr>
          <a:xfrm>
            <a:off x="838200" y="1310618"/>
            <a:ext cx="10515600" cy="1380030"/>
          </a:xfrm>
        </p:spPr>
        <p:txBody>
          <a:bodyPr>
            <a:noAutofit/>
          </a:bodyPr>
          <a:lstStyle/>
          <a:p>
            <a:pPr marL="0" indent="0" algn="ctr">
              <a:buNone/>
            </a:pPr>
            <a:r>
              <a:rPr lang="en-US" sz="7200" dirty="0"/>
              <a:t>… but where is the exponential advantage?</a:t>
            </a:r>
          </a:p>
        </p:txBody>
      </p:sp>
      <p:pic>
        <p:nvPicPr>
          <p:cNvPr id="2" name="Picture 1" descr="The 4 Best Ways to Tackle Boring Work When You Have ADHD">
            <a:extLst>
              <a:ext uri="{FF2B5EF4-FFF2-40B4-BE49-F238E27FC236}">
                <a16:creationId xmlns:a16="http://schemas.microsoft.com/office/drawing/2014/main" id="{0B928428-AA20-86EB-01F4-4AB22384B5D6}"/>
              </a:ext>
            </a:extLst>
          </p:cNvPr>
          <p:cNvPicPr>
            <a:picLocks noChangeAspect="1"/>
          </p:cNvPicPr>
          <p:nvPr/>
        </p:nvPicPr>
        <p:blipFill>
          <a:blip r:embed="rId2"/>
          <a:stretch>
            <a:fillRect/>
          </a:stretch>
        </p:blipFill>
        <p:spPr>
          <a:xfrm>
            <a:off x="4629807" y="3894848"/>
            <a:ext cx="3179379" cy="2649483"/>
          </a:xfrm>
          <a:prstGeom prst="rect">
            <a:avLst/>
          </a:prstGeom>
        </p:spPr>
      </p:pic>
      <p:sp>
        <p:nvSpPr>
          <p:cNvPr id="4" name="Slide Number Placeholder 3">
            <a:extLst>
              <a:ext uri="{FF2B5EF4-FFF2-40B4-BE49-F238E27FC236}">
                <a16:creationId xmlns:a16="http://schemas.microsoft.com/office/drawing/2014/main" id="{DA07D6FA-6221-2D90-B9C5-FDED832BCF0B}"/>
              </a:ext>
            </a:extLst>
          </p:cNvPr>
          <p:cNvSpPr>
            <a:spLocks noGrp="1"/>
          </p:cNvSpPr>
          <p:nvPr>
            <p:ph type="sldNum" sz="quarter" idx="12"/>
          </p:nvPr>
        </p:nvSpPr>
        <p:spPr/>
        <p:txBody>
          <a:bodyPr/>
          <a:lstStyle/>
          <a:p>
            <a:fld id="{4544B810-10F2-2E49-94DF-FA7BE986B6B9}" type="slidenum">
              <a:rPr lang="en-US" smtClean="0"/>
              <a:t>30</a:t>
            </a:fld>
            <a:endParaRPr lang="en-US"/>
          </a:p>
        </p:txBody>
      </p:sp>
    </p:spTree>
    <p:extLst>
      <p:ext uri="{BB962C8B-B14F-4D97-AF65-F5344CB8AC3E}">
        <p14:creationId xmlns:p14="http://schemas.microsoft.com/office/powerpoint/2010/main" val="4441728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B9156-7F28-272A-321D-70D47923EEA0}"/>
              </a:ext>
            </a:extLst>
          </p:cNvPr>
          <p:cNvSpPr>
            <a:spLocks noGrp="1"/>
          </p:cNvSpPr>
          <p:nvPr>
            <p:ph type="title"/>
          </p:nvPr>
        </p:nvSpPr>
        <p:spPr/>
        <p:txBody>
          <a:bodyPr/>
          <a:lstStyle/>
          <a:p>
            <a:r>
              <a:rPr lang="en-US" dirty="0"/>
              <a:t>Aggregation problems</a:t>
            </a:r>
          </a:p>
        </p:txBody>
      </p:sp>
      <p:pic>
        <p:nvPicPr>
          <p:cNvPr id="21" name="Picture 20">
            <a:extLst>
              <a:ext uri="{FF2B5EF4-FFF2-40B4-BE49-F238E27FC236}">
                <a16:creationId xmlns:a16="http://schemas.microsoft.com/office/drawing/2014/main" id="{A9040E62-5AA0-356A-5413-08130DBE1AD8}"/>
              </a:ext>
            </a:extLst>
          </p:cNvPr>
          <p:cNvPicPr>
            <a:picLocks noChangeAspect="1"/>
          </p:cNvPicPr>
          <p:nvPr/>
        </p:nvPicPr>
        <p:blipFill>
          <a:blip r:embed="rId2"/>
          <a:stretch>
            <a:fillRect/>
          </a:stretch>
        </p:blipFill>
        <p:spPr>
          <a:xfrm>
            <a:off x="1027570" y="1894489"/>
            <a:ext cx="3681064" cy="3986779"/>
          </a:xfrm>
          <a:prstGeom prst="rect">
            <a:avLst/>
          </a:prstGeom>
        </p:spPr>
      </p:pic>
      <p:pic>
        <p:nvPicPr>
          <p:cNvPr id="22" name="Picture 21" descr="Simple User Icon transparent PNG - StickPNG">
            <a:extLst>
              <a:ext uri="{FF2B5EF4-FFF2-40B4-BE49-F238E27FC236}">
                <a16:creationId xmlns:a16="http://schemas.microsoft.com/office/drawing/2014/main" id="{65DF0399-E13D-F992-19C8-62495F6C4065}"/>
              </a:ext>
            </a:extLst>
          </p:cNvPr>
          <p:cNvPicPr>
            <a:picLocks noChangeAspect="1"/>
          </p:cNvPicPr>
          <p:nvPr/>
        </p:nvPicPr>
        <p:blipFill>
          <a:blip r:embed="rId3"/>
          <a:stretch>
            <a:fillRect/>
          </a:stretch>
        </p:blipFill>
        <p:spPr>
          <a:xfrm>
            <a:off x="7294179" y="2240601"/>
            <a:ext cx="2182356" cy="2182356"/>
          </a:xfrm>
          <a:prstGeom prst="rect">
            <a:avLst/>
          </a:prstGeom>
        </p:spPr>
      </p:pic>
      <p:cxnSp>
        <p:nvCxnSpPr>
          <p:cNvPr id="24" name="Straight Connector 23">
            <a:extLst>
              <a:ext uri="{FF2B5EF4-FFF2-40B4-BE49-F238E27FC236}">
                <a16:creationId xmlns:a16="http://schemas.microsoft.com/office/drawing/2014/main" id="{06E62F92-A12D-ECF7-4B87-05F0B7766ADB}"/>
              </a:ext>
            </a:extLst>
          </p:cNvPr>
          <p:cNvCxnSpPr/>
          <p:nvPr/>
        </p:nvCxnSpPr>
        <p:spPr>
          <a:xfrm>
            <a:off x="4372303" y="3331779"/>
            <a:ext cx="2921876" cy="0"/>
          </a:xfrm>
          <a:prstGeom prst="line">
            <a:avLst/>
          </a:prstGeom>
          <a:ln w="38100"/>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AD2015A8-95A6-7739-CE03-42B7EE3B0BF5}"/>
              </a:ext>
            </a:extLst>
          </p:cNvPr>
          <p:cNvSpPr txBox="1"/>
          <p:nvPr/>
        </p:nvSpPr>
        <p:spPr>
          <a:xfrm>
            <a:off x="6976240" y="4769070"/>
            <a:ext cx="4070131" cy="400110"/>
          </a:xfrm>
          <a:prstGeom prst="rect">
            <a:avLst/>
          </a:prstGeom>
          <a:noFill/>
        </p:spPr>
        <p:txBody>
          <a:bodyPr wrap="square">
            <a:spAutoFit/>
          </a:bodyPr>
          <a:lstStyle/>
          <a:p>
            <a:r>
              <a:rPr lang="en-US" sz="2000" dirty="0">
                <a:solidFill>
                  <a:srgbClr val="FF0000"/>
                </a:solidFill>
              </a:rPr>
              <a:t>Bandwidth constraints still exist!</a:t>
            </a:r>
          </a:p>
        </p:txBody>
      </p:sp>
      <p:sp>
        <p:nvSpPr>
          <p:cNvPr id="3" name="Slide Number Placeholder 2">
            <a:extLst>
              <a:ext uri="{FF2B5EF4-FFF2-40B4-BE49-F238E27FC236}">
                <a16:creationId xmlns:a16="http://schemas.microsoft.com/office/drawing/2014/main" id="{77CA2A36-337E-2B01-3A82-D41E9F85EC48}"/>
              </a:ext>
            </a:extLst>
          </p:cNvPr>
          <p:cNvSpPr>
            <a:spLocks noGrp="1"/>
          </p:cNvSpPr>
          <p:nvPr>
            <p:ph type="sldNum" sz="quarter" idx="12"/>
          </p:nvPr>
        </p:nvSpPr>
        <p:spPr/>
        <p:txBody>
          <a:bodyPr/>
          <a:lstStyle/>
          <a:p>
            <a:fld id="{4544B810-10F2-2E49-94DF-FA7BE986B6B9}" type="slidenum">
              <a:rPr lang="en-US" smtClean="0"/>
              <a:t>31</a:t>
            </a:fld>
            <a:endParaRPr lang="en-US"/>
          </a:p>
        </p:txBody>
      </p:sp>
    </p:spTree>
    <p:extLst>
      <p:ext uri="{BB962C8B-B14F-4D97-AF65-F5344CB8AC3E}">
        <p14:creationId xmlns:p14="http://schemas.microsoft.com/office/powerpoint/2010/main" val="611358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DECBA-122A-F54C-F9C2-3F0D7CCCF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9E9F9-06B3-7B1C-6932-F2709A3ED7E6}"/>
              </a:ext>
            </a:extLst>
          </p:cNvPr>
          <p:cNvSpPr>
            <a:spLocks noGrp="1"/>
          </p:cNvSpPr>
          <p:nvPr>
            <p:ph type="title"/>
          </p:nvPr>
        </p:nvSpPr>
        <p:spPr/>
        <p:txBody>
          <a:bodyPr/>
          <a:lstStyle/>
          <a:p>
            <a:r>
              <a:rPr lang="en-US" dirty="0"/>
              <a:t>Aggregation problems</a:t>
            </a:r>
          </a:p>
        </p:txBody>
      </p:sp>
      <p:pic>
        <p:nvPicPr>
          <p:cNvPr id="22" name="Picture 21" descr="Simple User Icon transparent PNG - StickPNG">
            <a:extLst>
              <a:ext uri="{FF2B5EF4-FFF2-40B4-BE49-F238E27FC236}">
                <a16:creationId xmlns:a16="http://schemas.microsoft.com/office/drawing/2014/main" id="{A50B7C41-C184-FBF0-5AFD-2F70265F7BD9}"/>
              </a:ext>
            </a:extLst>
          </p:cNvPr>
          <p:cNvPicPr>
            <a:picLocks noChangeAspect="1"/>
          </p:cNvPicPr>
          <p:nvPr/>
        </p:nvPicPr>
        <p:blipFill>
          <a:blip r:embed="rId2"/>
          <a:stretch>
            <a:fillRect/>
          </a:stretch>
        </p:blipFill>
        <p:spPr>
          <a:xfrm>
            <a:off x="7294179" y="2240601"/>
            <a:ext cx="2182356" cy="2182356"/>
          </a:xfrm>
          <a:prstGeom prst="rect">
            <a:avLst/>
          </a:prstGeom>
        </p:spPr>
      </p:pic>
      <p:cxnSp>
        <p:nvCxnSpPr>
          <p:cNvPr id="24" name="Straight Connector 23">
            <a:extLst>
              <a:ext uri="{FF2B5EF4-FFF2-40B4-BE49-F238E27FC236}">
                <a16:creationId xmlns:a16="http://schemas.microsoft.com/office/drawing/2014/main" id="{EF0E5B4E-200B-4C66-25A8-2B6FDBA40CDA}"/>
              </a:ext>
            </a:extLst>
          </p:cNvPr>
          <p:cNvCxnSpPr/>
          <p:nvPr/>
        </p:nvCxnSpPr>
        <p:spPr>
          <a:xfrm>
            <a:off x="4372303" y="3331779"/>
            <a:ext cx="2921876" cy="0"/>
          </a:xfrm>
          <a:prstGeom prst="line">
            <a:avLst/>
          </a:prstGeom>
          <a:ln w="38100"/>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EEC1553C-0A68-CD43-A580-DA859E19C20C}"/>
              </a:ext>
            </a:extLst>
          </p:cNvPr>
          <p:cNvSpPr txBox="1"/>
          <p:nvPr/>
        </p:nvSpPr>
        <p:spPr>
          <a:xfrm>
            <a:off x="4319751" y="2432164"/>
            <a:ext cx="2921876" cy="400110"/>
          </a:xfrm>
          <a:prstGeom prst="rect">
            <a:avLst/>
          </a:prstGeom>
          <a:noFill/>
        </p:spPr>
        <p:txBody>
          <a:bodyPr wrap="square">
            <a:spAutoFit/>
          </a:bodyPr>
          <a:lstStyle/>
          <a:p>
            <a:pPr algn="ctr"/>
            <a:r>
              <a:rPr lang="en-US" sz="2000" dirty="0"/>
              <a:t>Compress our model</a:t>
            </a:r>
          </a:p>
        </p:txBody>
      </p:sp>
      <p:pic>
        <p:nvPicPr>
          <p:cNvPr id="3" name="Picture 2">
            <a:extLst>
              <a:ext uri="{FF2B5EF4-FFF2-40B4-BE49-F238E27FC236}">
                <a16:creationId xmlns:a16="http://schemas.microsoft.com/office/drawing/2014/main" id="{9F0114F5-FB89-F04B-8736-7CF5F375F327}"/>
              </a:ext>
            </a:extLst>
          </p:cNvPr>
          <p:cNvPicPr>
            <a:picLocks noChangeAspect="1"/>
          </p:cNvPicPr>
          <p:nvPr/>
        </p:nvPicPr>
        <p:blipFill>
          <a:blip r:embed="rId3">
            <a:duotone>
              <a:schemeClr val="accent2">
                <a:shade val="45000"/>
                <a:satMod val="135000"/>
              </a:schemeClr>
              <a:prstClr val="white"/>
            </a:duotone>
          </a:blip>
          <a:stretch/>
        </p:blipFill>
        <p:spPr>
          <a:xfrm>
            <a:off x="839788" y="2332768"/>
            <a:ext cx="3731685" cy="2058658"/>
          </a:xfrm>
          <a:prstGeom prst="rect">
            <a:avLst/>
          </a:prstGeom>
        </p:spPr>
      </p:pic>
      <p:pic>
        <p:nvPicPr>
          <p:cNvPr id="4" name="Picture 3">
            <a:extLst>
              <a:ext uri="{FF2B5EF4-FFF2-40B4-BE49-F238E27FC236}">
                <a16:creationId xmlns:a16="http://schemas.microsoft.com/office/drawing/2014/main" id="{F84B9700-7A83-EE4B-6152-086AC606284F}"/>
              </a:ext>
            </a:extLst>
          </p:cNvPr>
          <p:cNvPicPr>
            <a:picLocks noChangeAspect="1"/>
          </p:cNvPicPr>
          <p:nvPr/>
        </p:nvPicPr>
        <p:blipFill>
          <a:blip r:embed="rId4">
            <a:duotone>
              <a:srgbClr val="E97132">
                <a:shade val="45000"/>
                <a:satMod val="135000"/>
              </a:srgbClr>
              <a:prstClr val="white"/>
            </a:duotone>
          </a:blip>
          <a:stretch/>
        </p:blipFill>
        <p:spPr>
          <a:xfrm>
            <a:off x="4295665" y="3526221"/>
            <a:ext cx="3075151" cy="2424639"/>
          </a:xfrm>
          <a:prstGeom prst="rect">
            <a:avLst/>
          </a:prstGeom>
        </p:spPr>
      </p:pic>
      <p:sp>
        <p:nvSpPr>
          <p:cNvPr id="5" name="Slide Number Placeholder 4">
            <a:extLst>
              <a:ext uri="{FF2B5EF4-FFF2-40B4-BE49-F238E27FC236}">
                <a16:creationId xmlns:a16="http://schemas.microsoft.com/office/drawing/2014/main" id="{4F869B8E-8024-8A81-3995-A74FB15DDEF5}"/>
              </a:ext>
            </a:extLst>
          </p:cNvPr>
          <p:cNvSpPr>
            <a:spLocks noGrp="1"/>
          </p:cNvSpPr>
          <p:nvPr>
            <p:ph type="sldNum" sz="quarter" idx="12"/>
          </p:nvPr>
        </p:nvSpPr>
        <p:spPr/>
        <p:txBody>
          <a:bodyPr/>
          <a:lstStyle/>
          <a:p>
            <a:fld id="{4544B810-10F2-2E49-94DF-FA7BE986B6B9}" type="slidenum">
              <a:rPr lang="en-US" smtClean="0"/>
              <a:t>32</a:t>
            </a:fld>
            <a:endParaRPr lang="en-US"/>
          </a:p>
        </p:txBody>
      </p:sp>
    </p:spTree>
    <p:extLst>
      <p:ext uri="{BB962C8B-B14F-4D97-AF65-F5344CB8AC3E}">
        <p14:creationId xmlns:p14="http://schemas.microsoft.com/office/powerpoint/2010/main" val="4048334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70BE1-5049-5B7A-4D39-68C082E338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F5669-54E2-E17E-105F-9861DD47EDEF}"/>
              </a:ext>
            </a:extLst>
          </p:cNvPr>
          <p:cNvSpPr>
            <a:spLocks noGrp="1"/>
          </p:cNvSpPr>
          <p:nvPr>
            <p:ph type="title"/>
          </p:nvPr>
        </p:nvSpPr>
        <p:spPr/>
        <p:txBody>
          <a:bodyPr/>
          <a:lstStyle/>
          <a:p>
            <a:r>
              <a:rPr lang="en-US" dirty="0"/>
              <a:t>Aggregation problems</a:t>
            </a:r>
          </a:p>
        </p:txBody>
      </p:sp>
      <p:pic>
        <p:nvPicPr>
          <p:cNvPr id="22" name="Picture 21" descr="Simple User Icon transparent PNG - StickPNG">
            <a:extLst>
              <a:ext uri="{FF2B5EF4-FFF2-40B4-BE49-F238E27FC236}">
                <a16:creationId xmlns:a16="http://schemas.microsoft.com/office/drawing/2014/main" id="{EDA62B92-BB31-3612-D4AD-844433F2722A}"/>
              </a:ext>
            </a:extLst>
          </p:cNvPr>
          <p:cNvPicPr>
            <a:picLocks noChangeAspect="1"/>
          </p:cNvPicPr>
          <p:nvPr/>
        </p:nvPicPr>
        <p:blipFill>
          <a:blip r:embed="rId2"/>
          <a:stretch>
            <a:fillRect/>
          </a:stretch>
        </p:blipFill>
        <p:spPr>
          <a:xfrm>
            <a:off x="7294179" y="2240601"/>
            <a:ext cx="2182356" cy="2182356"/>
          </a:xfrm>
          <a:prstGeom prst="rect">
            <a:avLst/>
          </a:prstGeom>
        </p:spPr>
      </p:pic>
      <p:cxnSp>
        <p:nvCxnSpPr>
          <p:cNvPr id="24" name="Straight Connector 23">
            <a:extLst>
              <a:ext uri="{FF2B5EF4-FFF2-40B4-BE49-F238E27FC236}">
                <a16:creationId xmlns:a16="http://schemas.microsoft.com/office/drawing/2014/main" id="{690E9FBD-B6AD-1338-92E4-1189CD5DAF65}"/>
              </a:ext>
            </a:extLst>
          </p:cNvPr>
          <p:cNvCxnSpPr/>
          <p:nvPr/>
        </p:nvCxnSpPr>
        <p:spPr>
          <a:xfrm>
            <a:off x="4372303" y="3331779"/>
            <a:ext cx="2921876" cy="0"/>
          </a:xfrm>
          <a:prstGeom prst="line">
            <a:avLst/>
          </a:prstGeom>
          <a:ln w="38100"/>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70CEC547-50D0-798E-F5FC-063DD64C9847}"/>
              </a:ext>
            </a:extLst>
          </p:cNvPr>
          <p:cNvSpPr txBox="1"/>
          <p:nvPr/>
        </p:nvSpPr>
        <p:spPr>
          <a:xfrm>
            <a:off x="4319751" y="2432164"/>
            <a:ext cx="2921876" cy="400110"/>
          </a:xfrm>
          <a:prstGeom prst="rect">
            <a:avLst/>
          </a:prstGeom>
          <a:noFill/>
        </p:spPr>
        <p:txBody>
          <a:bodyPr wrap="square">
            <a:spAutoFit/>
          </a:bodyPr>
          <a:lstStyle/>
          <a:p>
            <a:pPr algn="ctr"/>
            <a:r>
              <a:rPr lang="en-US" sz="2000" dirty="0"/>
              <a:t>Compress our model</a:t>
            </a:r>
          </a:p>
        </p:txBody>
      </p:sp>
      <p:pic>
        <p:nvPicPr>
          <p:cNvPr id="3" name="Picture 2">
            <a:extLst>
              <a:ext uri="{FF2B5EF4-FFF2-40B4-BE49-F238E27FC236}">
                <a16:creationId xmlns:a16="http://schemas.microsoft.com/office/drawing/2014/main" id="{8088F524-5FAA-1784-A51F-FD6AB4714238}"/>
              </a:ext>
            </a:extLst>
          </p:cNvPr>
          <p:cNvPicPr>
            <a:picLocks noChangeAspect="1"/>
          </p:cNvPicPr>
          <p:nvPr/>
        </p:nvPicPr>
        <p:blipFill>
          <a:blip r:embed="rId3">
            <a:duotone>
              <a:schemeClr val="accent2">
                <a:shade val="45000"/>
                <a:satMod val="135000"/>
              </a:schemeClr>
              <a:prstClr val="white"/>
            </a:duotone>
          </a:blip>
          <a:stretch/>
        </p:blipFill>
        <p:spPr>
          <a:xfrm>
            <a:off x="839788" y="2332768"/>
            <a:ext cx="3731685" cy="2058658"/>
          </a:xfrm>
          <a:prstGeom prst="rect">
            <a:avLst/>
          </a:prstGeom>
        </p:spPr>
      </p:pic>
      <p:pic>
        <p:nvPicPr>
          <p:cNvPr id="4" name="Picture 3">
            <a:extLst>
              <a:ext uri="{FF2B5EF4-FFF2-40B4-BE49-F238E27FC236}">
                <a16:creationId xmlns:a16="http://schemas.microsoft.com/office/drawing/2014/main" id="{8AD7ED43-32B7-1E77-732E-E39C2FAB0493}"/>
              </a:ext>
            </a:extLst>
          </p:cNvPr>
          <p:cNvPicPr>
            <a:picLocks noChangeAspect="1"/>
          </p:cNvPicPr>
          <p:nvPr/>
        </p:nvPicPr>
        <p:blipFill>
          <a:blip r:embed="rId4">
            <a:duotone>
              <a:srgbClr val="E97132">
                <a:shade val="45000"/>
                <a:satMod val="135000"/>
              </a:srgbClr>
              <a:prstClr val="white"/>
            </a:duotone>
          </a:blip>
          <a:stretch/>
        </p:blipFill>
        <p:spPr>
          <a:xfrm>
            <a:off x="4295665" y="3526221"/>
            <a:ext cx="3075151" cy="2424639"/>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15BAD41-6DF4-A878-B1CA-DF454595BFE8}"/>
                  </a:ext>
                </a:extLst>
              </p:cNvPr>
              <p:cNvSpPr/>
              <p:nvPr/>
            </p:nvSpPr>
            <p:spPr>
              <a:xfrm>
                <a:off x="8151223" y="4937761"/>
                <a:ext cx="3631474" cy="849086"/>
              </a:xfrm>
              <a:prstGeom prst="rect">
                <a:avLst/>
              </a:prstGeom>
              <a:solidFill>
                <a:srgbClr val="F44235">
                  <a:alpha val="35686"/>
                </a:srgb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g</a:t>
                </a:r>
                <a:r>
                  <a:rPr lang="en-US" baseline="-25000" dirty="0"/>
                  <a:t>3</a:t>
                </a:r>
                <a:r>
                  <a:rPr lang="en-US" dirty="0"/>
                  <a:t> = 3, g</a:t>
                </a:r>
                <a:r>
                  <a:rPr lang="en-US" baseline="-25000" dirty="0"/>
                  <a:t>5</a:t>
                </a:r>
                <a:r>
                  <a:rPr lang="en-US" dirty="0"/>
                  <a:t> = -3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g</a:t>
                </a:r>
                <a:r>
                  <a:rPr lang="en-US" baseline="-25000" dirty="0"/>
                  <a:t>3 </a:t>
                </a:r>
                <a:r>
                  <a:rPr lang="en-US" dirty="0"/>
                  <a:t>+ g</a:t>
                </a:r>
                <a:r>
                  <a:rPr lang="en-US" baseline="-25000" dirty="0"/>
                  <a:t>5 </a:t>
                </a:r>
                <a:r>
                  <a:rPr lang="en-US" dirty="0"/>
                  <a:t>= 0  </a:t>
                </a:r>
              </a:p>
            </p:txBody>
          </p:sp>
        </mc:Choice>
        <mc:Fallback xmlns="">
          <p:sp>
            <p:nvSpPr>
              <p:cNvPr id="5" name="Rectangle 4">
                <a:extLst>
                  <a:ext uri="{FF2B5EF4-FFF2-40B4-BE49-F238E27FC236}">
                    <a16:creationId xmlns:a16="http://schemas.microsoft.com/office/drawing/2014/main" id="{E15BAD41-6DF4-A878-B1CA-DF454595BFE8}"/>
                  </a:ext>
                </a:extLst>
              </p:cNvPr>
              <p:cNvSpPr>
                <a:spLocks noRot="1" noChangeAspect="1" noMove="1" noResize="1" noEditPoints="1" noAdjustHandles="1" noChangeArrowheads="1" noChangeShapeType="1" noTextEdit="1"/>
              </p:cNvSpPr>
              <p:nvPr/>
            </p:nvSpPr>
            <p:spPr>
              <a:xfrm>
                <a:off x="8151223" y="4937761"/>
                <a:ext cx="3631474" cy="849086"/>
              </a:xfrm>
              <a:prstGeom prst="rect">
                <a:avLst/>
              </a:prstGeom>
              <a:blipFill>
                <a:blip r:embed="rId5"/>
                <a:stretch>
                  <a:fillRect/>
                </a:stretch>
              </a:blipFill>
            </p:spPr>
            <p:txBody>
              <a:bodyPr/>
              <a:lstStyle/>
              <a:p>
                <a:r>
                  <a:rPr lang="en-US">
                    <a:noFill/>
                  </a:rPr>
                  <a:t> </a:t>
                </a:r>
              </a:p>
            </p:txBody>
          </p:sp>
        </mc:Fallback>
      </mc:AlternateContent>
      <p:pic>
        <p:nvPicPr>
          <p:cNvPr id="6" name="Picture 5" descr="🚨 Police Car Light Emoji: Meaning &amp; Usage">
            <a:extLst>
              <a:ext uri="{FF2B5EF4-FFF2-40B4-BE49-F238E27FC236}">
                <a16:creationId xmlns:a16="http://schemas.microsoft.com/office/drawing/2014/main" id="{3D5557F7-13F0-8FFF-7933-64921CCED2ED}"/>
              </a:ext>
            </a:extLst>
          </p:cNvPr>
          <p:cNvPicPr>
            <a:picLocks noChangeAspect="1"/>
          </p:cNvPicPr>
          <p:nvPr/>
        </p:nvPicPr>
        <p:blipFill>
          <a:blip r:embed="rId6"/>
          <a:stretch>
            <a:fillRect/>
          </a:stretch>
        </p:blipFill>
        <p:spPr>
          <a:xfrm>
            <a:off x="7539565" y="5269560"/>
            <a:ext cx="1223315" cy="1223315"/>
          </a:xfrm>
          <a:prstGeom prst="rect">
            <a:avLst/>
          </a:prstGeom>
        </p:spPr>
      </p:pic>
      <p:pic>
        <p:nvPicPr>
          <p:cNvPr id="8" name="Picture 7" descr="🚨 Police Car Light Emoji: Meaning &amp; Usage">
            <a:extLst>
              <a:ext uri="{FF2B5EF4-FFF2-40B4-BE49-F238E27FC236}">
                <a16:creationId xmlns:a16="http://schemas.microsoft.com/office/drawing/2014/main" id="{FF842BAA-7786-7D66-F2C0-E710BE31567B}"/>
              </a:ext>
            </a:extLst>
          </p:cNvPr>
          <p:cNvPicPr>
            <a:picLocks noChangeAspect="1"/>
          </p:cNvPicPr>
          <p:nvPr/>
        </p:nvPicPr>
        <p:blipFill>
          <a:blip r:embed="rId6"/>
          <a:stretch>
            <a:fillRect/>
          </a:stretch>
        </p:blipFill>
        <p:spPr>
          <a:xfrm>
            <a:off x="11170043" y="4046245"/>
            <a:ext cx="1223315" cy="1223315"/>
          </a:xfrm>
          <a:prstGeom prst="rect">
            <a:avLst/>
          </a:prstGeom>
        </p:spPr>
      </p:pic>
      <p:sp>
        <p:nvSpPr>
          <p:cNvPr id="7" name="Slide Number Placeholder 6">
            <a:extLst>
              <a:ext uri="{FF2B5EF4-FFF2-40B4-BE49-F238E27FC236}">
                <a16:creationId xmlns:a16="http://schemas.microsoft.com/office/drawing/2014/main" id="{ADE8185A-CC82-0471-1AC6-B6BD2F4AFEF7}"/>
              </a:ext>
            </a:extLst>
          </p:cNvPr>
          <p:cNvSpPr>
            <a:spLocks noGrp="1"/>
          </p:cNvSpPr>
          <p:nvPr>
            <p:ph type="sldNum" sz="quarter" idx="12"/>
          </p:nvPr>
        </p:nvSpPr>
        <p:spPr/>
        <p:txBody>
          <a:bodyPr/>
          <a:lstStyle/>
          <a:p>
            <a:fld id="{4544B810-10F2-2E49-94DF-FA7BE986B6B9}" type="slidenum">
              <a:rPr lang="en-US" smtClean="0"/>
              <a:t>33</a:t>
            </a:fld>
            <a:endParaRPr lang="en-US"/>
          </a:p>
        </p:txBody>
      </p:sp>
    </p:spTree>
    <p:extLst>
      <p:ext uri="{BB962C8B-B14F-4D97-AF65-F5344CB8AC3E}">
        <p14:creationId xmlns:p14="http://schemas.microsoft.com/office/powerpoint/2010/main" val="3241601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F90C2-27E2-945E-1C1D-3494EAAB3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839A7-6FC3-185B-FDA0-66F8382EDF75}"/>
              </a:ext>
            </a:extLst>
          </p:cNvPr>
          <p:cNvSpPr>
            <a:spLocks noGrp="1"/>
          </p:cNvSpPr>
          <p:nvPr>
            <p:ph type="title"/>
          </p:nvPr>
        </p:nvSpPr>
        <p:spPr/>
        <p:txBody>
          <a:bodyPr/>
          <a:lstStyle/>
          <a:p>
            <a:r>
              <a:rPr lang="en-US" dirty="0"/>
              <a:t>Aggregation problems</a:t>
            </a:r>
          </a:p>
        </p:txBody>
      </p:sp>
      <p:pic>
        <p:nvPicPr>
          <p:cNvPr id="22" name="Picture 21" descr="Simple User Icon transparent PNG - StickPNG">
            <a:extLst>
              <a:ext uri="{FF2B5EF4-FFF2-40B4-BE49-F238E27FC236}">
                <a16:creationId xmlns:a16="http://schemas.microsoft.com/office/drawing/2014/main" id="{8E61F6CA-0032-C01D-58E0-C3DEBCF467C3}"/>
              </a:ext>
            </a:extLst>
          </p:cNvPr>
          <p:cNvPicPr>
            <a:picLocks noChangeAspect="1"/>
          </p:cNvPicPr>
          <p:nvPr/>
        </p:nvPicPr>
        <p:blipFill>
          <a:blip r:embed="rId2"/>
          <a:stretch>
            <a:fillRect/>
          </a:stretch>
        </p:blipFill>
        <p:spPr>
          <a:xfrm>
            <a:off x="7294179" y="2240601"/>
            <a:ext cx="2182356" cy="2182356"/>
          </a:xfrm>
          <a:prstGeom prst="rect">
            <a:avLst/>
          </a:prstGeom>
        </p:spPr>
      </p:pic>
      <p:cxnSp>
        <p:nvCxnSpPr>
          <p:cNvPr id="24" name="Straight Connector 23">
            <a:extLst>
              <a:ext uri="{FF2B5EF4-FFF2-40B4-BE49-F238E27FC236}">
                <a16:creationId xmlns:a16="http://schemas.microsoft.com/office/drawing/2014/main" id="{9F460415-3A4D-FBB1-97E9-D5E161EB0E21}"/>
              </a:ext>
            </a:extLst>
          </p:cNvPr>
          <p:cNvCxnSpPr/>
          <p:nvPr/>
        </p:nvCxnSpPr>
        <p:spPr>
          <a:xfrm>
            <a:off x="4372303" y="3331779"/>
            <a:ext cx="2921876" cy="0"/>
          </a:xfrm>
          <a:prstGeom prst="line">
            <a:avLst/>
          </a:prstGeom>
          <a:ln w="38100"/>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66C2FAB8-F56A-0E61-A0CE-72E555EE07BA}"/>
              </a:ext>
            </a:extLst>
          </p:cNvPr>
          <p:cNvSpPr txBox="1"/>
          <p:nvPr/>
        </p:nvSpPr>
        <p:spPr>
          <a:xfrm>
            <a:off x="4319751" y="2432164"/>
            <a:ext cx="2921876" cy="400110"/>
          </a:xfrm>
          <a:prstGeom prst="rect">
            <a:avLst/>
          </a:prstGeom>
          <a:noFill/>
        </p:spPr>
        <p:txBody>
          <a:bodyPr wrap="square">
            <a:spAutoFit/>
          </a:bodyPr>
          <a:lstStyle/>
          <a:p>
            <a:pPr algn="ctr"/>
            <a:r>
              <a:rPr lang="en-US" sz="2000" dirty="0"/>
              <a:t>Compress our model</a:t>
            </a:r>
          </a:p>
        </p:txBody>
      </p:sp>
      <p:pic>
        <p:nvPicPr>
          <p:cNvPr id="3" name="Picture 2">
            <a:extLst>
              <a:ext uri="{FF2B5EF4-FFF2-40B4-BE49-F238E27FC236}">
                <a16:creationId xmlns:a16="http://schemas.microsoft.com/office/drawing/2014/main" id="{56EBCEC6-D825-B3E7-153B-669FFDD79AF1}"/>
              </a:ext>
            </a:extLst>
          </p:cNvPr>
          <p:cNvPicPr>
            <a:picLocks noChangeAspect="1"/>
          </p:cNvPicPr>
          <p:nvPr/>
        </p:nvPicPr>
        <p:blipFill>
          <a:blip r:embed="rId3">
            <a:duotone>
              <a:schemeClr val="accent2">
                <a:shade val="45000"/>
                <a:satMod val="135000"/>
              </a:schemeClr>
              <a:prstClr val="white"/>
            </a:duotone>
          </a:blip>
          <a:stretch/>
        </p:blipFill>
        <p:spPr>
          <a:xfrm>
            <a:off x="839788" y="2332768"/>
            <a:ext cx="3731685" cy="2058658"/>
          </a:xfrm>
          <a:prstGeom prst="rect">
            <a:avLst/>
          </a:prstGeom>
        </p:spPr>
      </p:pic>
      <p:pic>
        <p:nvPicPr>
          <p:cNvPr id="4" name="Picture 3">
            <a:extLst>
              <a:ext uri="{FF2B5EF4-FFF2-40B4-BE49-F238E27FC236}">
                <a16:creationId xmlns:a16="http://schemas.microsoft.com/office/drawing/2014/main" id="{48C82F15-D0AC-7BC6-1D6F-86C4F1847D41}"/>
              </a:ext>
            </a:extLst>
          </p:cNvPr>
          <p:cNvPicPr>
            <a:picLocks noChangeAspect="1"/>
          </p:cNvPicPr>
          <p:nvPr/>
        </p:nvPicPr>
        <p:blipFill>
          <a:blip r:embed="rId4">
            <a:duotone>
              <a:srgbClr val="E97132">
                <a:shade val="45000"/>
                <a:satMod val="135000"/>
              </a:srgbClr>
              <a:prstClr val="white"/>
            </a:duotone>
          </a:blip>
          <a:stretch/>
        </p:blipFill>
        <p:spPr>
          <a:xfrm>
            <a:off x="4295665" y="3526221"/>
            <a:ext cx="3075151" cy="2424639"/>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B7728DAC-F3A8-ED63-7527-77CCE415273A}"/>
                  </a:ext>
                </a:extLst>
              </p:cNvPr>
              <p:cNvSpPr/>
              <p:nvPr/>
            </p:nvSpPr>
            <p:spPr>
              <a:xfrm>
                <a:off x="8151223" y="4937761"/>
                <a:ext cx="3631474" cy="849086"/>
              </a:xfrm>
              <a:prstGeom prst="rect">
                <a:avLst/>
              </a:prstGeom>
              <a:solidFill>
                <a:srgbClr val="F44235">
                  <a:alpha val="35686"/>
                </a:srgb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g</a:t>
                </a:r>
                <a:r>
                  <a:rPr lang="en-US" baseline="-25000" dirty="0"/>
                  <a:t>3</a:t>
                </a:r>
                <a:r>
                  <a:rPr lang="en-US" dirty="0"/>
                  <a:t> = 3, g</a:t>
                </a:r>
                <a:r>
                  <a:rPr lang="en-US" baseline="-25000" dirty="0"/>
                  <a:t>5</a:t>
                </a:r>
                <a:r>
                  <a:rPr lang="en-US" dirty="0"/>
                  <a:t> = -3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g</a:t>
                </a:r>
                <a:r>
                  <a:rPr lang="en-US" baseline="-25000" dirty="0"/>
                  <a:t>3 </a:t>
                </a:r>
                <a:r>
                  <a:rPr lang="en-US" dirty="0"/>
                  <a:t>+ g</a:t>
                </a:r>
                <a:r>
                  <a:rPr lang="en-US" baseline="-25000" dirty="0"/>
                  <a:t>5 </a:t>
                </a:r>
                <a:r>
                  <a:rPr lang="en-US" dirty="0"/>
                  <a:t>= 0  </a:t>
                </a:r>
              </a:p>
            </p:txBody>
          </p:sp>
        </mc:Choice>
        <mc:Fallback xmlns="">
          <p:sp>
            <p:nvSpPr>
              <p:cNvPr id="5" name="Rectangle 4">
                <a:extLst>
                  <a:ext uri="{FF2B5EF4-FFF2-40B4-BE49-F238E27FC236}">
                    <a16:creationId xmlns:a16="http://schemas.microsoft.com/office/drawing/2014/main" id="{B7728DAC-F3A8-ED63-7527-77CCE415273A}"/>
                  </a:ext>
                </a:extLst>
              </p:cNvPr>
              <p:cNvSpPr>
                <a:spLocks noRot="1" noChangeAspect="1" noMove="1" noResize="1" noEditPoints="1" noAdjustHandles="1" noChangeArrowheads="1" noChangeShapeType="1" noTextEdit="1"/>
              </p:cNvSpPr>
              <p:nvPr/>
            </p:nvSpPr>
            <p:spPr>
              <a:xfrm>
                <a:off x="8151223" y="4937761"/>
                <a:ext cx="3631474" cy="849086"/>
              </a:xfrm>
              <a:prstGeom prst="rect">
                <a:avLst/>
              </a:prstGeom>
              <a:blipFill>
                <a:blip r:embed="rId5"/>
                <a:stretch>
                  <a:fillRect/>
                </a:stretch>
              </a:blipFill>
            </p:spPr>
            <p:txBody>
              <a:bodyPr/>
              <a:lstStyle/>
              <a:p>
                <a:r>
                  <a:rPr lang="en-US">
                    <a:noFill/>
                  </a:rPr>
                  <a:t> </a:t>
                </a:r>
              </a:p>
            </p:txBody>
          </p:sp>
        </mc:Fallback>
      </mc:AlternateContent>
      <p:pic>
        <p:nvPicPr>
          <p:cNvPr id="6" name="Picture 5" descr="🚨 Police Car Light Emoji: Meaning &amp; Usage">
            <a:extLst>
              <a:ext uri="{FF2B5EF4-FFF2-40B4-BE49-F238E27FC236}">
                <a16:creationId xmlns:a16="http://schemas.microsoft.com/office/drawing/2014/main" id="{8E6CDBC9-A802-3C6B-F239-8FF9D465EE2A}"/>
              </a:ext>
            </a:extLst>
          </p:cNvPr>
          <p:cNvPicPr>
            <a:picLocks noChangeAspect="1"/>
          </p:cNvPicPr>
          <p:nvPr/>
        </p:nvPicPr>
        <p:blipFill>
          <a:blip r:embed="rId6"/>
          <a:stretch>
            <a:fillRect/>
          </a:stretch>
        </p:blipFill>
        <p:spPr>
          <a:xfrm>
            <a:off x="7539565" y="5269560"/>
            <a:ext cx="1223315" cy="1223315"/>
          </a:xfrm>
          <a:prstGeom prst="rect">
            <a:avLst/>
          </a:prstGeom>
        </p:spPr>
      </p:pic>
      <p:pic>
        <p:nvPicPr>
          <p:cNvPr id="8" name="Picture 7" descr="🚨 Police Car Light Emoji: Meaning &amp; Usage">
            <a:extLst>
              <a:ext uri="{FF2B5EF4-FFF2-40B4-BE49-F238E27FC236}">
                <a16:creationId xmlns:a16="http://schemas.microsoft.com/office/drawing/2014/main" id="{582ACA52-7835-F201-AE6F-80362CE55396}"/>
              </a:ext>
            </a:extLst>
          </p:cNvPr>
          <p:cNvPicPr>
            <a:picLocks noChangeAspect="1"/>
          </p:cNvPicPr>
          <p:nvPr/>
        </p:nvPicPr>
        <p:blipFill>
          <a:blip r:embed="rId6"/>
          <a:stretch>
            <a:fillRect/>
          </a:stretch>
        </p:blipFill>
        <p:spPr>
          <a:xfrm>
            <a:off x="11170043" y="4046245"/>
            <a:ext cx="1223315" cy="1223315"/>
          </a:xfrm>
          <a:prstGeom prst="rect">
            <a:avLst/>
          </a:prstGeom>
        </p:spPr>
      </p:pic>
      <p:sp>
        <p:nvSpPr>
          <p:cNvPr id="7" name="Cloud Callout 6">
            <a:extLst>
              <a:ext uri="{FF2B5EF4-FFF2-40B4-BE49-F238E27FC236}">
                <a16:creationId xmlns:a16="http://schemas.microsoft.com/office/drawing/2014/main" id="{34B1180E-B1A0-909B-0D8E-76276747F22A}"/>
              </a:ext>
            </a:extLst>
          </p:cNvPr>
          <p:cNvSpPr/>
          <p:nvPr/>
        </p:nvSpPr>
        <p:spPr>
          <a:xfrm>
            <a:off x="7855130" y="221813"/>
            <a:ext cx="4188824" cy="2110955"/>
          </a:xfrm>
          <a:prstGeom prst="cloudCallout">
            <a:avLst/>
          </a:prstGeom>
          <a:solidFill>
            <a:srgbClr val="6DB2D2"/>
          </a:solidFill>
          <a:ln>
            <a:solidFill>
              <a:srgbClr val="0095D4">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Given my knowledge of the model, </a:t>
            </a:r>
            <a:r>
              <a:rPr lang="en-GB" dirty="0"/>
              <a:t>is the relation I care about TRUE?</a:t>
            </a:r>
          </a:p>
        </p:txBody>
      </p:sp>
      <p:sp>
        <p:nvSpPr>
          <p:cNvPr id="9" name="Cloud Callout 8">
            <a:extLst>
              <a:ext uri="{FF2B5EF4-FFF2-40B4-BE49-F238E27FC236}">
                <a16:creationId xmlns:a16="http://schemas.microsoft.com/office/drawing/2014/main" id="{C0EACBB3-C7DA-89C6-0F27-6FD011148BBC}"/>
              </a:ext>
            </a:extLst>
          </p:cNvPr>
          <p:cNvSpPr/>
          <p:nvPr/>
        </p:nvSpPr>
        <p:spPr>
          <a:xfrm>
            <a:off x="2715465" y="262568"/>
            <a:ext cx="4188824" cy="2110955"/>
          </a:xfrm>
          <a:prstGeom prst="cloudCallout">
            <a:avLst/>
          </a:prstGeom>
          <a:solidFill>
            <a:srgbClr val="6DB2D2"/>
          </a:solidFill>
          <a:ln>
            <a:solidFill>
              <a:srgbClr val="0095D4">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Can I send accurate and correct information?</a:t>
            </a:r>
          </a:p>
        </p:txBody>
      </p:sp>
      <p:sp>
        <p:nvSpPr>
          <p:cNvPr id="10" name="Slide Number Placeholder 9">
            <a:extLst>
              <a:ext uri="{FF2B5EF4-FFF2-40B4-BE49-F238E27FC236}">
                <a16:creationId xmlns:a16="http://schemas.microsoft.com/office/drawing/2014/main" id="{006E610B-322B-2FA2-760B-A1C3E3B0B6A7}"/>
              </a:ext>
            </a:extLst>
          </p:cNvPr>
          <p:cNvSpPr>
            <a:spLocks noGrp="1"/>
          </p:cNvSpPr>
          <p:nvPr>
            <p:ph type="sldNum" sz="quarter" idx="12"/>
          </p:nvPr>
        </p:nvSpPr>
        <p:spPr/>
        <p:txBody>
          <a:bodyPr/>
          <a:lstStyle/>
          <a:p>
            <a:fld id="{4544B810-10F2-2E49-94DF-FA7BE986B6B9}" type="slidenum">
              <a:rPr lang="en-US" smtClean="0"/>
              <a:t>34</a:t>
            </a:fld>
            <a:endParaRPr lang="en-US"/>
          </a:p>
        </p:txBody>
      </p:sp>
    </p:spTree>
    <p:extLst>
      <p:ext uri="{BB962C8B-B14F-4D97-AF65-F5344CB8AC3E}">
        <p14:creationId xmlns:p14="http://schemas.microsoft.com/office/powerpoint/2010/main" val="15532676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145C4-252C-18B9-F145-3E2F074C8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190F5-33D5-09CC-2C72-69E59C444910}"/>
              </a:ext>
            </a:extLst>
          </p:cNvPr>
          <p:cNvSpPr>
            <a:spLocks noGrp="1"/>
          </p:cNvSpPr>
          <p:nvPr>
            <p:ph type="title"/>
          </p:nvPr>
        </p:nvSpPr>
        <p:spPr/>
        <p:txBody>
          <a:bodyPr/>
          <a:lstStyle/>
          <a:p>
            <a:r>
              <a:rPr lang="en-US" dirty="0"/>
              <a:t>Aggregation problems</a:t>
            </a:r>
          </a:p>
        </p:txBody>
      </p:sp>
      <p:pic>
        <p:nvPicPr>
          <p:cNvPr id="22" name="Picture 21" descr="Simple User Icon transparent PNG - StickPNG">
            <a:extLst>
              <a:ext uri="{FF2B5EF4-FFF2-40B4-BE49-F238E27FC236}">
                <a16:creationId xmlns:a16="http://schemas.microsoft.com/office/drawing/2014/main" id="{91A45B57-97E5-C3F2-8024-0A5619AC6C57}"/>
              </a:ext>
            </a:extLst>
          </p:cNvPr>
          <p:cNvPicPr>
            <a:picLocks noChangeAspect="1"/>
          </p:cNvPicPr>
          <p:nvPr/>
        </p:nvPicPr>
        <p:blipFill>
          <a:blip r:embed="rId2"/>
          <a:stretch>
            <a:fillRect/>
          </a:stretch>
        </p:blipFill>
        <p:spPr>
          <a:xfrm>
            <a:off x="7294179" y="2240601"/>
            <a:ext cx="2182356" cy="2182356"/>
          </a:xfrm>
          <a:prstGeom prst="rect">
            <a:avLst/>
          </a:prstGeom>
        </p:spPr>
      </p:pic>
      <p:cxnSp>
        <p:nvCxnSpPr>
          <p:cNvPr id="24" name="Straight Connector 23">
            <a:extLst>
              <a:ext uri="{FF2B5EF4-FFF2-40B4-BE49-F238E27FC236}">
                <a16:creationId xmlns:a16="http://schemas.microsoft.com/office/drawing/2014/main" id="{287A4D1F-D599-85A1-A91B-78B1502A2FD2}"/>
              </a:ext>
            </a:extLst>
          </p:cNvPr>
          <p:cNvCxnSpPr/>
          <p:nvPr/>
        </p:nvCxnSpPr>
        <p:spPr>
          <a:xfrm>
            <a:off x="4372303" y="3331779"/>
            <a:ext cx="2921876" cy="0"/>
          </a:xfrm>
          <a:prstGeom prst="line">
            <a:avLst/>
          </a:prstGeom>
          <a:ln w="38100"/>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7122BB56-83FE-B62A-9106-98363528BC6F}"/>
              </a:ext>
            </a:extLst>
          </p:cNvPr>
          <p:cNvSpPr txBox="1"/>
          <p:nvPr/>
        </p:nvSpPr>
        <p:spPr>
          <a:xfrm>
            <a:off x="4319751" y="2432164"/>
            <a:ext cx="2921876" cy="400110"/>
          </a:xfrm>
          <a:prstGeom prst="rect">
            <a:avLst/>
          </a:prstGeom>
          <a:noFill/>
        </p:spPr>
        <p:txBody>
          <a:bodyPr wrap="square">
            <a:spAutoFit/>
          </a:bodyPr>
          <a:lstStyle/>
          <a:p>
            <a:pPr algn="ctr"/>
            <a:r>
              <a:rPr lang="en-US" sz="2000" dirty="0"/>
              <a:t>Compress our model</a:t>
            </a:r>
          </a:p>
        </p:txBody>
      </p:sp>
      <p:pic>
        <p:nvPicPr>
          <p:cNvPr id="3" name="Picture 2">
            <a:extLst>
              <a:ext uri="{FF2B5EF4-FFF2-40B4-BE49-F238E27FC236}">
                <a16:creationId xmlns:a16="http://schemas.microsoft.com/office/drawing/2014/main" id="{C41AB090-917D-5AC8-E32C-22DF69E553F1}"/>
              </a:ext>
            </a:extLst>
          </p:cNvPr>
          <p:cNvPicPr>
            <a:picLocks noChangeAspect="1"/>
          </p:cNvPicPr>
          <p:nvPr/>
        </p:nvPicPr>
        <p:blipFill>
          <a:blip r:embed="rId3">
            <a:duotone>
              <a:schemeClr val="accent2">
                <a:shade val="45000"/>
                <a:satMod val="135000"/>
              </a:schemeClr>
              <a:prstClr val="white"/>
            </a:duotone>
          </a:blip>
          <a:stretch/>
        </p:blipFill>
        <p:spPr>
          <a:xfrm>
            <a:off x="839788" y="2332768"/>
            <a:ext cx="3731685" cy="2058658"/>
          </a:xfrm>
          <a:prstGeom prst="rect">
            <a:avLst/>
          </a:prstGeom>
        </p:spPr>
      </p:pic>
      <p:pic>
        <p:nvPicPr>
          <p:cNvPr id="4" name="Picture 3">
            <a:extLst>
              <a:ext uri="{FF2B5EF4-FFF2-40B4-BE49-F238E27FC236}">
                <a16:creationId xmlns:a16="http://schemas.microsoft.com/office/drawing/2014/main" id="{C8142A42-3C5D-F735-9C3F-F30D9B90B9B7}"/>
              </a:ext>
            </a:extLst>
          </p:cNvPr>
          <p:cNvPicPr>
            <a:picLocks noChangeAspect="1"/>
          </p:cNvPicPr>
          <p:nvPr/>
        </p:nvPicPr>
        <p:blipFill>
          <a:blip r:embed="rId4">
            <a:duotone>
              <a:srgbClr val="E97132">
                <a:shade val="45000"/>
                <a:satMod val="135000"/>
              </a:srgbClr>
              <a:prstClr val="white"/>
            </a:duotone>
          </a:blip>
          <a:stretch/>
        </p:blipFill>
        <p:spPr>
          <a:xfrm>
            <a:off x="4295665" y="3526221"/>
            <a:ext cx="3075151" cy="2424639"/>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0FF75C8-26CA-0EC1-3905-827C00077A97}"/>
                  </a:ext>
                </a:extLst>
              </p:cNvPr>
              <p:cNvSpPr/>
              <p:nvPr/>
            </p:nvSpPr>
            <p:spPr>
              <a:xfrm>
                <a:off x="8151223" y="4937761"/>
                <a:ext cx="3631474" cy="849086"/>
              </a:xfrm>
              <a:prstGeom prst="rect">
                <a:avLst/>
              </a:prstGeom>
              <a:solidFill>
                <a:srgbClr val="F44235">
                  <a:alpha val="35686"/>
                </a:srgb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g</a:t>
                </a:r>
                <a:r>
                  <a:rPr lang="en-US" baseline="-25000" dirty="0"/>
                  <a:t>3</a:t>
                </a:r>
                <a:r>
                  <a:rPr lang="en-US" dirty="0"/>
                  <a:t> = 3, g</a:t>
                </a:r>
                <a:r>
                  <a:rPr lang="en-US" baseline="-25000" dirty="0"/>
                  <a:t>5</a:t>
                </a:r>
                <a:r>
                  <a:rPr lang="en-US" dirty="0"/>
                  <a:t> = -3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g</a:t>
                </a:r>
                <a:r>
                  <a:rPr lang="en-US" baseline="-25000" dirty="0"/>
                  <a:t>3 </a:t>
                </a:r>
                <a:r>
                  <a:rPr lang="en-US" dirty="0"/>
                  <a:t>+ g</a:t>
                </a:r>
                <a:r>
                  <a:rPr lang="en-US" baseline="-25000" dirty="0"/>
                  <a:t>5 </a:t>
                </a:r>
                <a:r>
                  <a:rPr lang="en-US" dirty="0"/>
                  <a:t>= 0  </a:t>
                </a:r>
              </a:p>
            </p:txBody>
          </p:sp>
        </mc:Choice>
        <mc:Fallback xmlns="">
          <p:sp>
            <p:nvSpPr>
              <p:cNvPr id="5" name="Rectangle 4">
                <a:extLst>
                  <a:ext uri="{FF2B5EF4-FFF2-40B4-BE49-F238E27FC236}">
                    <a16:creationId xmlns:a16="http://schemas.microsoft.com/office/drawing/2014/main" id="{B7728DAC-F3A8-ED63-7527-77CCE415273A}"/>
                  </a:ext>
                </a:extLst>
              </p:cNvPr>
              <p:cNvSpPr>
                <a:spLocks noRot="1" noChangeAspect="1" noMove="1" noResize="1" noEditPoints="1" noAdjustHandles="1" noChangeArrowheads="1" noChangeShapeType="1" noTextEdit="1"/>
              </p:cNvSpPr>
              <p:nvPr/>
            </p:nvSpPr>
            <p:spPr>
              <a:xfrm>
                <a:off x="8151223" y="4937761"/>
                <a:ext cx="3631474" cy="849086"/>
              </a:xfrm>
              <a:prstGeom prst="rect">
                <a:avLst/>
              </a:prstGeom>
              <a:blipFill>
                <a:blip r:embed="rId5"/>
                <a:stretch>
                  <a:fillRect/>
                </a:stretch>
              </a:blipFill>
            </p:spPr>
            <p:txBody>
              <a:bodyPr/>
              <a:lstStyle/>
              <a:p>
                <a:r>
                  <a:rPr lang="en-US">
                    <a:noFill/>
                  </a:rPr>
                  <a:t> </a:t>
                </a:r>
              </a:p>
            </p:txBody>
          </p:sp>
        </mc:Fallback>
      </mc:AlternateContent>
      <p:pic>
        <p:nvPicPr>
          <p:cNvPr id="6" name="Picture 5" descr="🚨 Police Car Light Emoji: Meaning &amp; Usage">
            <a:extLst>
              <a:ext uri="{FF2B5EF4-FFF2-40B4-BE49-F238E27FC236}">
                <a16:creationId xmlns:a16="http://schemas.microsoft.com/office/drawing/2014/main" id="{AA268C32-00A5-496B-4AA5-B05385E07416}"/>
              </a:ext>
            </a:extLst>
          </p:cNvPr>
          <p:cNvPicPr>
            <a:picLocks noChangeAspect="1"/>
          </p:cNvPicPr>
          <p:nvPr/>
        </p:nvPicPr>
        <p:blipFill>
          <a:blip r:embed="rId6"/>
          <a:stretch>
            <a:fillRect/>
          </a:stretch>
        </p:blipFill>
        <p:spPr>
          <a:xfrm>
            <a:off x="7539565" y="5269560"/>
            <a:ext cx="1223315" cy="1223315"/>
          </a:xfrm>
          <a:prstGeom prst="rect">
            <a:avLst/>
          </a:prstGeom>
        </p:spPr>
      </p:pic>
      <p:pic>
        <p:nvPicPr>
          <p:cNvPr id="8" name="Picture 7" descr="🚨 Police Car Light Emoji: Meaning &amp; Usage">
            <a:extLst>
              <a:ext uri="{FF2B5EF4-FFF2-40B4-BE49-F238E27FC236}">
                <a16:creationId xmlns:a16="http://schemas.microsoft.com/office/drawing/2014/main" id="{17A411A0-28A4-9C55-F9C2-A8E72F7F64D4}"/>
              </a:ext>
            </a:extLst>
          </p:cNvPr>
          <p:cNvPicPr>
            <a:picLocks noChangeAspect="1"/>
          </p:cNvPicPr>
          <p:nvPr/>
        </p:nvPicPr>
        <p:blipFill>
          <a:blip r:embed="rId6"/>
          <a:stretch>
            <a:fillRect/>
          </a:stretch>
        </p:blipFill>
        <p:spPr>
          <a:xfrm>
            <a:off x="11170043" y="4046245"/>
            <a:ext cx="1223315" cy="1223315"/>
          </a:xfrm>
          <a:prstGeom prst="rect">
            <a:avLst/>
          </a:prstGeom>
        </p:spPr>
      </p:pic>
      <p:sp>
        <p:nvSpPr>
          <p:cNvPr id="7" name="Cloud Callout 6">
            <a:extLst>
              <a:ext uri="{FF2B5EF4-FFF2-40B4-BE49-F238E27FC236}">
                <a16:creationId xmlns:a16="http://schemas.microsoft.com/office/drawing/2014/main" id="{F12F7EB2-CA2B-7176-CD6B-2C4709C4F401}"/>
              </a:ext>
            </a:extLst>
          </p:cNvPr>
          <p:cNvSpPr/>
          <p:nvPr/>
        </p:nvSpPr>
        <p:spPr>
          <a:xfrm>
            <a:off x="7855130" y="221813"/>
            <a:ext cx="4188824" cy="2110955"/>
          </a:xfrm>
          <a:prstGeom prst="cloudCallout">
            <a:avLst/>
          </a:prstGeom>
          <a:solidFill>
            <a:srgbClr val="6DB2D2"/>
          </a:solidFill>
          <a:ln>
            <a:solidFill>
              <a:srgbClr val="0095D4">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Given my knowledge of the model, </a:t>
            </a:r>
            <a:r>
              <a:rPr lang="en-GB" dirty="0"/>
              <a:t>is the relation I care about TRUE?</a:t>
            </a:r>
          </a:p>
        </p:txBody>
      </p:sp>
      <p:sp>
        <p:nvSpPr>
          <p:cNvPr id="9" name="Cloud Callout 8">
            <a:extLst>
              <a:ext uri="{FF2B5EF4-FFF2-40B4-BE49-F238E27FC236}">
                <a16:creationId xmlns:a16="http://schemas.microsoft.com/office/drawing/2014/main" id="{41C3FCD8-3101-1E95-D83D-E803BDD0A0CE}"/>
              </a:ext>
            </a:extLst>
          </p:cNvPr>
          <p:cNvSpPr/>
          <p:nvPr/>
        </p:nvSpPr>
        <p:spPr>
          <a:xfrm>
            <a:off x="2715465" y="262568"/>
            <a:ext cx="4188824" cy="2110955"/>
          </a:xfrm>
          <a:prstGeom prst="cloudCallout">
            <a:avLst/>
          </a:prstGeom>
          <a:solidFill>
            <a:srgbClr val="6DB2D2"/>
          </a:solidFill>
          <a:ln>
            <a:solidFill>
              <a:srgbClr val="0095D4">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Can I send accurate and correct information?</a:t>
            </a:r>
          </a:p>
        </p:txBody>
      </p:sp>
      <p:sp>
        <p:nvSpPr>
          <p:cNvPr id="10" name="Rectangle 9">
            <a:extLst>
              <a:ext uri="{FF2B5EF4-FFF2-40B4-BE49-F238E27FC236}">
                <a16:creationId xmlns:a16="http://schemas.microsoft.com/office/drawing/2014/main" id="{5726DB00-5A48-9C60-DFE5-7D8131F52540}"/>
              </a:ext>
            </a:extLst>
          </p:cNvPr>
          <p:cNvSpPr/>
          <p:nvPr/>
        </p:nvSpPr>
        <p:spPr>
          <a:xfrm rot="19658379">
            <a:off x="2383825" y="2436682"/>
            <a:ext cx="8358054" cy="2127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LET’S PLAY SOME GAMES</a:t>
            </a:r>
          </a:p>
        </p:txBody>
      </p:sp>
      <p:sp>
        <p:nvSpPr>
          <p:cNvPr id="11" name="Slide Number Placeholder 10">
            <a:extLst>
              <a:ext uri="{FF2B5EF4-FFF2-40B4-BE49-F238E27FC236}">
                <a16:creationId xmlns:a16="http://schemas.microsoft.com/office/drawing/2014/main" id="{B941D1E5-1D9C-65FC-157F-9A17B3BD0096}"/>
              </a:ext>
            </a:extLst>
          </p:cNvPr>
          <p:cNvSpPr>
            <a:spLocks noGrp="1"/>
          </p:cNvSpPr>
          <p:nvPr>
            <p:ph type="sldNum" sz="quarter" idx="12"/>
          </p:nvPr>
        </p:nvSpPr>
        <p:spPr/>
        <p:txBody>
          <a:bodyPr/>
          <a:lstStyle/>
          <a:p>
            <a:fld id="{4544B810-10F2-2E49-94DF-FA7BE986B6B9}" type="slidenum">
              <a:rPr lang="en-US" smtClean="0"/>
              <a:t>35</a:t>
            </a:fld>
            <a:endParaRPr lang="en-US"/>
          </a:p>
        </p:txBody>
      </p:sp>
    </p:spTree>
    <p:extLst>
      <p:ext uri="{BB962C8B-B14F-4D97-AF65-F5344CB8AC3E}">
        <p14:creationId xmlns:p14="http://schemas.microsoft.com/office/powerpoint/2010/main" val="18161653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4CB75-59CD-DF8D-3997-548612481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1A9F9-0D8F-A023-16C5-5477322F40AF}"/>
              </a:ext>
            </a:extLst>
          </p:cNvPr>
          <p:cNvSpPr>
            <a:spLocks noGrp="1"/>
          </p:cNvSpPr>
          <p:nvPr>
            <p:ph type="title"/>
          </p:nvPr>
        </p:nvSpPr>
        <p:spPr/>
        <p:txBody>
          <a:bodyPr/>
          <a:lstStyle/>
          <a:p>
            <a:r>
              <a:rPr lang="en-GB" dirty="0"/>
              <a:t>Margin conflict detection</a:t>
            </a:r>
          </a:p>
        </p:txBody>
      </p:sp>
      <p:sp>
        <p:nvSpPr>
          <p:cNvPr id="29" name="Rectangle 28">
            <a:extLst>
              <a:ext uri="{FF2B5EF4-FFF2-40B4-BE49-F238E27FC236}">
                <a16:creationId xmlns:a16="http://schemas.microsoft.com/office/drawing/2014/main" id="{2C0D46FA-FEA9-A3E7-038A-A584BE2EC79A}"/>
              </a:ext>
            </a:extLst>
          </p:cNvPr>
          <p:cNvSpPr/>
          <p:nvPr/>
        </p:nvSpPr>
        <p:spPr>
          <a:xfrm>
            <a:off x="3437468" y="3533173"/>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30" name="Rectangle 29">
            <a:extLst>
              <a:ext uri="{FF2B5EF4-FFF2-40B4-BE49-F238E27FC236}">
                <a16:creationId xmlns:a16="http://schemas.microsoft.com/office/drawing/2014/main" id="{EC5179D0-AE7D-A367-6F7E-15119A46B136}"/>
              </a:ext>
            </a:extLst>
          </p:cNvPr>
          <p:cNvSpPr/>
          <p:nvPr/>
        </p:nvSpPr>
        <p:spPr>
          <a:xfrm>
            <a:off x="7005279" y="3533173"/>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31" name="Straight Connector 30">
            <a:extLst>
              <a:ext uri="{FF2B5EF4-FFF2-40B4-BE49-F238E27FC236}">
                <a16:creationId xmlns:a16="http://schemas.microsoft.com/office/drawing/2014/main" id="{C6B3DB3D-D8A4-2D64-0B8C-889D5174EBCF}"/>
              </a:ext>
            </a:extLst>
          </p:cNvPr>
          <p:cNvCxnSpPr>
            <a:stCxn id="29" idx="3"/>
            <a:endCxn id="30" idx="1"/>
          </p:cNvCxnSpPr>
          <p:nvPr/>
        </p:nvCxnSpPr>
        <p:spPr>
          <a:xfrm>
            <a:off x="4786714" y="4195955"/>
            <a:ext cx="2218565"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34" name="Cloud Callout 33">
            <a:extLst>
              <a:ext uri="{FF2B5EF4-FFF2-40B4-BE49-F238E27FC236}">
                <a16:creationId xmlns:a16="http://schemas.microsoft.com/office/drawing/2014/main" id="{6F8CFB9C-E88A-11F3-320D-04C9274FA265}"/>
              </a:ext>
            </a:extLst>
          </p:cNvPr>
          <p:cNvSpPr/>
          <p:nvPr/>
        </p:nvSpPr>
        <p:spPr>
          <a:xfrm>
            <a:off x="6778766" y="182562"/>
            <a:ext cx="3151517" cy="1690688"/>
          </a:xfrm>
          <a:prstGeom prst="cloudCallout">
            <a:avLst/>
          </a:prstGeom>
          <a:solidFill>
            <a:srgbClr val="6DB2D2"/>
          </a:solidFill>
          <a:ln>
            <a:solidFill>
              <a:srgbClr val="0095D4">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Can I send accurate and correct information?</a:t>
            </a:r>
          </a:p>
        </p:txBody>
      </p:sp>
      <p:pic>
        <p:nvPicPr>
          <p:cNvPr id="6" name="Picture 5">
            <a:extLst>
              <a:ext uri="{FF2B5EF4-FFF2-40B4-BE49-F238E27FC236}">
                <a16:creationId xmlns:a16="http://schemas.microsoft.com/office/drawing/2014/main" id="{BF2DA27D-2873-866D-9BC9-A04D00938E63}"/>
              </a:ext>
            </a:extLst>
          </p:cNvPr>
          <p:cNvPicPr>
            <a:picLocks noChangeAspect="1"/>
          </p:cNvPicPr>
          <p:nvPr/>
        </p:nvPicPr>
        <p:blipFill>
          <a:blip r:embed="rId2">
            <a:duotone>
              <a:schemeClr val="accent2">
                <a:shade val="45000"/>
                <a:satMod val="135000"/>
              </a:schemeClr>
              <a:prstClr val="white"/>
            </a:duotone>
          </a:blip>
          <a:stretch/>
        </p:blipFill>
        <p:spPr>
          <a:xfrm>
            <a:off x="3054361" y="5375659"/>
            <a:ext cx="2402817" cy="1325562"/>
          </a:xfrm>
          <a:prstGeom prst="rect">
            <a:avLst/>
          </a:prstGeom>
        </p:spPr>
      </p:pic>
      <p:pic>
        <p:nvPicPr>
          <p:cNvPr id="7" name="Picture 6">
            <a:extLst>
              <a:ext uri="{FF2B5EF4-FFF2-40B4-BE49-F238E27FC236}">
                <a16:creationId xmlns:a16="http://schemas.microsoft.com/office/drawing/2014/main" id="{BC57E547-5EE6-3BB3-AAF2-ACB3568D08C6}"/>
              </a:ext>
            </a:extLst>
          </p:cNvPr>
          <p:cNvPicPr>
            <a:picLocks noChangeAspect="1"/>
          </p:cNvPicPr>
          <p:nvPr/>
        </p:nvPicPr>
        <p:blipFill>
          <a:blip r:embed="rId2">
            <a:duotone>
              <a:schemeClr val="accent5">
                <a:shade val="45000"/>
                <a:satMod val="135000"/>
              </a:schemeClr>
              <a:prstClr val="white"/>
            </a:duotone>
          </a:blip>
          <a:stretch/>
        </p:blipFill>
        <p:spPr>
          <a:xfrm>
            <a:off x="6362501" y="5223860"/>
            <a:ext cx="2677981" cy="1477361"/>
          </a:xfrm>
          <a:prstGeom prst="rect">
            <a:avLst/>
          </a:prstGeom>
        </p:spPr>
      </p:pic>
      <p:sp>
        <p:nvSpPr>
          <p:cNvPr id="8" name="Not Equal 7">
            <a:extLst>
              <a:ext uri="{FF2B5EF4-FFF2-40B4-BE49-F238E27FC236}">
                <a16:creationId xmlns:a16="http://schemas.microsoft.com/office/drawing/2014/main" id="{FDA887C4-B72D-F4D6-BF8A-F7E2EBA98A8F}"/>
              </a:ext>
            </a:extLst>
          </p:cNvPr>
          <p:cNvSpPr/>
          <p:nvPr/>
        </p:nvSpPr>
        <p:spPr>
          <a:xfrm>
            <a:off x="5217171" y="5707049"/>
            <a:ext cx="1385337" cy="662781"/>
          </a:xfrm>
          <a:prstGeom prst="mathNotEqual">
            <a:avLst/>
          </a:prstGeom>
          <a:solidFill>
            <a:srgbClr val="F442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Slide Number Placeholder 8">
            <a:extLst>
              <a:ext uri="{FF2B5EF4-FFF2-40B4-BE49-F238E27FC236}">
                <a16:creationId xmlns:a16="http://schemas.microsoft.com/office/drawing/2014/main" id="{E87B9017-E8A2-0D98-3BB5-A8D6050F89CA}"/>
              </a:ext>
            </a:extLst>
          </p:cNvPr>
          <p:cNvSpPr>
            <a:spLocks noGrp="1"/>
          </p:cNvSpPr>
          <p:nvPr>
            <p:ph type="sldNum" sz="quarter" idx="12"/>
          </p:nvPr>
        </p:nvSpPr>
        <p:spPr/>
        <p:txBody>
          <a:bodyPr/>
          <a:lstStyle/>
          <a:p>
            <a:fld id="{4544B810-10F2-2E49-94DF-FA7BE986B6B9}" type="slidenum">
              <a:rPr lang="en-US" smtClean="0"/>
              <a:t>36</a:t>
            </a:fld>
            <a:endParaRPr lang="en-US"/>
          </a:p>
        </p:txBody>
      </p:sp>
      <p:sp>
        <p:nvSpPr>
          <p:cNvPr id="3" name="Cloud Callout 2">
            <a:extLst>
              <a:ext uri="{FF2B5EF4-FFF2-40B4-BE49-F238E27FC236}">
                <a16:creationId xmlns:a16="http://schemas.microsoft.com/office/drawing/2014/main" id="{95BA5514-CC7D-981C-1715-1925A88467D3}"/>
              </a:ext>
            </a:extLst>
          </p:cNvPr>
          <p:cNvSpPr/>
          <p:nvPr/>
        </p:nvSpPr>
        <p:spPr>
          <a:xfrm>
            <a:off x="9153666" y="2160396"/>
            <a:ext cx="3151517" cy="1690688"/>
          </a:xfrm>
          <a:prstGeom prst="cloudCallout">
            <a:avLst/>
          </a:prstGeom>
          <a:solidFill>
            <a:srgbClr val="6DB2D2"/>
          </a:solidFill>
          <a:ln>
            <a:solidFill>
              <a:srgbClr val="0095D4">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Are our gradients pulling together or cancelling?</a:t>
            </a:r>
          </a:p>
        </p:txBody>
      </p:sp>
      <p:cxnSp>
        <p:nvCxnSpPr>
          <p:cNvPr id="5" name="Straight Arrow Connector 4">
            <a:extLst>
              <a:ext uri="{FF2B5EF4-FFF2-40B4-BE49-F238E27FC236}">
                <a16:creationId xmlns:a16="http://schemas.microsoft.com/office/drawing/2014/main" id="{BDF9401B-E115-04EF-93F8-C95E88C8AADE}"/>
              </a:ext>
            </a:extLst>
          </p:cNvPr>
          <p:cNvCxnSpPr/>
          <p:nvPr/>
        </p:nvCxnSpPr>
        <p:spPr>
          <a:xfrm>
            <a:off x="9207500" y="1333500"/>
            <a:ext cx="1181100" cy="1028700"/>
          </a:xfrm>
          <a:prstGeom prst="straightConnector1">
            <a:avLst/>
          </a:prstGeom>
          <a:ln w="57150">
            <a:solidFill>
              <a:schemeClr val="tx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97947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51E8D-6813-B83B-66A7-FA7A1F727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06083-C46D-548F-B990-03CF0F86EA47}"/>
              </a:ext>
            </a:extLst>
          </p:cNvPr>
          <p:cNvSpPr>
            <a:spLocks noGrp="1"/>
          </p:cNvSpPr>
          <p:nvPr>
            <p:ph type="title"/>
          </p:nvPr>
        </p:nvSpPr>
        <p:spPr/>
        <p:txBody>
          <a:bodyPr/>
          <a:lstStyle/>
          <a:p>
            <a:r>
              <a:rPr lang="en-GB" dirty="0"/>
              <a:t>Margin conflict detection</a:t>
            </a:r>
            <a:endParaRPr lang="en-US" dirty="0"/>
          </a:p>
        </p:txBody>
      </p:sp>
      <p:sp>
        <p:nvSpPr>
          <p:cNvPr id="29" name="Rectangle 28">
            <a:extLst>
              <a:ext uri="{FF2B5EF4-FFF2-40B4-BE49-F238E27FC236}">
                <a16:creationId xmlns:a16="http://schemas.microsoft.com/office/drawing/2014/main" id="{94D1ECA3-25BA-472B-039C-A32C4B70EB93}"/>
              </a:ext>
            </a:extLst>
          </p:cNvPr>
          <p:cNvSpPr/>
          <p:nvPr/>
        </p:nvSpPr>
        <p:spPr>
          <a:xfrm>
            <a:off x="3657601" y="4367870"/>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30" name="Rectangle 29">
            <a:extLst>
              <a:ext uri="{FF2B5EF4-FFF2-40B4-BE49-F238E27FC236}">
                <a16:creationId xmlns:a16="http://schemas.microsoft.com/office/drawing/2014/main" id="{AACD4546-4878-2BF9-A60E-B26822B87B94}"/>
              </a:ext>
            </a:extLst>
          </p:cNvPr>
          <p:cNvSpPr/>
          <p:nvPr/>
        </p:nvSpPr>
        <p:spPr>
          <a:xfrm>
            <a:off x="7225412" y="4367870"/>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31" name="Straight Connector 30">
            <a:extLst>
              <a:ext uri="{FF2B5EF4-FFF2-40B4-BE49-F238E27FC236}">
                <a16:creationId xmlns:a16="http://schemas.microsoft.com/office/drawing/2014/main" id="{7B96D3DF-391A-B786-67D7-530D9A776D41}"/>
              </a:ext>
            </a:extLst>
          </p:cNvPr>
          <p:cNvCxnSpPr>
            <a:stCxn id="29" idx="3"/>
            <a:endCxn id="30" idx="1"/>
          </p:cNvCxnSpPr>
          <p:nvPr/>
        </p:nvCxnSpPr>
        <p:spPr>
          <a:xfrm>
            <a:off x="5006847" y="5030652"/>
            <a:ext cx="2218565"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3AC93DC-C38F-5D05-2F1E-9739387D8743}"/>
              </a:ext>
            </a:extLst>
          </p:cNvPr>
          <p:cNvSpPr txBox="1"/>
          <p:nvPr/>
        </p:nvSpPr>
        <p:spPr>
          <a:xfrm>
            <a:off x="244565" y="1596515"/>
            <a:ext cx="11947435" cy="461665"/>
          </a:xfrm>
          <a:prstGeom prst="rect">
            <a:avLst/>
          </a:prstGeom>
          <a:noFill/>
        </p:spPr>
        <p:txBody>
          <a:bodyPr wrap="square">
            <a:spAutoFit/>
          </a:bodyPr>
          <a:lstStyle/>
          <a:p>
            <a:pPr algn="ctr"/>
            <a:r>
              <a:rPr lang="en-GB" sz="2400" i="1" dirty="0">
                <a:solidFill>
                  <a:srgbClr val="FF0000"/>
                </a:solidFill>
              </a:rPr>
              <a:t>Can our two gradients be safely merged, or will averaging them cancel the signal?</a:t>
            </a:r>
            <a:endParaRPr lang="en-US" sz="2400" i="1" dirty="0">
              <a:solidFill>
                <a:srgbClr val="FF0000"/>
              </a:solidFill>
            </a:endParaRPr>
          </a:p>
        </p:txBody>
      </p:sp>
      <p:sp>
        <p:nvSpPr>
          <p:cNvPr id="7" name="TextBox 6">
            <a:extLst>
              <a:ext uri="{FF2B5EF4-FFF2-40B4-BE49-F238E27FC236}">
                <a16:creationId xmlns:a16="http://schemas.microsoft.com/office/drawing/2014/main" id="{71A225A2-6618-3681-34A0-3CB478626EE4}"/>
              </a:ext>
            </a:extLst>
          </p:cNvPr>
          <p:cNvSpPr txBox="1"/>
          <p:nvPr/>
        </p:nvSpPr>
        <p:spPr>
          <a:xfrm>
            <a:off x="3985404" y="3759557"/>
            <a:ext cx="1021443" cy="461665"/>
          </a:xfrm>
          <a:prstGeom prst="rect">
            <a:avLst/>
          </a:prstGeom>
          <a:noFill/>
        </p:spPr>
        <p:txBody>
          <a:bodyPr wrap="square">
            <a:spAutoFit/>
          </a:bodyPr>
          <a:lstStyle/>
          <a:p>
            <a:r>
              <a:rPr lang="en-US" sz="2400" dirty="0" err="1">
                <a:highlight>
                  <a:srgbClr val="FFFF00"/>
                </a:highlight>
              </a:rPr>
              <a:t>g</a:t>
            </a:r>
            <a:r>
              <a:rPr lang="en-US" sz="2400" baseline="-25000" dirty="0" err="1">
                <a:highlight>
                  <a:srgbClr val="FFFF00"/>
                </a:highlight>
              </a:rPr>
              <a:t>x</a:t>
            </a:r>
            <a:r>
              <a:rPr lang="en-US" sz="2400" baseline="30000" dirty="0" err="1">
                <a:highlight>
                  <a:srgbClr val="FFFF00"/>
                </a:highlight>
              </a:rPr>
              <a:t>A</a:t>
            </a:r>
            <a:endParaRPr lang="en-US" sz="2400" dirty="0">
              <a:highlight>
                <a:srgbClr val="FFFF00"/>
              </a:highlight>
            </a:endParaRPr>
          </a:p>
        </p:txBody>
      </p:sp>
      <p:sp>
        <p:nvSpPr>
          <p:cNvPr id="8" name="TextBox 7">
            <a:extLst>
              <a:ext uri="{FF2B5EF4-FFF2-40B4-BE49-F238E27FC236}">
                <a16:creationId xmlns:a16="http://schemas.microsoft.com/office/drawing/2014/main" id="{6FC8597F-8B1F-BBA7-01BE-8A68CD7478F3}"/>
              </a:ext>
            </a:extLst>
          </p:cNvPr>
          <p:cNvSpPr txBox="1"/>
          <p:nvPr/>
        </p:nvSpPr>
        <p:spPr>
          <a:xfrm>
            <a:off x="7389313" y="3757078"/>
            <a:ext cx="1021443" cy="461665"/>
          </a:xfrm>
          <a:prstGeom prst="rect">
            <a:avLst/>
          </a:prstGeom>
          <a:noFill/>
        </p:spPr>
        <p:txBody>
          <a:bodyPr wrap="square">
            <a:spAutoFit/>
          </a:bodyPr>
          <a:lstStyle/>
          <a:p>
            <a:r>
              <a:rPr lang="en-US" sz="2400" dirty="0" err="1">
                <a:highlight>
                  <a:srgbClr val="FFFF00"/>
                </a:highlight>
              </a:rPr>
              <a:t>g</a:t>
            </a:r>
            <a:r>
              <a:rPr lang="en-US" sz="2400" baseline="-25000" dirty="0" err="1">
                <a:highlight>
                  <a:srgbClr val="FFFF00"/>
                </a:highlight>
              </a:rPr>
              <a:t>x</a:t>
            </a:r>
            <a:r>
              <a:rPr lang="en-US" sz="2400" baseline="30000" dirty="0" err="1">
                <a:highlight>
                  <a:srgbClr val="FFFF00"/>
                </a:highlight>
              </a:rPr>
              <a:t>B</a:t>
            </a:r>
            <a:endParaRPr lang="en-US" sz="2400" dirty="0">
              <a:highlight>
                <a:srgbClr val="FFFF00"/>
              </a:highlight>
            </a:endParaRPr>
          </a:p>
        </p:txBody>
      </p:sp>
      <p:pic>
        <p:nvPicPr>
          <p:cNvPr id="3" name="Picture 2">
            <a:extLst>
              <a:ext uri="{FF2B5EF4-FFF2-40B4-BE49-F238E27FC236}">
                <a16:creationId xmlns:a16="http://schemas.microsoft.com/office/drawing/2014/main" id="{A288E5CE-E0ED-8847-8316-B5BF5B2C29EC}"/>
              </a:ext>
            </a:extLst>
          </p:cNvPr>
          <p:cNvPicPr>
            <a:picLocks noChangeAspect="1"/>
          </p:cNvPicPr>
          <p:nvPr/>
        </p:nvPicPr>
        <p:blipFill>
          <a:blip r:embed="rId2"/>
          <a:stretch>
            <a:fillRect/>
          </a:stretch>
        </p:blipFill>
        <p:spPr>
          <a:xfrm>
            <a:off x="2209800" y="2404256"/>
            <a:ext cx="7772400" cy="948107"/>
          </a:xfrm>
          <a:prstGeom prst="rect">
            <a:avLst/>
          </a:prstGeom>
        </p:spPr>
      </p:pic>
      <p:sp>
        <p:nvSpPr>
          <p:cNvPr id="4" name="Slide Number Placeholder 3">
            <a:extLst>
              <a:ext uri="{FF2B5EF4-FFF2-40B4-BE49-F238E27FC236}">
                <a16:creationId xmlns:a16="http://schemas.microsoft.com/office/drawing/2014/main" id="{A9A8F410-77D3-7276-03DB-FEF180A69651}"/>
              </a:ext>
            </a:extLst>
          </p:cNvPr>
          <p:cNvSpPr>
            <a:spLocks noGrp="1"/>
          </p:cNvSpPr>
          <p:nvPr>
            <p:ph type="sldNum" sz="quarter" idx="12"/>
          </p:nvPr>
        </p:nvSpPr>
        <p:spPr/>
        <p:txBody>
          <a:bodyPr/>
          <a:lstStyle/>
          <a:p>
            <a:fld id="{4544B810-10F2-2E49-94DF-FA7BE986B6B9}" type="slidenum">
              <a:rPr lang="en-US" smtClean="0"/>
              <a:t>37</a:t>
            </a:fld>
            <a:endParaRPr lang="en-US"/>
          </a:p>
        </p:txBody>
      </p:sp>
    </p:spTree>
    <p:extLst>
      <p:ext uri="{BB962C8B-B14F-4D97-AF65-F5344CB8AC3E}">
        <p14:creationId xmlns:p14="http://schemas.microsoft.com/office/powerpoint/2010/main" val="32675465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B0943-4CAC-9F1D-272C-F5978B33D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D8B1C-ED01-67F2-9EBF-CFC9096CF3DE}"/>
              </a:ext>
            </a:extLst>
          </p:cNvPr>
          <p:cNvSpPr>
            <a:spLocks noGrp="1"/>
          </p:cNvSpPr>
          <p:nvPr>
            <p:ph type="title"/>
          </p:nvPr>
        </p:nvSpPr>
        <p:spPr/>
        <p:txBody>
          <a:bodyPr/>
          <a:lstStyle/>
          <a:p>
            <a:r>
              <a:rPr lang="en-GB" dirty="0"/>
              <a:t>Margin conflict detection</a:t>
            </a:r>
            <a:endParaRPr lang="en-US" dirty="0"/>
          </a:p>
        </p:txBody>
      </p:sp>
      <p:sp>
        <p:nvSpPr>
          <p:cNvPr id="8" name="TextBox 7">
            <a:extLst>
              <a:ext uri="{FF2B5EF4-FFF2-40B4-BE49-F238E27FC236}">
                <a16:creationId xmlns:a16="http://schemas.microsoft.com/office/drawing/2014/main" id="{C1761341-211C-25B6-BD27-C0D63A684EFE}"/>
              </a:ext>
            </a:extLst>
          </p:cNvPr>
          <p:cNvSpPr txBox="1"/>
          <p:nvPr/>
        </p:nvSpPr>
        <p:spPr>
          <a:xfrm>
            <a:off x="1921565" y="1624427"/>
            <a:ext cx="2782956" cy="461665"/>
          </a:xfrm>
          <a:prstGeom prst="rect">
            <a:avLst/>
          </a:prstGeom>
          <a:noFill/>
        </p:spPr>
        <p:txBody>
          <a:bodyPr wrap="square" rtlCol="0">
            <a:spAutoFit/>
          </a:bodyPr>
          <a:lstStyle/>
          <a:p>
            <a:pPr algn="ctr"/>
            <a:r>
              <a:rPr lang="en-US" sz="2400" dirty="0"/>
              <a:t>CLASSICAL</a:t>
            </a:r>
          </a:p>
        </p:txBody>
      </p:sp>
      <p:sp>
        <p:nvSpPr>
          <p:cNvPr id="3" name="Rectangle 2">
            <a:extLst>
              <a:ext uri="{FF2B5EF4-FFF2-40B4-BE49-F238E27FC236}">
                <a16:creationId xmlns:a16="http://schemas.microsoft.com/office/drawing/2014/main" id="{58F86EBC-2305-78C2-B51A-DF6DAF570FE2}"/>
              </a:ext>
            </a:extLst>
          </p:cNvPr>
          <p:cNvSpPr/>
          <p:nvPr/>
        </p:nvSpPr>
        <p:spPr>
          <a:xfrm>
            <a:off x="3472071" y="3806480"/>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4" name="Rectangle 3">
            <a:extLst>
              <a:ext uri="{FF2B5EF4-FFF2-40B4-BE49-F238E27FC236}">
                <a16:creationId xmlns:a16="http://schemas.microsoft.com/office/drawing/2014/main" id="{F3150C9C-6A3D-E877-F0B0-C0BF58A435E7}"/>
              </a:ext>
            </a:extLst>
          </p:cNvPr>
          <p:cNvSpPr/>
          <p:nvPr/>
        </p:nvSpPr>
        <p:spPr>
          <a:xfrm>
            <a:off x="7039882" y="3806480"/>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5" name="Straight Connector 4">
            <a:extLst>
              <a:ext uri="{FF2B5EF4-FFF2-40B4-BE49-F238E27FC236}">
                <a16:creationId xmlns:a16="http://schemas.microsoft.com/office/drawing/2014/main" id="{30F95CF8-C1DA-6F85-53D5-2200ED0B0F65}"/>
              </a:ext>
            </a:extLst>
          </p:cNvPr>
          <p:cNvCxnSpPr>
            <a:stCxn id="3" idx="3"/>
            <a:endCxn id="4" idx="1"/>
          </p:cNvCxnSpPr>
          <p:nvPr/>
        </p:nvCxnSpPr>
        <p:spPr>
          <a:xfrm>
            <a:off x="4821317" y="4469262"/>
            <a:ext cx="2218565" cy="0"/>
          </a:xfrm>
          <a:prstGeom prst="line">
            <a:avLst/>
          </a:prstGeom>
          <a:ln w="57150" cap="flat" cmpd="sng" algn="ctr">
            <a:solidFill>
              <a:schemeClr val="accent2">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7CBE983D-316C-0178-E763-6825758FFDA2}"/>
              </a:ext>
            </a:extLst>
          </p:cNvPr>
          <p:cNvSpPr txBox="1"/>
          <p:nvPr/>
        </p:nvSpPr>
        <p:spPr>
          <a:xfrm>
            <a:off x="5560515" y="3575647"/>
            <a:ext cx="1021443" cy="461665"/>
          </a:xfrm>
          <a:prstGeom prst="rect">
            <a:avLst/>
          </a:prstGeom>
          <a:noFill/>
        </p:spPr>
        <p:txBody>
          <a:bodyPr wrap="square">
            <a:spAutoFit/>
          </a:bodyPr>
          <a:lstStyle/>
          <a:p>
            <a:r>
              <a:rPr lang="en-US" sz="2400" dirty="0" err="1">
                <a:highlight>
                  <a:srgbClr val="FFFF00"/>
                </a:highlight>
              </a:rPr>
              <a:t>g</a:t>
            </a:r>
            <a:r>
              <a:rPr lang="en-US" sz="2400" baseline="-25000" dirty="0" err="1">
                <a:highlight>
                  <a:srgbClr val="FFFF00"/>
                </a:highlight>
              </a:rPr>
              <a:t>x</a:t>
            </a:r>
            <a:r>
              <a:rPr lang="en-US" sz="2400" baseline="30000" dirty="0" err="1">
                <a:highlight>
                  <a:srgbClr val="FFFF00"/>
                </a:highlight>
              </a:rPr>
              <a:t>A</a:t>
            </a:r>
            <a:endParaRPr lang="en-US" sz="2400" dirty="0">
              <a:highlight>
                <a:srgbClr val="FFFF00"/>
              </a:highlight>
            </a:endParaRPr>
          </a:p>
        </p:txBody>
      </p:sp>
      <p:sp>
        <p:nvSpPr>
          <p:cNvPr id="10" name="TextBox 9">
            <a:extLst>
              <a:ext uri="{FF2B5EF4-FFF2-40B4-BE49-F238E27FC236}">
                <a16:creationId xmlns:a16="http://schemas.microsoft.com/office/drawing/2014/main" id="{487CB999-EF8F-23C4-1551-2A83841B5672}"/>
              </a:ext>
            </a:extLst>
          </p:cNvPr>
          <p:cNvSpPr txBox="1"/>
          <p:nvPr/>
        </p:nvSpPr>
        <p:spPr>
          <a:xfrm>
            <a:off x="8648269" y="3806479"/>
            <a:ext cx="2311278" cy="1015663"/>
          </a:xfrm>
          <a:prstGeom prst="rect">
            <a:avLst/>
          </a:prstGeom>
          <a:noFill/>
        </p:spPr>
        <p:txBody>
          <a:bodyPr wrap="square">
            <a:spAutoFit/>
          </a:bodyPr>
          <a:lstStyle/>
          <a:p>
            <a:pPr algn="ctr"/>
            <a:r>
              <a:rPr lang="en-US" sz="2000" dirty="0"/>
              <a:t>Has to make some decision about:</a:t>
            </a:r>
          </a:p>
          <a:p>
            <a:pPr algn="ctr"/>
            <a:r>
              <a:rPr lang="en-US" sz="2000" dirty="0" err="1"/>
              <a:t>g</a:t>
            </a:r>
            <a:r>
              <a:rPr lang="en-US" sz="2000" baseline="-25000" dirty="0" err="1"/>
              <a:t>x</a:t>
            </a:r>
            <a:r>
              <a:rPr lang="en-US" sz="2000" baseline="30000" dirty="0" err="1"/>
              <a:t>A</a:t>
            </a:r>
            <a:r>
              <a:rPr lang="en-US" sz="2000" baseline="30000" dirty="0"/>
              <a:t>  </a:t>
            </a:r>
            <a:r>
              <a:rPr lang="en-US" sz="2000" dirty="0"/>
              <a:t>&amp; </a:t>
            </a:r>
            <a:r>
              <a:rPr lang="en-US" sz="2000" dirty="0" err="1"/>
              <a:t>g</a:t>
            </a:r>
            <a:r>
              <a:rPr lang="en-US" sz="2000" baseline="-25000" dirty="0" err="1"/>
              <a:t>x</a:t>
            </a:r>
            <a:r>
              <a:rPr lang="en-US" sz="2000" baseline="30000" dirty="0" err="1"/>
              <a:t>B</a:t>
            </a:r>
            <a:endParaRPr lang="en-US" sz="2000" dirty="0"/>
          </a:p>
        </p:txBody>
      </p:sp>
      <p:sp>
        <p:nvSpPr>
          <p:cNvPr id="11" name="Slide Number Placeholder 10">
            <a:extLst>
              <a:ext uri="{FF2B5EF4-FFF2-40B4-BE49-F238E27FC236}">
                <a16:creationId xmlns:a16="http://schemas.microsoft.com/office/drawing/2014/main" id="{2A5C5B20-AE5A-D1BF-FE54-76EC2CE0427C}"/>
              </a:ext>
            </a:extLst>
          </p:cNvPr>
          <p:cNvSpPr>
            <a:spLocks noGrp="1"/>
          </p:cNvSpPr>
          <p:nvPr>
            <p:ph type="sldNum" sz="quarter" idx="12"/>
          </p:nvPr>
        </p:nvSpPr>
        <p:spPr/>
        <p:txBody>
          <a:bodyPr/>
          <a:lstStyle/>
          <a:p>
            <a:fld id="{4544B810-10F2-2E49-94DF-FA7BE986B6B9}" type="slidenum">
              <a:rPr lang="en-US" smtClean="0"/>
              <a:t>38</a:t>
            </a:fld>
            <a:endParaRPr lang="en-US"/>
          </a:p>
        </p:txBody>
      </p:sp>
    </p:spTree>
    <p:extLst>
      <p:ext uri="{BB962C8B-B14F-4D97-AF65-F5344CB8AC3E}">
        <p14:creationId xmlns:p14="http://schemas.microsoft.com/office/powerpoint/2010/main" val="22664766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F3847-EC45-7845-A6BF-F7BE55B4F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B6ED0-4D2C-11D3-4297-D5CEFFE87141}"/>
              </a:ext>
            </a:extLst>
          </p:cNvPr>
          <p:cNvSpPr>
            <a:spLocks noGrp="1"/>
          </p:cNvSpPr>
          <p:nvPr>
            <p:ph type="title"/>
          </p:nvPr>
        </p:nvSpPr>
        <p:spPr/>
        <p:txBody>
          <a:bodyPr/>
          <a:lstStyle/>
          <a:p>
            <a:r>
              <a:rPr lang="en-GB" dirty="0"/>
              <a:t>Margin conflict detection</a:t>
            </a:r>
            <a:endParaRPr lang="en-US" dirty="0"/>
          </a:p>
        </p:txBody>
      </p:sp>
      <p:sp>
        <p:nvSpPr>
          <p:cNvPr id="8" name="TextBox 7">
            <a:extLst>
              <a:ext uri="{FF2B5EF4-FFF2-40B4-BE49-F238E27FC236}">
                <a16:creationId xmlns:a16="http://schemas.microsoft.com/office/drawing/2014/main" id="{9930A4E9-EDEC-38D8-3069-74C31DFAA560}"/>
              </a:ext>
            </a:extLst>
          </p:cNvPr>
          <p:cNvSpPr txBox="1"/>
          <p:nvPr/>
        </p:nvSpPr>
        <p:spPr>
          <a:xfrm>
            <a:off x="1921565" y="1624427"/>
            <a:ext cx="2782956" cy="461665"/>
          </a:xfrm>
          <a:prstGeom prst="rect">
            <a:avLst/>
          </a:prstGeom>
          <a:noFill/>
        </p:spPr>
        <p:txBody>
          <a:bodyPr wrap="square" rtlCol="0">
            <a:spAutoFit/>
          </a:bodyPr>
          <a:lstStyle/>
          <a:p>
            <a:pPr algn="ctr"/>
            <a:r>
              <a:rPr lang="en-US" sz="2400" dirty="0"/>
              <a:t>CLASSICAL</a:t>
            </a:r>
          </a:p>
        </p:txBody>
      </p:sp>
      <p:sp>
        <p:nvSpPr>
          <p:cNvPr id="3" name="Rectangle 2">
            <a:extLst>
              <a:ext uri="{FF2B5EF4-FFF2-40B4-BE49-F238E27FC236}">
                <a16:creationId xmlns:a16="http://schemas.microsoft.com/office/drawing/2014/main" id="{CF781B81-1738-42AA-255F-63F0BEAE4B2A}"/>
              </a:ext>
            </a:extLst>
          </p:cNvPr>
          <p:cNvSpPr/>
          <p:nvPr/>
        </p:nvSpPr>
        <p:spPr>
          <a:xfrm>
            <a:off x="3472071" y="3806480"/>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4" name="Rectangle 3">
            <a:extLst>
              <a:ext uri="{FF2B5EF4-FFF2-40B4-BE49-F238E27FC236}">
                <a16:creationId xmlns:a16="http://schemas.microsoft.com/office/drawing/2014/main" id="{6F38C543-90DE-C988-28EC-DC8A30C2BCD2}"/>
              </a:ext>
            </a:extLst>
          </p:cNvPr>
          <p:cNvSpPr/>
          <p:nvPr/>
        </p:nvSpPr>
        <p:spPr>
          <a:xfrm>
            <a:off x="7039882" y="3806480"/>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5" name="Straight Connector 4">
            <a:extLst>
              <a:ext uri="{FF2B5EF4-FFF2-40B4-BE49-F238E27FC236}">
                <a16:creationId xmlns:a16="http://schemas.microsoft.com/office/drawing/2014/main" id="{21161FAA-E524-4631-C7EA-5A62AAB6E2E1}"/>
              </a:ext>
            </a:extLst>
          </p:cNvPr>
          <p:cNvCxnSpPr>
            <a:stCxn id="3" idx="3"/>
            <a:endCxn id="4" idx="1"/>
          </p:cNvCxnSpPr>
          <p:nvPr/>
        </p:nvCxnSpPr>
        <p:spPr>
          <a:xfrm>
            <a:off x="4821317" y="4469262"/>
            <a:ext cx="2218565" cy="0"/>
          </a:xfrm>
          <a:prstGeom prst="line">
            <a:avLst/>
          </a:prstGeom>
          <a:ln w="57150" cap="flat" cmpd="sng" algn="ctr">
            <a:solidFill>
              <a:schemeClr val="accent2">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C2D94B0C-02E7-59ED-FF0F-E28FFA4A97C2}"/>
              </a:ext>
            </a:extLst>
          </p:cNvPr>
          <p:cNvSpPr txBox="1"/>
          <p:nvPr/>
        </p:nvSpPr>
        <p:spPr>
          <a:xfrm>
            <a:off x="5585278" y="2182252"/>
            <a:ext cx="1021443" cy="461665"/>
          </a:xfrm>
          <a:prstGeom prst="rect">
            <a:avLst/>
          </a:prstGeom>
          <a:noFill/>
        </p:spPr>
        <p:txBody>
          <a:bodyPr wrap="square">
            <a:spAutoFit/>
          </a:bodyPr>
          <a:lstStyle/>
          <a:p>
            <a:r>
              <a:rPr lang="en-US" sz="2400" dirty="0" err="1">
                <a:highlight>
                  <a:srgbClr val="FFFF00"/>
                </a:highlight>
              </a:rPr>
              <a:t>g</a:t>
            </a:r>
            <a:r>
              <a:rPr lang="en-US" sz="2400" baseline="-25000" dirty="0" err="1">
                <a:highlight>
                  <a:srgbClr val="FFFF00"/>
                </a:highlight>
              </a:rPr>
              <a:t>x</a:t>
            </a:r>
            <a:r>
              <a:rPr lang="en-US" sz="2400" baseline="30000" dirty="0" err="1">
                <a:highlight>
                  <a:srgbClr val="FFFF00"/>
                </a:highlight>
              </a:rPr>
              <a:t>A</a:t>
            </a:r>
            <a:endParaRPr lang="en-US" sz="2400" dirty="0">
              <a:highlight>
                <a:srgbClr val="FFFF00"/>
              </a:highlight>
            </a:endParaRPr>
          </a:p>
        </p:txBody>
      </p:sp>
      <p:sp>
        <p:nvSpPr>
          <p:cNvPr id="10" name="TextBox 9">
            <a:extLst>
              <a:ext uri="{FF2B5EF4-FFF2-40B4-BE49-F238E27FC236}">
                <a16:creationId xmlns:a16="http://schemas.microsoft.com/office/drawing/2014/main" id="{FC6F38F5-C65B-8FE9-A12A-B25F05097BB9}"/>
              </a:ext>
            </a:extLst>
          </p:cNvPr>
          <p:cNvSpPr txBox="1"/>
          <p:nvPr/>
        </p:nvSpPr>
        <p:spPr>
          <a:xfrm>
            <a:off x="8648269" y="3806479"/>
            <a:ext cx="2311278" cy="1015663"/>
          </a:xfrm>
          <a:prstGeom prst="rect">
            <a:avLst/>
          </a:prstGeom>
          <a:noFill/>
        </p:spPr>
        <p:txBody>
          <a:bodyPr wrap="square">
            <a:spAutoFit/>
          </a:bodyPr>
          <a:lstStyle/>
          <a:p>
            <a:pPr algn="ctr"/>
            <a:r>
              <a:rPr lang="en-US" sz="2000" dirty="0"/>
              <a:t>Has to make some decision about:</a:t>
            </a:r>
          </a:p>
          <a:p>
            <a:pPr algn="ctr"/>
            <a:r>
              <a:rPr lang="en-US" sz="2000" dirty="0" err="1"/>
              <a:t>g</a:t>
            </a:r>
            <a:r>
              <a:rPr lang="en-US" sz="2000" baseline="-25000" dirty="0" err="1"/>
              <a:t>x</a:t>
            </a:r>
            <a:r>
              <a:rPr lang="en-US" sz="2000" baseline="30000" dirty="0" err="1"/>
              <a:t>A</a:t>
            </a:r>
            <a:r>
              <a:rPr lang="en-US" sz="2000" baseline="30000" dirty="0"/>
              <a:t>  </a:t>
            </a:r>
            <a:r>
              <a:rPr lang="en-US" sz="2000" dirty="0"/>
              <a:t>&amp; </a:t>
            </a:r>
            <a:r>
              <a:rPr lang="en-US" sz="2000" dirty="0" err="1"/>
              <a:t>g</a:t>
            </a:r>
            <a:r>
              <a:rPr lang="en-US" sz="2000" baseline="-25000" dirty="0" err="1"/>
              <a:t>x</a:t>
            </a:r>
            <a:r>
              <a:rPr lang="en-US" sz="2000" baseline="30000" dirty="0" err="1"/>
              <a:t>B</a:t>
            </a:r>
            <a:endParaRPr lang="en-US" sz="2000" dirty="0"/>
          </a:p>
        </p:txBody>
      </p:sp>
      <p:sp>
        <p:nvSpPr>
          <p:cNvPr id="7" name="TextBox 6">
            <a:extLst>
              <a:ext uri="{FF2B5EF4-FFF2-40B4-BE49-F238E27FC236}">
                <a16:creationId xmlns:a16="http://schemas.microsoft.com/office/drawing/2014/main" id="{1A43381D-302D-F3B8-D4A5-15CD31B28257}"/>
              </a:ext>
            </a:extLst>
          </p:cNvPr>
          <p:cNvSpPr txBox="1"/>
          <p:nvPr/>
        </p:nvSpPr>
        <p:spPr>
          <a:xfrm>
            <a:off x="6606721" y="2213030"/>
            <a:ext cx="4070131" cy="400110"/>
          </a:xfrm>
          <a:prstGeom prst="rect">
            <a:avLst/>
          </a:prstGeom>
          <a:noFill/>
        </p:spPr>
        <p:txBody>
          <a:bodyPr wrap="square">
            <a:spAutoFit/>
          </a:bodyPr>
          <a:lstStyle/>
          <a:p>
            <a:r>
              <a:rPr lang="en-US" sz="2000" dirty="0">
                <a:solidFill>
                  <a:srgbClr val="FF0000"/>
                </a:solidFill>
              </a:rPr>
              <a:t>Bandwidth constraints still exist!</a:t>
            </a:r>
          </a:p>
        </p:txBody>
      </p:sp>
      <p:sp>
        <p:nvSpPr>
          <p:cNvPr id="9" name="Slide Number Placeholder 8">
            <a:extLst>
              <a:ext uri="{FF2B5EF4-FFF2-40B4-BE49-F238E27FC236}">
                <a16:creationId xmlns:a16="http://schemas.microsoft.com/office/drawing/2014/main" id="{D9CB3946-B346-C81C-B99B-9DB2BA00C318}"/>
              </a:ext>
            </a:extLst>
          </p:cNvPr>
          <p:cNvSpPr>
            <a:spLocks noGrp="1"/>
          </p:cNvSpPr>
          <p:nvPr>
            <p:ph type="sldNum" sz="quarter" idx="12"/>
          </p:nvPr>
        </p:nvSpPr>
        <p:spPr/>
        <p:txBody>
          <a:bodyPr/>
          <a:lstStyle/>
          <a:p>
            <a:fld id="{4544B810-10F2-2E49-94DF-FA7BE986B6B9}" type="slidenum">
              <a:rPr lang="en-US" smtClean="0"/>
              <a:t>39</a:t>
            </a:fld>
            <a:endParaRPr lang="en-US"/>
          </a:p>
        </p:txBody>
      </p:sp>
    </p:spTree>
    <p:extLst>
      <p:ext uri="{BB962C8B-B14F-4D97-AF65-F5344CB8AC3E}">
        <p14:creationId xmlns:p14="http://schemas.microsoft.com/office/powerpoint/2010/main" val="7335927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9E145-678B-3636-9D2D-AB91DE00F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88F19-3DAD-3583-020D-A8963D0C5F8A}"/>
              </a:ext>
            </a:extLst>
          </p:cNvPr>
          <p:cNvSpPr>
            <a:spLocks noGrp="1"/>
          </p:cNvSpPr>
          <p:nvPr>
            <p:ph type="title"/>
          </p:nvPr>
        </p:nvSpPr>
        <p:spPr/>
        <p:txBody>
          <a:bodyPr/>
          <a:lstStyle/>
          <a:p>
            <a:r>
              <a:rPr lang="en-GB" dirty="0"/>
              <a:t>Margin conflict detection</a:t>
            </a:r>
            <a:endParaRPr lang="en-US" dirty="0"/>
          </a:p>
        </p:txBody>
      </p:sp>
      <p:sp>
        <p:nvSpPr>
          <p:cNvPr id="8" name="TextBox 7">
            <a:extLst>
              <a:ext uri="{FF2B5EF4-FFF2-40B4-BE49-F238E27FC236}">
                <a16:creationId xmlns:a16="http://schemas.microsoft.com/office/drawing/2014/main" id="{F6BA297F-8971-85D3-D574-383593DE58D4}"/>
              </a:ext>
            </a:extLst>
          </p:cNvPr>
          <p:cNvSpPr txBox="1"/>
          <p:nvPr/>
        </p:nvSpPr>
        <p:spPr>
          <a:xfrm>
            <a:off x="1921565" y="1624427"/>
            <a:ext cx="2782956" cy="461665"/>
          </a:xfrm>
          <a:prstGeom prst="rect">
            <a:avLst/>
          </a:prstGeom>
          <a:noFill/>
        </p:spPr>
        <p:txBody>
          <a:bodyPr wrap="square" rtlCol="0">
            <a:spAutoFit/>
          </a:bodyPr>
          <a:lstStyle/>
          <a:p>
            <a:pPr algn="ctr"/>
            <a:r>
              <a:rPr lang="en-US" sz="2400" dirty="0"/>
              <a:t>CLASSICAL</a:t>
            </a:r>
          </a:p>
        </p:txBody>
      </p:sp>
      <p:sp>
        <p:nvSpPr>
          <p:cNvPr id="3" name="Rectangle 2">
            <a:extLst>
              <a:ext uri="{FF2B5EF4-FFF2-40B4-BE49-F238E27FC236}">
                <a16:creationId xmlns:a16="http://schemas.microsoft.com/office/drawing/2014/main" id="{A575461F-A624-BE67-D9B8-987D4E937346}"/>
              </a:ext>
            </a:extLst>
          </p:cNvPr>
          <p:cNvSpPr/>
          <p:nvPr/>
        </p:nvSpPr>
        <p:spPr>
          <a:xfrm>
            <a:off x="3472071" y="3806480"/>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4" name="Rectangle 3">
            <a:extLst>
              <a:ext uri="{FF2B5EF4-FFF2-40B4-BE49-F238E27FC236}">
                <a16:creationId xmlns:a16="http://schemas.microsoft.com/office/drawing/2014/main" id="{AC6243A9-A554-E0A9-688E-12598919BD8F}"/>
              </a:ext>
            </a:extLst>
          </p:cNvPr>
          <p:cNvSpPr/>
          <p:nvPr/>
        </p:nvSpPr>
        <p:spPr>
          <a:xfrm>
            <a:off x="7039882" y="3806480"/>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5" name="Straight Connector 4">
            <a:extLst>
              <a:ext uri="{FF2B5EF4-FFF2-40B4-BE49-F238E27FC236}">
                <a16:creationId xmlns:a16="http://schemas.microsoft.com/office/drawing/2014/main" id="{D3B643B5-A538-27E3-C1DE-ABD609D8C865}"/>
              </a:ext>
            </a:extLst>
          </p:cNvPr>
          <p:cNvCxnSpPr>
            <a:stCxn id="3" idx="3"/>
            <a:endCxn id="4" idx="1"/>
          </p:cNvCxnSpPr>
          <p:nvPr/>
        </p:nvCxnSpPr>
        <p:spPr>
          <a:xfrm>
            <a:off x="4821317" y="4469262"/>
            <a:ext cx="2218565" cy="0"/>
          </a:xfrm>
          <a:prstGeom prst="line">
            <a:avLst/>
          </a:prstGeom>
          <a:ln w="57150" cap="flat" cmpd="sng" algn="ctr">
            <a:solidFill>
              <a:schemeClr val="accent2">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D7BDD52A-BABA-C0DC-81A4-5DE1BC9C22C0}"/>
              </a:ext>
            </a:extLst>
          </p:cNvPr>
          <p:cNvSpPr txBox="1"/>
          <p:nvPr/>
        </p:nvSpPr>
        <p:spPr>
          <a:xfrm>
            <a:off x="5585278" y="2182252"/>
            <a:ext cx="1021443" cy="461665"/>
          </a:xfrm>
          <a:prstGeom prst="rect">
            <a:avLst/>
          </a:prstGeom>
          <a:noFill/>
        </p:spPr>
        <p:txBody>
          <a:bodyPr wrap="square">
            <a:spAutoFit/>
          </a:bodyPr>
          <a:lstStyle/>
          <a:p>
            <a:r>
              <a:rPr lang="en-US" sz="2400" dirty="0" err="1">
                <a:highlight>
                  <a:srgbClr val="FFFF00"/>
                </a:highlight>
              </a:rPr>
              <a:t>g</a:t>
            </a:r>
            <a:r>
              <a:rPr lang="en-US" sz="2400" baseline="-25000" dirty="0" err="1">
                <a:highlight>
                  <a:srgbClr val="FFFF00"/>
                </a:highlight>
              </a:rPr>
              <a:t>x</a:t>
            </a:r>
            <a:r>
              <a:rPr lang="en-US" sz="2400" baseline="30000" dirty="0" err="1">
                <a:highlight>
                  <a:srgbClr val="FFFF00"/>
                </a:highlight>
              </a:rPr>
              <a:t>A</a:t>
            </a:r>
            <a:endParaRPr lang="en-US" sz="2400" dirty="0">
              <a:highlight>
                <a:srgbClr val="FFFF00"/>
              </a:highlight>
            </a:endParaRPr>
          </a:p>
        </p:txBody>
      </p:sp>
      <p:sp>
        <p:nvSpPr>
          <p:cNvPr id="10" name="TextBox 9">
            <a:extLst>
              <a:ext uri="{FF2B5EF4-FFF2-40B4-BE49-F238E27FC236}">
                <a16:creationId xmlns:a16="http://schemas.microsoft.com/office/drawing/2014/main" id="{4FEDAC17-4BF9-D396-1509-A31E0BB347E5}"/>
              </a:ext>
            </a:extLst>
          </p:cNvPr>
          <p:cNvSpPr txBox="1"/>
          <p:nvPr/>
        </p:nvSpPr>
        <p:spPr>
          <a:xfrm>
            <a:off x="8648269" y="3806479"/>
            <a:ext cx="2311278" cy="1015663"/>
          </a:xfrm>
          <a:prstGeom prst="rect">
            <a:avLst/>
          </a:prstGeom>
          <a:noFill/>
        </p:spPr>
        <p:txBody>
          <a:bodyPr wrap="square">
            <a:spAutoFit/>
          </a:bodyPr>
          <a:lstStyle/>
          <a:p>
            <a:pPr algn="ctr"/>
            <a:r>
              <a:rPr lang="en-US" sz="2000" dirty="0"/>
              <a:t>Has to make some decision about:</a:t>
            </a:r>
          </a:p>
          <a:p>
            <a:pPr algn="ctr"/>
            <a:r>
              <a:rPr lang="en-US" sz="2000" dirty="0" err="1"/>
              <a:t>g</a:t>
            </a:r>
            <a:r>
              <a:rPr lang="en-US" sz="2000" baseline="-25000" dirty="0" err="1"/>
              <a:t>x</a:t>
            </a:r>
            <a:r>
              <a:rPr lang="en-US" sz="2000" baseline="30000" dirty="0" err="1"/>
              <a:t>A</a:t>
            </a:r>
            <a:r>
              <a:rPr lang="en-US" sz="2000" baseline="30000" dirty="0"/>
              <a:t>  </a:t>
            </a:r>
            <a:r>
              <a:rPr lang="en-US" sz="2000" dirty="0"/>
              <a:t>&amp; </a:t>
            </a:r>
            <a:r>
              <a:rPr lang="en-US" sz="2000" dirty="0" err="1"/>
              <a:t>g</a:t>
            </a:r>
            <a:r>
              <a:rPr lang="en-US" sz="2000" baseline="-25000" dirty="0" err="1"/>
              <a:t>x</a:t>
            </a:r>
            <a:r>
              <a:rPr lang="en-US" sz="2000" baseline="30000" dirty="0" err="1"/>
              <a:t>B</a:t>
            </a:r>
            <a:endParaRPr lang="en-US" sz="2000" dirty="0"/>
          </a:p>
        </p:txBody>
      </p:sp>
      <p:sp>
        <p:nvSpPr>
          <p:cNvPr id="7" name="TextBox 6">
            <a:extLst>
              <a:ext uri="{FF2B5EF4-FFF2-40B4-BE49-F238E27FC236}">
                <a16:creationId xmlns:a16="http://schemas.microsoft.com/office/drawing/2014/main" id="{6EE9E9D4-14A7-9B71-3F44-94E47A00F68B}"/>
              </a:ext>
            </a:extLst>
          </p:cNvPr>
          <p:cNvSpPr txBox="1"/>
          <p:nvPr/>
        </p:nvSpPr>
        <p:spPr>
          <a:xfrm>
            <a:off x="6606721" y="2213030"/>
            <a:ext cx="4070131" cy="400110"/>
          </a:xfrm>
          <a:prstGeom prst="rect">
            <a:avLst/>
          </a:prstGeom>
          <a:noFill/>
        </p:spPr>
        <p:txBody>
          <a:bodyPr wrap="square">
            <a:spAutoFit/>
          </a:bodyPr>
          <a:lstStyle/>
          <a:p>
            <a:r>
              <a:rPr lang="en-US" sz="2000" dirty="0">
                <a:solidFill>
                  <a:srgbClr val="FF0000"/>
                </a:solidFill>
              </a:rPr>
              <a:t>Bandwidth constraints still exist!</a:t>
            </a:r>
          </a:p>
        </p:txBody>
      </p:sp>
      <p:sp>
        <p:nvSpPr>
          <p:cNvPr id="11" name="TextBox 10">
            <a:extLst>
              <a:ext uri="{FF2B5EF4-FFF2-40B4-BE49-F238E27FC236}">
                <a16:creationId xmlns:a16="http://schemas.microsoft.com/office/drawing/2014/main" id="{DCA7F3B3-BB9E-2D94-E900-D4D6CEDF2CE1}"/>
              </a:ext>
            </a:extLst>
          </p:cNvPr>
          <p:cNvSpPr txBox="1"/>
          <p:nvPr/>
        </p:nvSpPr>
        <p:spPr>
          <a:xfrm>
            <a:off x="3048000" y="3247647"/>
            <a:ext cx="6096000" cy="369332"/>
          </a:xfrm>
          <a:prstGeom prst="rect">
            <a:avLst/>
          </a:prstGeom>
          <a:noFill/>
        </p:spPr>
        <p:txBody>
          <a:bodyPr wrap="square">
            <a:spAutoFit/>
          </a:bodyPr>
          <a:lstStyle/>
          <a:p>
            <a:pPr algn="ctr"/>
            <a:r>
              <a:rPr lang="en-GB" b="1" i="0" dirty="0">
                <a:effectLst/>
              </a:rPr>
              <a:t>compressed sketch </a:t>
            </a:r>
            <a:r>
              <a:rPr lang="en-GB" dirty="0"/>
              <a:t>size is ~1/τ²</a:t>
            </a:r>
            <a:endParaRPr lang="en-US" dirty="0"/>
          </a:p>
        </p:txBody>
      </p:sp>
      <p:sp>
        <p:nvSpPr>
          <p:cNvPr id="13" name="TextBox 12">
            <a:extLst>
              <a:ext uri="{FF2B5EF4-FFF2-40B4-BE49-F238E27FC236}">
                <a16:creationId xmlns:a16="http://schemas.microsoft.com/office/drawing/2014/main" id="{17933D8D-3C72-A8AC-B024-6F5AC111E4DB}"/>
              </a:ext>
            </a:extLst>
          </p:cNvPr>
          <p:cNvSpPr txBox="1"/>
          <p:nvPr/>
        </p:nvSpPr>
        <p:spPr>
          <a:xfrm>
            <a:off x="1079328" y="5484924"/>
            <a:ext cx="9578158" cy="1231106"/>
          </a:xfrm>
          <a:prstGeom prst="rect">
            <a:avLst/>
          </a:prstGeom>
          <a:noFill/>
        </p:spPr>
        <p:txBody>
          <a:bodyPr wrap="square">
            <a:spAutoFit/>
          </a:bodyPr>
          <a:lstStyle/>
          <a:p>
            <a:pPr algn="ctr"/>
            <a:r>
              <a:rPr lang="en-GB" sz="2000" b="0" i="0" dirty="0">
                <a:effectLst/>
              </a:rPr>
              <a:t>Why </a:t>
            </a:r>
            <a:r>
              <a:rPr lang="en-GB" sz="2000" b="1" dirty="0"/>
              <a:t>1/τ² ?</a:t>
            </a:r>
          </a:p>
          <a:p>
            <a:pPr algn="ctr"/>
            <a:r>
              <a:rPr lang="en-GB" b="0" i="0" dirty="0">
                <a:effectLst/>
              </a:rPr>
              <a:t>Sketching essentially means sampling:</a:t>
            </a:r>
          </a:p>
          <a:p>
            <a:pPr algn="ctr"/>
            <a:r>
              <a:rPr lang="en-GB" b="0" i="0" dirty="0">
                <a:effectLst/>
              </a:rPr>
              <a:t>error ≈ 1/√n. Want error ≤ </a:t>
            </a:r>
            <a:r>
              <a:rPr lang="en-GB" b="0" i="0" dirty="0" err="1">
                <a:effectLst/>
              </a:rPr>
              <a:t>τ</a:t>
            </a:r>
            <a:r>
              <a:rPr lang="en-GB" b="0" i="0" dirty="0">
                <a:effectLst/>
              </a:rPr>
              <a:t>? </a:t>
            </a:r>
          </a:p>
          <a:p>
            <a:pPr algn="ctr"/>
            <a:r>
              <a:rPr lang="en-GB" b="0" i="0" dirty="0">
                <a:effectLst/>
              </a:rPr>
              <a:t>Then 1/√n ≤ </a:t>
            </a:r>
            <a:r>
              <a:rPr lang="en-GB" b="0" i="0" dirty="0" err="1">
                <a:effectLst/>
              </a:rPr>
              <a:t>τ</a:t>
            </a:r>
            <a:r>
              <a:rPr lang="en-GB" b="0" i="0" dirty="0">
                <a:effectLst/>
              </a:rPr>
              <a:t> → √n ≥ 1/</a:t>
            </a:r>
            <a:r>
              <a:rPr lang="en-GB" b="0" i="0" dirty="0" err="1">
                <a:effectLst/>
              </a:rPr>
              <a:t>τ</a:t>
            </a:r>
            <a:r>
              <a:rPr lang="en-GB" b="0" i="0" dirty="0">
                <a:effectLst/>
              </a:rPr>
              <a:t> → </a:t>
            </a:r>
            <a:r>
              <a:rPr lang="en-GB" b="1" i="0" dirty="0">
                <a:effectLst/>
              </a:rPr>
              <a:t>n ≥ 1/τ²</a:t>
            </a:r>
            <a:r>
              <a:rPr lang="en-GB" b="0" i="0" dirty="0">
                <a:effectLst/>
              </a:rPr>
              <a:t>.</a:t>
            </a:r>
          </a:p>
        </p:txBody>
      </p:sp>
      <p:sp>
        <p:nvSpPr>
          <p:cNvPr id="14" name="Slide Number Placeholder 13">
            <a:extLst>
              <a:ext uri="{FF2B5EF4-FFF2-40B4-BE49-F238E27FC236}">
                <a16:creationId xmlns:a16="http://schemas.microsoft.com/office/drawing/2014/main" id="{19D2AFDA-6886-A2EB-707F-36A0863D794E}"/>
              </a:ext>
            </a:extLst>
          </p:cNvPr>
          <p:cNvSpPr>
            <a:spLocks noGrp="1"/>
          </p:cNvSpPr>
          <p:nvPr>
            <p:ph type="sldNum" sz="quarter" idx="12"/>
          </p:nvPr>
        </p:nvSpPr>
        <p:spPr/>
        <p:txBody>
          <a:bodyPr/>
          <a:lstStyle/>
          <a:p>
            <a:fld id="{4544B810-10F2-2E49-94DF-FA7BE986B6B9}" type="slidenum">
              <a:rPr lang="en-US" smtClean="0"/>
              <a:t>40</a:t>
            </a:fld>
            <a:endParaRPr lang="en-US"/>
          </a:p>
        </p:txBody>
      </p:sp>
    </p:spTree>
    <p:extLst>
      <p:ext uri="{BB962C8B-B14F-4D97-AF65-F5344CB8AC3E}">
        <p14:creationId xmlns:p14="http://schemas.microsoft.com/office/powerpoint/2010/main" val="39285781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693E-F8B0-A965-8C9D-2DB7B9690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6820F1-62A3-86BA-A08A-46DA95772EBB}"/>
              </a:ext>
            </a:extLst>
          </p:cNvPr>
          <p:cNvSpPr>
            <a:spLocks noGrp="1"/>
          </p:cNvSpPr>
          <p:nvPr>
            <p:ph type="title"/>
          </p:nvPr>
        </p:nvSpPr>
        <p:spPr/>
        <p:txBody>
          <a:bodyPr/>
          <a:lstStyle/>
          <a:p>
            <a:r>
              <a:rPr lang="en-GB" dirty="0"/>
              <a:t>Margin conflict detection</a:t>
            </a:r>
            <a:endParaRPr lang="en-US" dirty="0"/>
          </a:p>
        </p:txBody>
      </p:sp>
      <p:cxnSp>
        <p:nvCxnSpPr>
          <p:cNvPr id="7" name="Straight Connector 6">
            <a:extLst>
              <a:ext uri="{FF2B5EF4-FFF2-40B4-BE49-F238E27FC236}">
                <a16:creationId xmlns:a16="http://schemas.microsoft.com/office/drawing/2014/main" id="{4B507670-0A7D-8117-4DB1-24FE444B163E}"/>
              </a:ext>
            </a:extLst>
          </p:cNvPr>
          <p:cNvCxnSpPr>
            <a:cxnSpLocks/>
          </p:cNvCxnSpPr>
          <p:nvPr/>
        </p:nvCxnSpPr>
        <p:spPr>
          <a:xfrm>
            <a:off x="5910470" y="1690688"/>
            <a:ext cx="0" cy="4776373"/>
          </a:xfrm>
          <a:prstGeom prst="line">
            <a:avLst/>
          </a:prstGeom>
          <a:ln w="57150"/>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ABC65376-B038-E05E-D1B3-EC8D9FFEC78D}"/>
              </a:ext>
            </a:extLst>
          </p:cNvPr>
          <p:cNvSpPr txBox="1"/>
          <p:nvPr/>
        </p:nvSpPr>
        <p:spPr>
          <a:xfrm>
            <a:off x="1921565" y="1624427"/>
            <a:ext cx="2782956" cy="461665"/>
          </a:xfrm>
          <a:prstGeom prst="rect">
            <a:avLst/>
          </a:prstGeom>
          <a:noFill/>
        </p:spPr>
        <p:txBody>
          <a:bodyPr wrap="square" rtlCol="0">
            <a:spAutoFit/>
          </a:bodyPr>
          <a:lstStyle/>
          <a:p>
            <a:pPr algn="ctr"/>
            <a:r>
              <a:rPr lang="en-US" sz="2400" dirty="0"/>
              <a:t>CLASSICAL</a:t>
            </a:r>
          </a:p>
        </p:txBody>
      </p:sp>
      <p:sp>
        <p:nvSpPr>
          <p:cNvPr id="9" name="TextBox 8">
            <a:extLst>
              <a:ext uri="{FF2B5EF4-FFF2-40B4-BE49-F238E27FC236}">
                <a16:creationId xmlns:a16="http://schemas.microsoft.com/office/drawing/2014/main" id="{A5CCF6A6-5CA4-AE94-7F72-BD2D1C0D4063}"/>
              </a:ext>
            </a:extLst>
          </p:cNvPr>
          <p:cNvSpPr txBox="1"/>
          <p:nvPr/>
        </p:nvSpPr>
        <p:spPr>
          <a:xfrm>
            <a:off x="6950765" y="1624426"/>
            <a:ext cx="2782956" cy="461665"/>
          </a:xfrm>
          <a:prstGeom prst="rect">
            <a:avLst/>
          </a:prstGeom>
          <a:noFill/>
        </p:spPr>
        <p:txBody>
          <a:bodyPr wrap="square" rtlCol="0">
            <a:spAutoFit/>
          </a:bodyPr>
          <a:lstStyle/>
          <a:p>
            <a:pPr algn="ctr"/>
            <a:r>
              <a:rPr lang="en-US" sz="2400" dirty="0"/>
              <a:t>QUANTUM</a:t>
            </a:r>
          </a:p>
        </p:txBody>
      </p:sp>
      <p:sp>
        <p:nvSpPr>
          <p:cNvPr id="3" name="Rectangle 2">
            <a:extLst>
              <a:ext uri="{FF2B5EF4-FFF2-40B4-BE49-F238E27FC236}">
                <a16:creationId xmlns:a16="http://schemas.microsoft.com/office/drawing/2014/main" id="{99F74C2E-EF23-9A98-16C5-802194D1ABCA}"/>
              </a:ext>
            </a:extLst>
          </p:cNvPr>
          <p:cNvSpPr/>
          <p:nvPr/>
        </p:nvSpPr>
        <p:spPr>
          <a:xfrm>
            <a:off x="742123" y="3740219"/>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4" name="Rectangle 3">
            <a:extLst>
              <a:ext uri="{FF2B5EF4-FFF2-40B4-BE49-F238E27FC236}">
                <a16:creationId xmlns:a16="http://schemas.microsoft.com/office/drawing/2014/main" id="{BA44081F-3172-15B7-7FB9-69D4C5F3737B}"/>
              </a:ext>
            </a:extLst>
          </p:cNvPr>
          <p:cNvSpPr/>
          <p:nvPr/>
        </p:nvSpPr>
        <p:spPr>
          <a:xfrm>
            <a:off x="4309934" y="3740219"/>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5" name="Straight Connector 4">
            <a:extLst>
              <a:ext uri="{FF2B5EF4-FFF2-40B4-BE49-F238E27FC236}">
                <a16:creationId xmlns:a16="http://schemas.microsoft.com/office/drawing/2014/main" id="{33E3F356-DB02-360F-4672-AC8547F74B57}"/>
              </a:ext>
            </a:extLst>
          </p:cNvPr>
          <p:cNvCxnSpPr>
            <a:stCxn id="3" idx="3"/>
            <a:endCxn id="4" idx="1"/>
          </p:cNvCxnSpPr>
          <p:nvPr/>
        </p:nvCxnSpPr>
        <p:spPr>
          <a:xfrm>
            <a:off x="2091369" y="4403001"/>
            <a:ext cx="2218565" cy="0"/>
          </a:xfrm>
          <a:prstGeom prst="line">
            <a:avLst/>
          </a:prstGeom>
          <a:ln w="57150" cap="flat" cmpd="sng" algn="ctr">
            <a:solidFill>
              <a:schemeClr val="accent2">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433DDEB0-FC5F-F0D6-81E3-11D518C419B6}"/>
              </a:ext>
            </a:extLst>
          </p:cNvPr>
          <p:cNvSpPr txBox="1"/>
          <p:nvPr/>
        </p:nvSpPr>
        <p:spPr>
          <a:xfrm>
            <a:off x="185531" y="3186222"/>
            <a:ext cx="6096000" cy="369332"/>
          </a:xfrm>
          <a:prstGeom prst="rect">
            <a:avLst/>
          </a:prstGeom>
          <a:noFill/>
        </p:spPr>
        <p:txBody>
          <a:bodyPr wrap="square">
            <a:spAutoFit/>
          </a:bodyPr>
          <a:lstStyle/>
          <a:p>
            <a:pPr algn="ctr"/>
            <a:r>
              <a:rPr lang="en-GB" b="1" i="0" dirty="0">
                <a:effectLst/>
              </a:rPr>
              <a:t>compressed sketch </a:t>
            </a:r>
            <a:r>
              <a:rPr lang="en-GB" dirty="0"/>
              <a:t>size is ~1/τ²</a:t>
            </a:r>
            <a:endParaRPr lang="en-US" dirty="0"/>
          </a:p>
        </p:txBody>
      </p:sp>
      <p:pic>
        <p:nvPicPr>
          <p:cNvPr id="10" name="Picture 9" descr="Que Question Meme - Que Question Question mark cat - Discover &amp; Share GIFs">
            <a:extLst>
              <a:ext uri="{FF2B5EF4-FFF2-40B4-BE49-F238E27FC236}">
                <a16:creationId xmlns:a16="http://schemas.microsoft.com/office/drawing/2014/main" id="{1DC4F62E-8D4A-8B9C-26FF-6AC4AD66F080}"/>
              </a:ext>
            </a:extLst>
          </p:cNvPr>
          <p:cNvPicPr>
            <a:picLocks noChangeAspect="1"/>
          </p:cNvPicPr>
          <p:nvPr/>
        </p:nvPicPr>
        <p:blipFill>
          <a:blip r:embed="rId2"/>
          <a:stretch>
            <a:fillRect/>
          </a:stretch>
        </p:blipFill>
        <p:spPr>
          <a:xfrm>
            <a:off x="7156679" y="2647259"/>
            <a:ext cx="3378800" cy="3167625"/>
          </a:xfrm>
          <a:prstGeom prst="rect">
            <a:avLst/>
          </a:prstGeom>
        </p:spPr>
      </p:pic>
      <p:sp>
        <p:nvSpPr>
          <p:cNvPr id="11" name="Slide Number Placeholder 10">
            <a:extLst>
              <a:ext uri="{FF2B5EF4-FFF2-40B4-BE49-F238E27FC236}">
                <a16:creationId xmlns:a16="http://schemas.microsoft.com/office/drawing/2014/main" id="{CDCC1F43-938E-C337-3022-11CFF7E14CAD}"/>
              </a:ext>
            </a:extLst>
          </p:cNvPr>
          <p:cNvSpPr>
            <a:spLocks noGrp="1"/>
          </p:cNvSpPr>
          <p:nvPr>
            <p:ph type="sldNum" sz="quarter" idx="12"/>
          </p:nvPr>
        </p:nvSpPr>
        <p:spPr/>
        <p:txBody>
          <a:bodyPr/>
          <a:lstStyle/>
          <a:p>
            <a:fld id="{4544B810-10F2-2E49-94DF-FA7BE986B6B9}" type="slidenum">
              <a:rPr lang="en-US" smtClean="0"/>
              <a:t>41</a:t>
            </a:fld>
            <a:endParaRPr lang="en-US"/>
          </a:p>
        </p:txBody>
      </p:sp>
    </p:spTree>
    <p:extLst>
      <p:ext uri="{BB962C8B-B14F-4D97-AF65-F5344CB8AC3E}">
        <p14:creationId xmlns:p14="http://schemas.microsoft.com/office/powerpoint/2010/main" val="7623083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C314B-CC0B-161F-3342-BBED3F64C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3BFD9-572F-88BD-F305-71095FCEFEE5}"/>
              </a:ext>
            </a:extLst>
          </p:cNvPr>
          <p:cNvSpPr>
            <a:spLocks noGrp="1"/>
          </p:cNvSpPr>
          <p:nvPr>
            <p:ph type="title"/>
          </p:nvPr>
        </p:nvSpPr>
        <p:spPr/>
        <p:txBody>
          <a:bodyPr/>
          <a:lstStyle/>
          <a:p>
            <a:r>
              <a:rPr lang="en-GB" dirty="0"/>
              <a:t>Margin conflict detection</a:t>
            </a:r>
            <a:endParaRPr lang="en-US" dirty="0"/>
          </a:p>
        </p:txBody>
      </p:sp>
      <p:sp>
        <p:nvSpPr>
          <p:cNvPr id="5" name="TextBox 4">
            <a:extLst>
              <a:ext uri="{FF2B5EF4-FFF2-40B4-BE49-F238E27FC236}">
                <a16:creationId xmlns:a16="http://schemas.microsoft.com/office/drawing/2014/main" id="{A49131CF-7DF5-368C-DAE0-0318A8A41B08}"/>
              </a:ext>
            </a:extLst>
          </p:cNvPr>
          <p:cNvSpPr txBox="1"/>
          <p:nvPr/>
        </p:nvSpPr>
        <p:spPr>
          <a:xfrm>
            <a:off x="244565" y="1596515"/>
            <a:ext cx="11947435" cy="461665"/>
          </a:xfrm>
          <a:prstGeom prst="rect">
            <a:avLst/>
          </a:prstGeom>
          <a:noFill/>
        </p:spPr>
        <p:txBody>
          <a:bodyPr wrap="square">
            <a:spAutoFit/>
          </a:bodyPr>
          <a:lstStyle/>
          <a:p>
            <a:pPr algn="ctr"/>
            <a:r>
              <a:rPr lang="en-GB" sz="2400" i="1" dirty="0">
                <a:solidFill>
                  <a:srgbClr val="FF0000"/>
                </a:solidFill>
              </a:rPr>
              <a:t>Can our two gradients be safely merged, or will averaging them cancel the signal?</a:t>
            </a:r>
            <a:endParaRPr lang="en-US" sz="2400" i="1" dirty="0">
              <a:solidFill>
                <a:srgbClr val="FF0000"/>
              </a:solidFill>
            </a:endParaRPr>
          </a:p>
        </p:txBody>
      </p:sp>
      <p:pic>
        <p:nvPicPr>
          <p:cNvPr id="3" name="Picture 2">
            <a:extLst>
              <a:ext uri="{FF2B5EF4-FFF2-40B4-BE49-F238E27FC236}">
                <a16:creationId xmlns:a16="http://schemas.microsoft.com/office/drawing/2014/main" id="{39E8036F-4B88-A96E-3A84-5C8DFDAB7BE6}"/>
              </a:ext>
            </a:extLst>
          </p:cNvPr>
          <p:cNvPicPr>
            <a:picLocks noChangeAspect="1"/>
          </p:cNvPicPr>
          <p:nvPr/>
        </p:nvPicPr>
        <p:blipFill>
          <a:blip r:embed="rId2"/>
          <a:stretch>
            <a:fillRect/>
          </a:stretch>
        </p:blipFill>
        <p:spPr>
          <a:xfrm>
            <a:off x="2209800" y="2404256"/>
            <a:ext cx="7772400" cy="948107"/>
          </a:xfrm>
          <a:prstGeom prst="rect">
            <a:avLst/>
          </a:prstGeom>
        </p:spPr>
      </p:pic>
      <p:sp>
        <p:nvSpPr>
          <p:cNvPr id="6" name="Oval 5">
            <a:extLst>
              <a:ext uri="{FF2B5EF4-FFF2-40B4-BE49-F238E27FC236}">
                <a16:creationId xmlns:a16="http://schemas.microsoft.com/office/drawing/2014/main" id="{60244E9E-B3A2-61FC-BD65-C0A2A1189229}"/>
              </a:ext>
            </a:extLst>
          </p:cNvPr>
          <p:cNvSpPr/>
          <p:nvPr/>
        </p:nvSpPr>
        <p:spPr>
          <a:xfrm>
            <a:off x="2209800" y="3698439"/>
            <a:ext cx="3161655" cy="2851688"/>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A9B567B-3B87-F141-B762-DA95BB7269C0}"/>
              </a:ext>
            </a:extLst>
          </p:cNvPr>
          <p:cNvCxnSpPr/>
          <p:nvPr/>
        </p:nvCxnSpPr>
        <p:spPr>
          <a:xfrm flipV="1">
            <a:off x="3704612" y="3698439"/>
            <a:ext cx="1666843" cy="1641077"/>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16D19B2B-4F9F-5745-5225-4DF2161BC64E}"/>
              </a:ext>
            </a:extLst>
          </p:cNvPr>
          <p:cNvCxnSpPr>
            <a:cxnSpLocks/>
          </p:cNvCxnSpPr>
          <p:nvPr/>
        </p:nvCxnSpPr>
        <p:spPr>
          <a:xfrm>
            <a:off x="3704612" y="5339516"/>
            <a:ext cx="2160270" cy="982980"/>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Oval 13">
            <a:extLst>
              <a:ext uri="{FF2B5EF4-FFF2-40B4-BE49-F238E27FC236}">
                <a16:creationId xmlns:a16="http://schemas.microsoft.com/office/drawing/2014/main" id="{B5588154-4480-70E2-9883-A4AE63333629}"/>
              </a:ext>
            </a:extLst>
          </p:cNvPr>
          <p:cNvSpPr/>
          <p:nvPr/>
        </p:nvSpPr>
        <p:spPr>
          <a:xfrm>
            <a:off x="7359694" y="3698439"/>
            <a:ext cx="3161655" cy="2851688"/>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BFF7E1EF-9017-F40D-6B9F-65B9C4E813EF}"/>
              </a:ext>
            </a:extLst>
          </p:cNvPr>
          <p:cNvCxnSpPr/>
          <p:nvPr/>
        </p:nvCxnSpPr>
        <p:spPr>
          <a:xfrm flipV="1">
            <a:off x="8854506" y="3698439"/>
            <a:ext cx="1666843" cy="1641077"/>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a:extLst>
              <a:ext uri="{FF2B5EF4-FFF2-40B4-BE49-F238E27FC236}">
                <a16:creationId xmlns:a16="http://schemas.microsoft.com/office/drawing/2014/main" id="{39DBFA7C-799F-863F-47FA-26DB9EE437CB}"/>
              </a:ext>
            </a:extLst>
          </p:cNvPr>
          <p:cNvCxnSpPr>
            <a:cxnSpLocks/>
          </p:cNvCxnSpPr>
          <p:nvPr/>
        </p:nvCxnSpPr>
        <p:spPr>
          <a:xfrm flipH="1">
            <a:off x="6366510" y="5339516"/>
            <a:ext cx="2487996" cy="346076"/>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2400576F-1BCD-B07F-D8CE-F3C0DCFE535D}"/>
              </a:ext>
            </a:extLst>
          </p:cNvPr>
          <p:cNvCxnSpPr/>
          <p:nvPr/>
        </p:nvCxnSpPr>
        <p:spPr>
          <a:xfrm>
            <a:off x="1772942" y="5339516"/>
            <a:ext cx="4091940" cy="0"/>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31DDB993-B6B2-C1A5-EA9E-264AEA894D3F}"/>
              </a:ext>
            </a:extLst>
          </p:cNvPr>
          <p:cNvCxnSpPr>
            <a:cxnSpLocks/>
          </p:cNvCxnSpPr>
          <p:nvPr/>
        </p:nvCxnSpPr>
        <p:spPr>
          <a:xfrm flipV="1">
            <a:off x="3704612" y="3429000"/>
            <a:ext cx="0" cy="3467203"/>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E0409007-FC4A-F1F7-B3BC-351FD7522C96}"/>
              </a:ext>
            </a:extLst>
          </p:cNvPr>
          <p:cNvCxnSpPr/>
          <p:nvPr/>
        </p:nvCxnSpPr>
        <p:spPr>
          <a:xfrm>
            <a:off x="6808536" y="5339516"/>
            <a:ext cx="4091940" cy="0"/>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F6535849-147E-F6F1-37EE-820E02DA10C8}"/>
              </a:ext>
            </a:extLst>
          </p:cNvPr>
          <p:cNvCxnSpPr>
            <a:cxnSpLocks/>
          </p:cNvCxnSpPr>
          <p:nvPr/>
        </p:nvCxnSpPr>
        <p:spPr>
          <a:xfrm flipV="1">
            <a:off x="8854506" y="3352363"/>
            <a:ext cx="0" cy="3467203"/>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Block Arc 37">
            <a:extLst>
              <a:ext uri="{FF2B5EF4-FFF2-40B4-BE49-F238E27FC236}">
                <a16:creationId xmlns:a16="http://schemas.microsoft.com/office/drawing/2014/main" id="{B6211DDD-4B40-C960-4CFD-E0895B7F06E8}"/>
              </a:ext>
            </a:extLst>
          </p:cNvPr>
          <p:cNvSpPr/>
          <p:nvPr/>
        </p:nvSpPr>
        <p:spPr>
          <a:xfrm rot="5016128">
            <a:off x="3805086" y="4881443"/>
            <a:ext cx="904019" cy="727627"/>
          </a:xfrm>
          <a:prstGeom prst="blockArc">
            <a:avLst/>
          </a:prstGeom>
          <a:solidFill>
            <a:srgbClr val="FF0000">
              <a:alpha val="27451"/>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Block Arc 38">
            <a:extLst>
              <a:ext uri="{FF2B5EF4-FFF2-40B4-BE49-F238E27FC236}">
                <a16:creationId xmlns:a16="http://schemas.microsoft.com/office/drawing/2014/main" id="{F3FD178F-10F0-7947-6A5D-F2EA6D79672F}"/>
              </a:ext>
            </a:extLst>
          </p:cNvPr>
          <p:cNvSpPr/>
          <p:nvPr/>
        </p:nvSpPr>
        <p:spPr>
          <a:xfrm rot="19631402">
            <a:off x="8055027" y="4585595"/>
            <a:ext cx="1770986" cy="727627"/>
          </a:xfrm>
          <a:prstGeom prst="blockArc">
            <a:avLst/>
          </a:prstGeom>
          <a:solidFill>
            <a:srgbClr val="FF0000">
              <a:alpha val="27451"/>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Rounded Rectangle 39">
            <a:extLst>
              <a:ext uri="{FF2B5EF4-FFF2-40B4-BE49-F238E27FC236}">
                <a16:creationId xmlns:a16="http://schemas.microsoft.com/office/drawing/2014/main" id="{6C7A8D92-9128-DC4C-51E3-7A28E26D9E46}"/>
              </a:ext>
            </a:extLst>
          </p:cNvPr>
          <p:cNvSpPr/>
          <p:nvPr/>
        </p:nvSpPr>
        <p:spPr>
          <a:xfrm>
            <a:off x="5764696" y="2610678"/>
            <a:ext cx="1179443" cy="255701"/>
          </a:xfrm>
          <a:prstGeom prst="roundRect">
            <a:avLst/>
          </a:prstGeom>
          <a:solidFill>
            <a:srgbClr val="F44235">
              <a:alpha val="2823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lide Number Placeholder 40">
            <a:extLst>
              <a:ext uri="{FF2B5EF4-FFF2-40B4-BE49-F238E27FC236}">
                <a16:creationId xmlns:a16="http://schemas.microsoft.com/office/drawing/2014/main" id="{AAC8B890-A300-EA18-65C0-36C50CB20993}"/>
              </a:ext>
            </a:extLst>
          </p:cNvPr>
          <p:cNvSpPr>
            <a:spLocks noGrp="1"/>
          </p:cNvSpPr>
          <p:nvPr>
            <p:ph type="sldNum" sz="quarter" idx="12"/>
          </p:nvPr>
        </p:nvSpPr>
        <p:spPr/>
        <p:txBody>
          <a:bodyPr/>
          <a:lstStyle/>
          <a:p>
            <a:fld id="{4544B810-10F2-2E49-94DF-FA7BE986B6B9}" type="slidenum">
              <a:rPr lang="en-US" smtClean="0"/>
              <a:t>42</a:t>
            </a:fld>
            <a:endParaRPr lang="en-US"/>
          </a:p>
        </p:txBody>
      </p:sp>
    </p:spTree>
    <p:extLst>
      <p:ext uri="{BB962C8B-B14F-4D97-AF65-F5344CB8AC3E}">
        <p14:creationId xmlns:p14="http://schemas.microsoft.com/office/powerpoint/2010/main" val="33911785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B54F9-BAA8-13F4-D2B9-63F1A72B0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7AB15-5A13-6EAB-2C19-F4957F67B126}"/>
              </a:ext>
            </a:extLst>
          </p:cNvPr>
          <p:cNvSpPr>
            <a:spLocks noGrp="1"/>
          </p:cNvSpPr>
          <p:nvPr>
            <p:ph type="title"/>
          </p:nvPr>
        </p:nvSpPr>
        <p:spPr/>
        <p:txBody>
          <a:bodyPr/>
          <a:lstStyle/>
          <a:p>
            <a:r>
              <a:rPr lang="en-GB" dirty="0"/>
              <a:t>Margin conflict detection</a:t>
            </a:r>
            <a:endParaRPr lang="en-US" dirty="0"/>
          </a:p>
        </p:txBody>
      </p:sp>
      <p:sp>
        <p:nvSpPr>
          <p:cNvPr id="10" name="TextBox 9">
            <a:extLst>
              <a:ext uri="{FF2B5EF4-FFF2-40B4-BE49-F238E27FC236}">
                <a16:creationId xmlns:a16="http://schemas.microsoft.com/office/drawing/2014/main" id="{86491991-E79A-6284-0B3F-29547C584763}"/>
              </a:ext>
            </a:extLst>
          </p:cNvPr>
          <p:cNvSpPr txBox="1"/>
          <p:nvPr/>
        </p:nvSpPr>
        <p:spPr>
          <a:xfrm>
            <a:off x="1054659" y="1690688"/>
            <a:ext cx="10297553" cy="461665"/>
          </a:xfrm>
          <a:prstGeom prst="rect">
            <a:avLst/>
          </a:prstGeom>
          <a:noFill/>
        </p:spPr>
        <p:txBody>
          <a:bodyPr wrap="square">
            <a:spAutoFit/>
          </a:bodyPr>
          <a:lstStyle/>
          <a:p>
            <a:r>
              <a:rPr lang="en-GB" sz="2400" b="0" i="0" dirty="0">
                <a:effectLst/>
              </a:rPr>
              <a:t>Normalised gradients:</a:t>
            </a:r>
            <a:endParaRPr lang="en-US" sz="2400" dirty="0"/>
          </a:p>
        </p:txBody>
      </p:sp>
      <p:sp>
        <p:nvSpPr>
          <p:cNvPr id="11" name="Rectangle 10">
            <a:extLst>
              <a:ext uri="{FF2B5EF4-FFF2-40B4-BE49-F238E27FC236}">
                <a16:creationId xmlns:a16="http://schemas.microsoft.com/office/drawing/2014/main" id="{9DE3CD52-DF3A-FA24-E608-35B7630F1D70}"/>
              </a:ext>
            </a:extLst>
          </p:cNvPr>
          <p:cNvSpPr/>
          <p:nvPr/>
        </p:nvSpPr>
        <p:spPr>
          <a:xfrm>
            <a:off x="2061883" y="3238317"/>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12" name="Rectangle 11">
            <a:extLst>
              <a:ext uri="{FF2B5EF4-FFF2-40B4-BE49-F238E27FC236}">
                <a16:creationId xmlns:a16="http://schemas.microsoft.com/office/drawing/2014/main" id="{1D0B6CE8-B98D-C447-DD99-75B107A64A64}"/>
              </a:ext>
            </a:extLst>
          </p:cNvPr>
          <p:cNvSpPr/>
          <p:nvPr/>
        </p:nvSpPr>
        <p:spPr>
          <a:xfrm>
            <a:off x="8390824" y="3238317"/>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13" name="Straight Connector 12">
            <a:extLst>
              <a:ext uri="{FF2B5EF4-FFF2-40B4-BE49-F238E27FC236}">
                <a16:creationId xmlns:a16="http://schemas.microsoft.com/office/drawing/2014/main" id="{0D07D7BF-DD2C-76DC-25D4-225F9C3A64C7}"/>
              </a:ext>
            </a:extLst>
          </p:cNvPr>
          <p:cNvCxnSpPr>
            <a:stCxn id="11" idx="3"/>
            <a:endCxn id="12" idx="1"/>
          </p:cNvCxnSpPr>
          <p:nvPr/>
        </p:nvCxnSpPr>
        <p:spPr>
          <a:xfrm>
            <a:off x="3411129" y="3901099"/>
            <a:ext cx="4979695"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FC097AC-CBF0-F515-1BCE-7EBD65A3ACFC}"/>
              </a:ext>
            </a:extLst>
          </p:cNvPr>
          <p:cNvSpPr txBox="1"/>
          <p:nvPr/>
        </p:nvSpPr>
        <p:spPr>
          <a:xfrm>
            <a:off x="1163213" y="4940896"/>
            <a:ext cx="4917057" cy="830997"/>
          </a:xfrm>
          <a:prstGeom prst="rect">
            <a:avLst/>
          </a:prstGeom>
          <a:noFill/>
        </p:spPr>
        <p:txBody>
          <a:bodyPr wrap="square">
            <a:spAutoFit/>
          </a:bodyPr>
          <a:lstStyle/>
          <a:p>
            <a:r>
              <a:rPr lang="en-GB" sz="2400" dirty="0"/>
              <a:t>length ‖</a:t>
            </a:r>
            <a:r>
              <a:rPr lang="en-GB" sz="2400" dirty="0" err="1"/>
              <a:t>gA</a:t>
            </a:r>
            <a:r>
              <a:rPr lang="en-GB" sz="2400" dirty="0"/>
              <a:t>‖ = √(3² + 4²) = √25 = </a:t>
            </a:r>
            <a:r>
              <a:rPr lang="en-GB" sz="2400" b="1" dirty="0"/>
              <a:t>5</a:t>
            </a:r>
            <a:endParaRPr lang="en-GB" sz="2400" dirty="0"/>
          </a:p>
          <a:p>
            <a:r>
              <a:rPr lang="en-GB" sz="2400" dirty="0"/>
              <a:t>normalize: </a:t>
            </a:r>
            <a:r>
              <a:rPr lang="en-GB" sz="2400" dirty="0" err="1"/>
              <a:t>ûA</a:t>
            </a:r>
            <a:r>
              <a:rPr lang="en-GB" sz="2400" dirty="0"/>
              <a:t> = (3/5, 4/5) = </a:t>
            </a:r>
            <a:r>
              <a:rPr lang="en-GB" sz="2400" b="1" dirty="0"/>
              <a:t>(0.6, 0.8)</a:t>
            </a:r>
            <a:endParaRPr lang="en-GB" sz="2400" dirty="0"/>
          </a:p>
        </p:txBody>
      </p:sp>
      <p:sp>
        <p:nvSpPr>
          <p:cNvPr id="15" name="TextBox 14">
            <a:extLst>
              <a:ext uri="{FF2B5EF4-FFF2-40B4-BE49-F238E27FC236}">
                <a16:creationId xmlns:a16="http://schemas.microsoft.com/office/drawing/2014/main" id="{4151FFA3-3D1E-D95B-8FBC-34B013AC6BFC}"/>
              </a:ext>
            </a:extLst>
          </p:cNvPr>
          <p:cNvSpPr txBox="1"/>
          <p:nvPr/>
        </p:nvSpPr>
        <p:spPr>
          <a:xfrm>
            <a:off x="6976937" y="4924569"/>
            <a:ext cx="4917057" cy="830997"/>
          </a:xfrm>
          <a:prstGeom prst="rect">
            <a:avLst/>
          </a:prstGeom>
          <a:noFill/>
        </p:spPr>
        <p:txBody>
          <a:bodyPr wrap="square">
            <a:spAutoFit/>
          </a:bodyPr>
          <a:lstStyle/>
          <a:p>
            <a:r>
              <a:rPr lang="en-GB" sz="2400" dirty="0"/>
              <a:t>length ‖</a:t>
            </a:r>
            <a:r>
              <a:rPr lang="en-GB" sz="2400" dirty="0" err="1"/>
              <a:t>gB</a:t>
            </a:r>
            <a:r>
              <a:rPr lang="en-GB" sz="2400" dirty="0"/>
              <a:t>‖ = √(6² + 0²) = </a:t>
            </a:r>
            <a:r>
              <a:rPr lang="en-GB" sz="2400" b="1" dirty="0"/>
              <a:t>6</a:t>
            </a:r>
            <a:endParaRPr lang="en-GB" sz="2400" dirty="0"/>
          </a:p>
          <a:p>
            <a:r>
              <a:rPr lang="en-GB" sz="2400" dirty="0"/>
              <a:t>normalize: </a:t>
            </a:r>
            <a:r>
              <a:rPr lang="en-GB" sz="2400" dirty="0" err="1"/>
              <a:t>ûB</a:t>
            </a:r>
            <a:r>
              <a:rPr lang="en-GB" sz="2400" dirty="0"/>
              <a:t> = (−6/6, 0/6) = </a:t>
            </a:r>
            <a:r>
              <a:rPr lang="en-GB" sz="2400" b="1" dirty="0"/>
              <a:t>(−1, 0)</a:t>
            </a:r>
            <a:endParaRPr lang="en-GB" sz="2400" dirty="0"/>
          </a:p>
        </p:txBody>
      </p:sp>
      <p:sp>
        <p:nvSpPr>
          <p:cNvPr id="17" name="TextBox 16">
            <a:extLst>
              <a:ext uri="{FF2B5EF4-FFF2-40B4-BE49-F238E27FC236}">
                <a16:creationId xmlns:a16="http://schemas.microsoft.com/office/drawing/2014/main" id="{871875D4-2AB3-6D5C-ADFB-2D97F94CBDBC}"/>
              </a:ext>
            </a:extLst>
          </p:cNvPr>
          <p:cNvSpPr txBox="1"/>
          <p:nvPr/>
        </p:nvSpPr>
        <p:spPr>
          <a:xfrm>
            <a:off x="2061883" y="2670938"/>
            <a:ext cx="2218565" cy="461665"/>
          </a:xfrm>
          <a:prstGeom prst="rect">
            <a:avLst/>
          </a:prstGeom>
          <a:noFill/>
        </p:spPr>
        <p:txBody>
          <a:bodyPr wrap="square">
            <a:spAutoFit/>
          </a:bodyPr>
          <a:lstStyle/>
          <a:p>
            <a:r>
              <a:rPr lang="en-GB" sz="2400" dirty="0" err="1"/>
              <a:t>gA</a:t>
            </a:r>
            <a:r>
              <a:rPr lang="en-GB" sz="2400" dirty="0"/>
              <a:t> = (3, 4)</a:t>
            </a:r>
          </a:p>
        </p:txBody>
      </p:sp>
      <p:sp>
        <p:nvSpPr>
          <p:cNvPr id="19" name="TextBox 18">
            <a:extLst>
              <a:ext uri="{FF2B5EF4-FFF2-40B4-BE49-F238E27FC236}">
                <a16:creationId xmlns:a16="http://schemas.microsoft.com/office/drawing/2014/main" id="{36C6CDBA-91AA-277F-47D7-8C56D209580B}"/>
              </a:ext>
            </a:extLst>
          </p:cNvPr>
          <p:cNvSpPr txBox="1"/>
          <p:nvPr/>
        </p:nvSpPr>
        <p:spPr>
          <a:xfrm>
            <a:off x="8390824" y="2630468"/>
            <a:ext cx="6096000" cy="461665"/>
          </a:xfrm>
          <a:prstGeom prst="rect">
            <a:avLst/>
          </a:prstGeom>
          <a:noFill/>
        </p:spPr>
        <p:txBody>
          <a:bodyPr wrap="square">
            <a:spAutoFit/>
          </a:bodyPr>
          <a:lstStyle/>
          <a:p>
            <a:r>
              <a:rPr lang="en-GB" sz="2400" dirty="0" err="1"/>
              <a:t>gB</a:t>
            </a:r>
            <a:r>
              <a:rPr lang="en-GB" sz="2400" dirty="0"/>
              <a:t> = (−6, 0)</a:t>
            </a:r>
          </a:p>
        </p:txBody>
      </p:sp>
      <p:sp>
        <p:nvSpPr>
          <p:cNvPr id="22" name="Rectangle 21">
            <a:extLst>
              <a:ext uri="{FF2B5EF4-FFF2-40B4-BE49-F238E27FC236}">
                <a16:creationId xmlns:a16="http://schemas.microsoft.com/office/drawing/2014/main" id="{12201786-AEDD-FCB8-773B-CD2C1671DD35}"/>
              </a:ext>
            </a:extLst>
          </p:cNvPr>
          <p:cNvSpPr/>
          <p:nvPr/>
        </p:nvSpPr>
        <p:spPr>
          <a:xfrm>
            <a:off x="9000565" y="645459"/>
            <a:ext cx="2026023" cy="899045"/>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INPUT</a:t>
            </a:r>
          </a:p>
        </p:txBody>
      </p:sp>
      <p:sp>
        <p:nvSpPr>
          <p:cNvPr id="23" name="Slide Number Placeholder 22">
            <a:extLst>
              <a:ext uri="{FF2B5EF4-FFF2-40B4-BE49-F238E27FC236}">
                <a16:creationId xmlns:a16="http://schemas.microsoft.com/office/drawing/2014/main" id="{D3C92384-758A-891D-543E-7B35EDBA4413}"/>
              </a:ext>
            </a:extLst>
          </p:cNvPr>
          <p:cNvSpPr>
            <a:spLocks noGrp="1"/>
          </p:cNvSpPr>
          <p:nvPr>
            <p:ph type="sldNum" sz="quarter" idx="12"/>
          </p:nvPr>
        </p:nvSpPr>
        <p:spPr/>
        <p:txBody>
          <a:bodyPr/>
          <a:lstStyle/>
          <a:p>
            <a:fld id="{4544B810-10F2-2E49-94DF-FA7BE986B6B9}" type="slidenum">
              <a:rPr lang="en-US" smtClean="0"/>
              <a:t>43</a:t>
            </a:fld>
            <a:endParaRPr lang="en-US"/>
          </a:p>
        </p:txBody>
      </p:sp>
    </p:spTree>
    <p:extLst>
      <p:ext uri="{BB962C8B-B14F-4D97-AF65-F5344CB8AC3E}">
        <p14:creationId xmlns:p14="http://schemas.microsoft.com/office/powerpoint/2010/main" val="39090025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039D7-C83C-52DB-73A1-103C5382F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5DAB1-6900-2429-0A0A-DD8A3A574EC9}"/>
              </a:ext>
            </a:extLst>
          </p:cNvPr>
          <p:cNvSpPr>
            <a:spLocks noGrp="1"/>
          </p:cNvSpPr>
          <p:nvPr>
            <p:ph type="title"/>
          </p:nvPr>
        </p:nvSpPr>
        <p:spPr/>
        <p:txBody>
          <a:bodyPr/>
          <a:lstStyle/>
          <a:p>
            <a:r>
              <a:rPr lang="en-GB" dirty="0"/>
              <a:t>Margin conflict detection</a:t>
            </a:r>
            <a:endParaRPr lang="en-US" dirty="0"/>
          </a:p>
        </p:txBody>
      </p:sp>
      <p:sp>
        <p:nvSpPr>
          <p:cNvPr id="10" name="TextBox 9">
            <a:extLst>
              <a:ext uri="{FF2B5EF4-FFF2-40B4-BE49-F238E27FC236}">
                <a16:creationId xmlns:a16="http://schemas.microsoft.com/office/drawing/2014/main" id="{A07790A9-13B1-C583-1933-3940D2F72A17}"/>
              </a:ext>
            </a:extLst>
          </p:cNvPr>
          <p:cNvSpPr txBox="1"/>
          <p:nvPr/>
        </p:nvSpPr>
        <p:spPr>
          <a:xfrm>
            <a:off x="1054659" y="1690688"/>
            <a:ext cx="10297553" cy="461665"/>
          </a:xfrm>
          <a:prstGeom prst="rect">
            <a:avLst/>
          </a:prstGeom>
          <a:noFill/>
        </p:spPr>
        <p:txBody>
          <a:bodyPr wrap="square">
            <a:spAutoFit/>
          </a:bodyPr>
          <a:lstStyle/>
          <a:p>
            <a:r>
              <a:rPr lang="en-GB" sz="2400" dirty="0"/>
              <a:t>Inner product normalised vectors:</a:t>
            </a:r>
            <a:endParaRPr lang="en-US" sz="2400" dirty="0"/>
          </a:p>
        </p:txBody>
      </p:sp>
      <p:sp>
        <p:nvSpPr>
          <p:cNvPr id="11" name="Rectangle 10">
            <a:extLst>
              <a:ext uri="{FF2B5EF4-FFF2-40B4-BE49-F238E27FC236}">
                <a16:creationId xmlns:a16="http://schemas.microsoft.com/office/drawing/2014/main" id="{D04F8E4A-7F42-87E5-1F76-A40B0D908F67}"/>
              </a:ext>
            </a:extLst>
          </p:cNvPr>
          <p:cNvSpPr/>
          <p:nvPr/>
        </p:nvSpPr>
        <p:spPr>
          <a:xfrm>
            <a:off x="2061883" y="3238317"/>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12" name="Rectangle 11">
            <a:extLst>
              <a:ext uri="{FF2B5EF4-FFF2-40B4-BE49-F238E27FC236}">
                <a16:creationId xmlns:a16="http://schemas.microsoft.com/office/drawing/2014/main" id="{02DC4500-F6A1-6A87-5FB9-6EFDFA626C9D}"/>
              </a:ext>
            </a:extLst>
          </p:cNvPr>
          <p:cNvSpPr/>
          <p:nvPr/>
        </p:nvSpPr>
        <p:spPr>
          <a:xfrm>
            <a:off x="8390824" y="3238317"/>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13" name="Straight Connector 12">
            <a:extLst>
              <a:ext uri="{FF2B5EF4-FFF2-40B4-BE49-F238E27FC236}">
                <a16:creationId xmlns:a16="http://schemas.microsoft.com/office/drawing/2014/main" id="{8CECDA9B-983A-A908-3E10-CAB177B38ECC}"/>
              </a:ext>
            </a:extLst>
          </p:cNvPr>
          <p:cNvCxnSpPr>
            <a:stCxn id="11" idx="3"/>
            <a:endCxn id="12" idx="1"/>
          </p:cNvCxnSpPr>
          <p:nvPr/>
        </p:nvCxnSpPr>
        <p:spPr>
          <a:xfrm>
            <a:off x="3411129" y="3901099"/>
            <a:ext cx="4979695"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53D7F1BF-A03E-9306-79C3-1EFFDD2395B6}"/>
              </a:ext>
            </a:extLst>
          </p:cNvPr>
          <p:cNvSpPr txBox="1"/>
          <p:nvPr/>
        </p:nvSpPr>
        <p:spPr>
          <a:xfrm>
            <a:off x="2061883" y="2670938"/>
            <a:ext cx="2218565" cy="461665"/>
          </a:xfrm>
          <a:prstGeom prst="rect">
            <a:avLst/>
          </a:prstGeom>
          <a:noFill/>
        </p:spPr>
        <p:txBody>
          <a:bodyPr wrap="square">
            <a:spAutoFit/>
          </a:bodyPr>
          <a:lstStyle/>
          <a:p>
            <a:r>
              <a:rPr lang="en-GB" sz="2400" dirty="0"/>
              <a:t> </a:t>
            </a:r>
            <a:r>
              <a:rPr lang="en-GB" sz="2400" b="1" dirty="0"/>
              <a:t>(0.6, 0.8)</a:t>
            </a:r>
            <a:endParaRPr lang="en-GB" sz="2400" dirty="0"/>
          </a:p>
        </p:txBody>
      </p:sp>
      <p:sp>
        <p:nvSpPr>
          <p:cNvPr id="19" name="TextBox 18">
            <a:extLst>
              <a:ext uri="{FF2B5EF4-FFF2-40B4-BE49-F238E27FC236}">
                <a16:creationId xmlns:a16="http://schemas.microsoft.com/office/drawing/2014/main" id="{077BD48F-3DD0-B9E1-4C33-16C939D5610A}"/>
              </a:ext>
            </a:extLst>
          </p:cNvPr>
          <p:cNvSpPr txBox="1"/>
          <p:nvPr/>
        </p:nvSpPr>
        <p:spPr>
          <a:xfrm>
            <a:off x="8390824" y="2630468"/>
            <a:ext cx="6096000" cy="461665"/>
          </a:xfrm>
          <a:prstGeom prst="rect">
            <a:avLst/>
          </a:prstGeom>
          <a:noFill/>
        </p:spPr>
        <p:txBody>
          <a:bodyPr wrap="square">
            <a:spAutoFit/>
          </a:bodyPr>
          <a:lstStyle/>
          <a:p>
            <a:r>
              <a:rPr lang="en-GB" sz="2400" b="1" dirty="0"/>
              <a:t>(−1, 0)</a:t>
            </a:r>
            <a:endParaRPr lang="en-GB" sz="2400" dirty="0"/>
          </a:p>
        </p:txBody>
      </p:sp>
      <p:sp>
        <p:nvSpPr>
          <p:cNvPr id="22" name="Rectangle 21">
            <a:extLst>
              <a:ext uri="{FF2B5EF4-FFF2-40B4-BE49-F238E27FC236}">
                <a16:creationId xmlns:a16="http://schemas.microsoft.com/office/drawing/2014/main" id="{E8AD1FB6-468B-D1FC-CDD8-E5C9BEB059DD}"/>
              </a:ext>
            </a:extLst>
          </p:cNvPr>
          <p:cNvSpPr/>
          <p:nvPr/>
        </p:nvSpPr>
        <p:spPr>
          <a:xfrm>
            <a:off x="9000565" y="645459"/>
            <a:ext cx="2026023" cy="899045"/>
          </a:xfrm>
          <a:prstGeom prst="rect">
            <a:avLst/>
          </a:prstGeom>
          <a:solidFill>
            <a:srgbClr val="FFFF00">
              <a:alpha val="38431"/>
            </a:srgbClr>
          </a:solidFill>
          <a:ln>
            <a:solidFill>
              <a:srgbClr val="FFFF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OUTPUT</a:t>
            </a:r>
          </a:p>
        </p:txBody>
      </p:sp>
      <p:sp>
        <p:nvSpPr>
          <p:cNvPr id="4" name="TextBox 3">
            <a:extLst>
              <a:ext uri="{FF2B5EF4-FFF2-40B4-BE49-F238E27FC236}">
                <a16:creationId xmlns:a16="http://schemas.microsoft.com/office/drawing/2014/main" id="{2E5A0F5B-F5A9-B129-B65B-0C0D8FEBBA70}"/>
              </a:ext>
            </a:extLst>
          </p:cNvPr>
          <p:cNvSpPr txBox="1"/>
          <p:nvPr/>
        </p:nvSpPr>
        <p:spPr>
          <a:xfrm>
            <a:off x="2279235" y="5142014"/>
            <a:ext cx="7243482" cy="1323439"/>
          </a:xfrm>
          <a:prstGeom prst="rect">
            <a:avLst/>
          </a:prstGeom>
          <a:noFill/>
        </p:spPr>
        <p:txBody>
          <a:bodyPr wrap="square">
            <a:spAutoFit/>
          </a:bodyPr>
          <a:lstStyle/>
          <a:p>
            <a:pPr indent="0" algn="ctr">
              <a:buNone/>
            </a:pPr>
            <a:r>
              <a:rPr lang="en-GB" sz="2000" b="0" i="0" dirty="0" err="1">
                <a:effectLst/>
              </a:rPr>
              <a:t>ûA</a:t>
            </a:r>
            <a:r>
              <a:rPr lang="en-GB" sz="2000" b="0" i="0" dirty="0">
                <a:effectLst/>
              </a:rPr>
              <a:t> · </a:t>
            </a:r>
            <a:r>
              <a:rPr lang="en-GB" sz="2000" b="0" i="0" dirty="0" err="1">
                <a:effectLst/>
              </a:rPr>
              <a:t>ûB</a:t>
            </a:r>
            <a:r>
              <a:rPr lang="en-GB" sz="2000" b="0" i="0" dirty="0">
                <a:effectLst/>
              </a:rPr>
              <a:t> = (0.6)(−1) + (0.8)(0) = </a:t>
            </a:r>
            <a:r>
              <a:rPr lang="en-GB" sz="2000" b="1" i="0" dirty="0">
                <a:effectLst/>
              </a:rPr>
              <a:t>−0.6</a:t>
            </a:r>
          </a:p>
          <a:p>
            <a:pPr algn="ctr"/>
            <a:r>
              <a:rPr lang="en-GB" sz="2000" dirty="0" err="1"/>
              <a:t>arccos</a:t>
            </a:r>
            <a:r>
              <a:rPr lang="en-GB" sz="2000" dirty="0"/>
              <a:t>(−0.6) ≈ </a:t>
            </a:r>
            <a:endParaRPr lang="en-GB" sz="2000" b="1" dirty="0"/>
          </a:p>
          <a:p>
            <a:pPr algn="ctr"/>
            <a:r>
              <a:rPr lang="en-GB" sz="2000" b="1" dirty="0"/>
              <a:t>127° &gt; 90 ° </a:t>
            </a:r>
          </a:p>
          <a:p>
            <a:pPr algn="ctr"/>
            <a:r>
              <a:rPr lang="en-GB" sz="2000" b="1" dirty="0">
                <a:solidFill>
                  <a:srgbClr val="FF0000"/>
                </a:solidFill>
              </a:rPr>
              <a:t>CONFLICT</a:t>
            </a:r>
            <a:endParaRPr lang="en-GB" sz="2000" b="0" i="0" dirty="0">
              <a:solidFill>
                <a:srgbClr val="FF0000"/>
              </a:solidFill>
              <a:effectLst/>
            </a:endParaRPr>
          </a:p>
        </p:txBody>
      </p:sp>
      <p:sp>
        <p:nvSpPr>
          <p:cNvPr id="5" name="Slide Number Placeholder 4">
            <a:extLst>
              <a:ext uri="{FF2B5EF4-FFF2-40B4-BE49-F238E27FC236}">
                <a16:creationId xmlns:a16="http://schemas.microsoft.com/office/drawing/2014/main" id="{F3EE1BFE-3BED-B6BE-4079-D2E357B88DA4}"/>
              </a:ext>
            </a:extLst>
          </p:cNvPr>
          <p:cNvSpPr>
            <a:spLocks noGrp="1"/>
          </p:cNvSpPr>
          <p:nvPr>
            <p:ph type="sldNum" sz="quarter" idx="12"/>
          </p:nvPr>
        </p:nvSpPr>
        <p:spPr/>
        <p:txBody>
          <a:bodyPr/>
          <a:lstStyle/>
          <a:p>
            <a:fld id="{4544B810-10F2-2E49-94DF-FA7BE986B6B9}" type="slidenum">
              <a:rPr lang="en-US" smtClean="0"/>
              <a:t>44</a:t>
            </a:fld>
            <a:endParaRPr lang="en-US"/>
          </a:p>
        </p:txBody>
      </p:sp>
    </p:spTree>
    <p:extLst>
      <p:ext uri="{BB962C8B-B14F-4D97-AF65-F5344CB8AC3E}">
        <p14:creationId xmlns:p14="http://schemas.microsoft.com/office/powerpoint/2010/main" val="14320785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7B09B-4B5C-2A9D-D339-FC8EAD5CE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E27265-CD5B-E2FF-339D-1EC233D201AB}"/>
              </a:ext>
            </a:extLst>
          </p:cNvPr>
          <p:cNvSpPr>
            <a:spLocks noGrp="1"/>
          </p:cNvSpPr>
          <p:nvPr>
            <p:ph type="title"/>
          </p:nvPr>
        </p:nvSpPr>
        <p:spPr/>
        <p:txBody>
          <a:bodyPr/>
          <a:lstStyle/>
          <a:p>
            <a:r>
              <a:rPr lang="en-GB" dirty="0"/>
              <a:t>Margin conflict detection</a:t>
            </a:r>
            <a:endParaRPr lang="en-US" dirty="0"/>
          </a:p>
        </p:txBody>
      </p:sp>
      <p:cxnSp>
        <p:nvCxnSpPr>
          <p:cNvPr id="7" name="Straight Connector 6">
            <a:extLst>
              <a:ext uri="{FF2B5EF4-FFF2-40B4-BE49-F238E27FC236}">
                <a16:creationId xmlns:a16="http://schemas.microsoft.com/office/drawing/2014/main" id="{58221044-F6D2-D524-A535-91FF43349520}"/>
              </a:ext>
            </a:extLst>
          </p:cNvPr>
          <p:cNvCxnSpPr>
            <a:cxnSpLocks/>
          </p:cNvCxnSpPr>
          <p:nvPr/>
        </p:nvCxnSpPr>
        <p:spPr>
          <a:xfrm>
            <a:off x="5910470" y="1690688"/>
            <a:ext cx="0" cy="4776373"/>
          </a:xfrm>
          <a:prstGeom prst="line">
            <a:avLst/>
          </a:prstGeom>
          <a:ln w="57150"/>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7F429461-FEEE-15D6-02E9-C82FCB466676}"/>
              </a:ext>
            </a:extLst>
          </p:cNvPr>
          <p:cNvSpPr txBox="1"/>
          <p:nvPr/>
        </p:nvSpPr>
        <p:spPr>
          <a:xfrm>
            <a:off x="1921565" y="1624427"/>
            <a:ext cx="2782956" cy="461665"/>
          </a:xfrm>
          <a:prstGeom prst="rect">
            <a:avLst/>
          </a:prstGeom>
          <a:noFill/>
        </p:spPr>
        <p:txBody>
          <a:bodyPr wrap="square" rtlCol="0">
            <a:spAutoFit/>
          </a:bodyPr>
          <a:lstStyle/>
          <a:p>
            <a:pPr algn="ctr"/>
            <a:r>
              <a:rPr lang="en-US" sz="2400" dirty="0"/>
              <a:t>CLASSICAL</a:t>
            </a:r>
          </a:p>
        </p:txBody>
      </p:sp>
      <p:sp>
        <p:nvSpPr>
          <p:cNvPr id="9" name="TextBox 8">
            <a:extLst>
              <a:ext uri="{FF2B5EF4-FFF2-40B4-BE49-F238E27FC236}">
                <a16:creationId xmlns:a16="http://schemas.microsoft.com/office/drawing/2014/main" id="{39CCB6C3-83AC-9175-B423-E273E0F230AC}"/>
              </a:ext>
            </a:extLst>
          </p:cNvPr>
          <p:cNvSpPr txBox="1"/>
          <p:nvPr/>
        </p:nvSpPr>
        <p:spPr>
          <a:xfrm>
            <a:off x="7487479" y="1610554"/>
            <a:ext cx="2782956" cy="461665"/>
          </a:xfrm>
          <a:prstGeom prst="rect">
            <a:avLst/>
          </a:prstGeom>
          <a:noFill/>
        </p:spPr>
        <p:txBody>
          <a:bodyPr wrap="square" rtlCol="0">
            <a:spAutoFit/>
          </a:bodyPr>
          <a:lstStyle/>
          <a:p>
            <a:pPr algn="ctr"/>
            <a:r>
              <a:rPr lang="en-US" sz="2400" dirty="0"/>
              <a:t>QUANTUM</a:t>
            </a:r>
          </a:p>
        </p:txBody>
      </p:sp>
      <p:sp>
        <p:nvSpPr>
          <p:cNvPr id="15" name="Rectangle 14">
            <a:extLst>
              <a:ext uri="{FF2B5EF4-FFF2-40B4-BE49-F238E27FC236}">
                <a16:creationId xmlns:a16="http://schemas.microsoft.com/office/drawing/2014/main" id="{55D492A9-2605-D115-47CC-7AE2EE8D0B38}"/>
              </a:ext>
            </a:extLst>
          </p:cNvPr>
          <p:cNvSpPr/>
          <p:nvPr/>
        </p:nvSpPr>
        <p:spPr>
          <a:xfrm>
            <a:off x="742123" y="3740219"/>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16" name="Rectangle 15">
            <a:extLst>
              <a:ext uri="{FF2B5EF4-FFF2-40B4-BE49-F238E27FC236}">
                <a16:creationId xmlns:a16="http://schemas.microsoft.com/office/drawing/2014/main" id="{7EC56B3A-9E5B-FAFA-0E09-FFEF8442CDB3}"/>
              </a:ext>
            </a:extLst>
          </p:cNvPr>
          <p:cNvSpPr/>
          <p:nvPr/>
        </p:nvSpPr>
        <p:spPr>
          <a:xfrm>
            <a:off x="4309934" y="3740219"/>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18" name="Straight Connector 17">
            <a:extLst>
              <a:ext uri="{FF2B5EF4-FFF2-40B4-BE49-F238E27FC236}">
                <a16:creationId xmlns:a16="http://schemas.microsoft.com/office/drawing/2014/main" id="{5E9E3260-1119-EB44-8557-1CD7E29A7C02}"/>
              </a:ext>
            </a:extLst>
          </p:cNvPr>
          <p:cNvCxnSpPr>
            <a:stCxn id="15" idx="3"/>
            <a:endCxn id="16" idx="1"/>
          </p:cNvCxnSpPr>
          <p:nvPr/>
        </p:nvCxnSpPr>
        <p:spPr>
          <a:xfrm>
            <a:off x="2091369" y="4403001"/>
            <a:ext cx="2218565" cy="0"/>
          </a:xfrm>
          <a:prstGeom prst="line">
            <a:avLst/>
          </a:prstGeom>
          <a:ln w="57150" cap="flat" cmpd="sng" algn="ctr">
            <a:solidFill>
              <a:schemeClr val="accent2">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TextBox 19">
            <a:extLst>
              <a:ext uri="{FF2B5EF4-FFF2-40B4-BE49-F238E27FC236}">
                <a16:creationId xmlns:a16="http://schemas.microsoft.com/office/drawing/2014/main" id="{1734D995-3791-8C12-4F17-AD7AF2FD2DB5}"/>
              </a:ext>
            </a:extLst>
          </p:cNvPr>
          <p:cNvSpPr txBox="1"/>
          <p:nvPr/>
        </p:nvSpPr>
        <p:spPr>
          <a:xfrm>
            <a:off x="185531" y="2975483"/>
            <a:ext cx="6096000" cy="369332"/>
          </a:xfrm>
          <a:prstGeom prst="rect">
            <a:avLst/>
          </a:prstGeom>
          <a:noFill/>
        </p:spPr>
        <p:txBody>
          <a:bodyPr wrap="square">
            <a:spAutoFit/>
          </a:bodyPr>
          <a:lstStyle/>
          <a:p>
            <a:pPr algn="ctr"/>
            <a:r>
              <a:rPr lang="en-GB" b="1" i="0" dirty="0">
                <a:effectLst/>
              </a:rPr>
              <a:t>compressed sketch </a:t>
            </a:r>
            <a:r>
              <a:rPr lang="en-GB" dirty="0"/>
              <a:t>size is ~1/τ²</a:t>
            </a:r>
            <a:endParaRPr lang="en-US" dirty="0"/>
          </a:p>
        </p:txBody>
      </p:sp>
      <p:pic>
        <p:nvPicPr>
          <p:cNvPr id="21" name="Picture 20" descr="galaxy-brain - Wiktionary, the free dictionary">
            <a:extLst>
              <a:ext uri="{FF2B5EF4-FFF2-40B4-BE49-F238E27FC236}">
                <a16:creationId xmlns:a16="http://schemas.microsoft.com/office/drawing/2014/main" id="{B01EB5F2-C2C1-8043-A7FA-281F61EA8AB1}"/>
              </a:ext>
            </a:extLst>
          </p:cNvPr>
          <p:cNvPicPr>
            <a:picLocks noChangeAspect="1"/>
          </p:cNvPicPr>
          <p:nvPr/>
        </p:nvPicPr>
        <p:blipFill>
          <a:blip r:embed="rId2"/>
          <a:stretch>
            <a:fillRect/>
          </a:stretch>
        </p:blipFill>
        <p:spPr>
          <a:xfrm>
            <a:off x="6611461" y="4200391"/>
            <a:ext cx="1730782" cy="1730782"/>
          </a:xfrm>
          <a:prstGeom prst="rect">
            <a:avLst/>
          </a:prstGeom>
        </p:spPr>
      </p:pic>
      <p:sp>
        <p:nvSpPr>
          <p:cNvPr id="23" name="TextBox 22">
            <a:extLst>
              <a:ext uri="{FF2B5EF4-FFF2-40B4-BE49-F238E27FC236}">
                <a16:creationId xmlns:a16="http://schemas.microsoft.com/office/drawing/2014/main" id="{6818F412-69D8-4230-6205-67C3A11878AA}"/>
              </a:ext>
            </a:extLst>
          </p:cNvPr>
          <p:cNvSpPr txBox="1"/>
          <p:nvPr/>
        </p:nvSpPr>
        <p:spPr>
          <a:xfrm>
            <a:off x="5910470" y="3143854"/>
            <a:ext cx="6096000" cy="461665"/>
          </a:xfrm>
          <a:prstGeom prst="rect">
            <a:avLst/>
          </a:prstGeom>
          <a:noFill/>
        </p:spPr>
        <p:txBody>
          <a:bodyPr wrap="square">
            <a:spAutoFit/>
          </a:bodyPr>
          <a:lstStyle/>
          <a:p>
            <a:pPr algn="ctr"/>
            <a:r>
              <a:rPr lang="en-GB" sz="2400" b="1" i="0" dirty="0">
                <a:solidFill>
                  <a:srgbClr val="0070C0"/>
                </a:solidFill>
                <a:effectLst/>
              </a:rPr>
              <a:t>Projections</a:t>
            </a:r>
            <a:endParaRPr lang="en-US" sz="2400" dirty="0">
              <a:solidFill>
                <a:srgbClr val="0070C0"/>
              </a:solidFill>
            </a:endParaRPr>
          </a:p>
        </p:txBody>
      </p:sp>
      <p:pic>
        <p:nvPicPr>
          <p:cNvPr id="24" name="Picture 23">
            <a:extLst>
              <a:ext uri="{FF2B5EF4-FFF2-40B4-BE49-F238E27FC236}">
                <a16:creationId xmlns:a16="http://schemas.microsoft.com/office/drawing/2014/main" id="{97A4A3D0-9381-DE9F-2D40-2931CBEFEF2D}"/>
              </a:ext>
            </a:extLst>
          </p:cNvPr>
          <p:cNvPicPr>
            <a:picLocks noChangeAspect="1"/>
          </p:cNvPicPr>
          <p:nvPr/>
        </p:nvPicPr>
        <p:blipFill>
          <a:blip r:embed="rId3"/>
          <a:srcRect l="38056" t="5030" r="23709" b="50925"/>
          <a:stretch>
            <a:fillRect/>
          </a:stretch>
        </p:blipFill>
        <p:spPr>
          <a:xfrm>
            <a:off x="8614729" y="4200392"/>
            <a:ext cx="3085589" cy="1730782"/>
          </a:xfrm>
          <a:prstGeom prst="rect">
            <a:avLst/>
          </a:prstGeom>
        </p:spPr>
      </p:pic>
      <p:sp>
        <p:nvSpPr>
          <p:cNvPr id="25" name="Slide Number Placeholder 24">
            <a:extLst>
              <a:ext uri="{FF2B5EF4-FFF2-40B4-BE49-F238E27FC236}">
                <a16:creationId xmlns:a16="http://schemas.microsoft.com/office/drawing/2014/main" id="{F8831E5B-4075-5F28-2BF6-2078BC9AABA6}"/>
              </a:ext>
            </a:extLst>
          </p:cNvPr>
          <p:cNvSpPr>
            <a:spLocks noGrp="1"/>
          </p:cNvSpPr>
          <p:nvPr>
            <p:ph type="sldNum" sz="quarter" idx="12"/>
          </p:nvPr>
        </p:nvSpPr>
        <p:spPr/>
        <p:txBody>
          <a:bodyPr/>
          <a:lstStyle/>
          <a:p>
            <a:fld id="{4544B810-10F2-2E49-94DF-FA7BE986B6B9}" type="slidenum">
              <a:rPr lang="en-US" smtClean="0"/>
              <a:t>45</a:t>
            </a:fld>
            <a:endParaRPr lang="en-US"/>
          </a:p>
        </p:txBody>
      </p:sp>
      <p:sp>
        <p:nvSpPr>
          <p:cNvPr id="3" name="Rectangle 2">
            <a:extLst>
              <a:ext uri="{FF2B5EF4-FFF2-40B4-BE49-F238E27FC236}">
                <a16:creationId xmlns:a16="http://schemas.microsoft.com/office/drawing/2014/main" id="{2F5D5E78-D01C-16AE-D5ED-F011BB2C7DCC}"/>
              </a:ext>
            </a:extLst>
          </p:cNvPr>
          <p:cNvSpPr/>
          <p:nvPr/>
        </p:nvSpPr>
        <p:spPr>
          <a:xfrm rot="20197062">
            <a:off x="6155306" y="1010158"/>
            <a:ext cx="2849968" cy="557212"/>
          </a:xfrm>
          <a:prstGeom prst="rect">
            <a:avLst/>
          </a:prstGeom>
          <a:solidFill>
            <a:schemeClr val="accent1">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Gap inner product + amplitude estimation</a:t>
            </a:r>
          </a:p>
        </p:txBody>
      </p:sp>
    </p:spTree>
    <p:extLst>
      <p:ext uri="{BB962C8B-B14F-4D97-AF65-F5344CB8AC3E}">
        <p14:creationId xmlns:p14="http://schemas.microsoft.com/office/powerpoint/2010/main" val="19210059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16A83-83D3-9F2E-E95B-07A24DA22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053B9-9FB1-E53B-3243-EC1D4D59C490}"/>
              </a:ext>
            </a:extLst>
          </p:cNvPr>
          <p:cNvSpPr>
            <a:spLocks noGrp="1"/>
          </p:cNvSpPr>
          <p:nvPr>
            <p:ph type="title"/>
          </p:nvPr>
        </p:nvSpPr>
        <p:spPr/>
        <p:txBody>
          <a:bodyPr/>
          <a:lstStyle/>
          <a:p>
            <a:r>
              <a:rPr lang="en-GB" dirty="0"/>
              <a:t>Margin conflict detection</a:t>
            </a:r>
            <a:endParaRPr lang="en-US" dirty="0"/>
          </a:p>
        </p:txBody>
      </p:sp>
      <p:sp>
        <p:nvSpPr>
          <p:cNvPr id="8" name="TextBox 7">
            <a:extLst>
              <a:ext uri="{FF2B5EF4-FFF2-40B4-BE49-F238E27FC236}">
                <a16:creationId xmlns:a16="http://schemas.microsoft.com/office/drawing/2014/main" id="{E803C060-543C-BD2E-42AE-FF5230E59586}"/>
              </a:ext>
            </a:extLst>
          </p:cNvPr>
          <p:cNvSpPr txBox="1"/>
          <p:nvPr/>
        </p:nvSpPr>
        <p:spPr>
          <a:xfrm>
            <a:off x="1921565" y="1624427"/>
            <a:ext cx="2782956" cy="461665"/>
          </a:xfrm>
          <a:prstGeom prst="rect">
            <a:avLst/>
          </a:prstGeom>
          <a:noFill/>
        </p:spPr>
        <p:txBody>
          <a:bodyPr wrap="square" rtlCol="0">
            <a:spAutoFit/>
          </a:bodyPr>
          <a:lstStyle/>
          <a:p>
            <a:pPr algn="ctr"/>
            <a:r>
              <a:rPr lang="en-US" sz="2400" dirty="0"/>
              <a:t>Quantum</a:t>
            </a:r>
          </a:p>
        </p:txBody>
      </p:sp>
      <p:sp>
        <p:nvSpPr>
          <p:cNvPr id="3" name="Rectangle 2">
            <a:extLst>
              <a:ext uri="{FF2B5EF4-FFF2-40B4-BE49-F238E27FC236}">
                <a16:creationId xmlns:a16="http://schemas.microsoft.com/office/drawing/2014/main" id="{68385196-AB8B-195F-CE89-9012F0DFDC58}"/>
              </a:ext>
            </a:extLst>
          </p:cNvPr>
          <p:cNvSpPr/>
          <p:nvPr/>
        </p:nvSpPr>
        <p:spPr>
          <a:xfrm>
            <a:off x="3472071" y="3806480"/>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4" name="Rectangle 3">
            <a:extLst>
              <a:ext uri="{FF2B5EF4-FFF2-40B4-BE49-F238E27FC236}">
                <a16:creationId xmlns:a16="http://schemas.microsoft.com/office/drawing/2014/main" id="{B2805022-74EA-F80B-F1D2-92AE8EDA1FCD}"/>
              </a:ext>
            </a:extLst>
          </p:cNvPr>
          <p:cNvSpPr/>
          <p:nvPr/>
        </p:nvSpPr>
        <p:spPr>
          <a:xfrm>
            <a:off x="7039882" y="3806480"/>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5" name="Straight Connector 4">
            <a:extLst>
              <a:ext uri="{FF2B5EF4-FFF2-40B4-BE49-F238E27FC236}">
                <a16:creationId xmlns:a16="http://schemas.microsoft.com/office/drawing/2014/main" id="{C97C376E-7A51-F523-B570-2A23713F6586}"/>
              </a:ext>
            </a:extLst>
          </p:cNvPr>
          <p:cNvCxnSpPr>
            <a:cxnSpLocks/>
          </p:cNvCxnSpPr>
          <p:nvPr/>
        </p:nvCxnSpPr>
        <p:spPr>
          <a:xfrm>
            <a:off x="4821317" y="4243975"/>
            <a:ext cx="2218565" cy="0"/>
          </a:xfrm>
          <a:prstGeom prst="line">
            <a:avLst/>
          </a:prstGeom>
          <a:ln w="57150" cap="flat" cmpd="sng" algn="ctr">
            <a:solidFill>
              <a:schemeClr val="accent2">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Straight Connector 6">
            <a:extLst>
              <a:ext uri="{FF2B5EF4-FFF2-40B4-BE49-F238E27FC236}">
                <a16:creationId xmlns:a16="http://schemas.microsoft.com/office/drawing/2014/main" id="{9D7F946E-5819-0387-2668-8184FAFFF379}"/>
              </a:ext>
            </a:extLst>
          </p:cNvPr>
          <p:cNvCxnSpPr>
            <a:cxnSpLocks/>
          </p:cNvCxnSpPr>
          <p:nvPr/>
        </p:nvCxnSpPr>
        <p:spPr>
          <a:xfrm flipH="1">
            <a:off x="4821317" y="4850296"/>
            <a:ext cx="2218565" cy="0"/>
          </a:xfrm>
          <a:prstGeom prst="line">
            <a:avLst/>
          </a:prstGeom>
          <a:ln w="57150" cap="flat" cmpd="sng" algn="ctr">
            <a:solidFill>
              <a:schemeClr val="accent5">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B5FC8868-76E7-7069-419E-BD9B2E295B91}"/>
              </a:ext>
            </a:extLst>
          </p:cNvPr>
          <p:cNvSpPr txBox="1"/>
          <p:nvPr/>
        </p:nvSpPr>
        <p:spPr>
          <a:xfrm>
            <a:off x="5170825" y="3683605"/>
            <a:ext cx="1349246" cy="646331"/>
          </a:xfrm>
          <a:prstGeom prst="rect">
            <a:avLst/>
          </a:prstGeom>
          <a:noFill/>
        </p:spPr>
        <p:txBody>
          <a:bodyPr wrap="square">
            <a:spAutoFit/>
          </a:bodyPr>
          <a:lstStyle/>
          <a:p>
            <a:r>
              <a:rPr lang="en-GB" dirty="0"/>
              <a:t>log P qubits</a:t>
            </a:r>
            <a:br>
              <a:rPr lang="en-GB" dirty="0"/>
            </a:br>
            <a:endParaRPr lang="en-US" dirty="0"/>
          </a:p>
        </p:txBody>
      </p:sp>
      <p:sp>
        <p:nvSpPr>
          <p:cNvPr id="14" name="TextBox 13">
            <a:extLst>
              <a:ext uri="{FF2B5EF4-FFF2-40B4-BE49-F238E27FC236}">
                <a16:creationId xmlns:a16="http://schemas.microsoft.com/office/drawing/2014/main" id="{996B3A66-D9C7-4FAE-1D9E-5BE68FED3D91}"/>
              </a:ext>
            </a:extLst>
          </p:cNvPr>
          <p:cNvSpPr txBox="1"/>
          <p:nvPr/>
        </p:nvSpPr>
        <p:spPr>
          <a:xfrm>
            <a:off x="5170825" y="4444265"/>
            <a:ext cx="1349246" cy="646331"/>
          </a:xfrm>
          <a:prstGeom prst="rect">
            <a:avLst/>
          </a:prstGeom>
          <a:noFill/>
        </p:spPr>
        <p:txBody>
          <a:bodyPr wrap="square">
            <a:spAutoFit/>
          </a:bodyPr>
          <a:lstStyle/>
          <a:p>
            <a:r>
              <a:rPr lang="en-GB" dirty="0"/>
              <a:t>log P qubits</a:t>
            </a:r>
            <a:br>
              <a:rPr lang="en-GB" dirty="0"/>
            </a:br>
            <a:endParaRPr lang="en-US" dirty="0"/>
          </a:p>
        </p:txBody>
      </p:sp>
      <p:sp>
        <p:nvSpPr>
          <p:cNvPr id="15" name="Right Brace 14">
            <a:extLst>
              <a:ext uri="{FF2B5EF4-FFF2-40B4-BE49-F238E27FC236}">
                <a16:creationId xmlns:a16="http://schemas.microsoft.com/office/drawing/2014/main" id="{B03F4631-F62C-B7C1-ADA9-84EECEC37A4D}"/>
              </a:ext>
            </a:extLst>
          </p:cNvPr>
          <p:cNvSpPr/>
          <p:nvPr/>
        </p:nvSpPr>
        <p:spPr>
          <a:xfrm rot="16200000">
            <a:off x="5649704" y="270664"/>
            <a:ext cx="663822" cy="5927211"/>
          </a:xfrm>
          <a:prstGeom prst="rightBrace">
            <a:avLst>
              <a:gd name="adj1" fmla="val 8333"/>
              <a:gd name="adj2" fmla="val 52587"/>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06182558-1F90-8B60-E510-28EF58888C7E}"/>
              </a:ext>
            </a:extLst>
          </p:cNvPr>
          <p:cNvSpPr txBox="1"/>
          <p:nvPr/>
        </p:nvSpPr>
        <p:spPr>
          <a:xfrm>
            <a:off x="5170825" y="2447066"/>
            <a:ext cx="1974571" cy="369332"/>
          </a:xfrm>
          <a:prstGeom prst="rect">
            <a:avLst/>
          </a:prstGeom>
          <a:noFill/>
        </p:spPr>
        <p:txBody>
          <a:bodyPr wrap="square">
            <a:spAutoFit/>
          </a:bodyPr>
          <a:lstStyle/>
          <a:p>
            <a:pPr algn="ctr"/>
            <a:r>
              <a:rPr lang="en-GB" sz="1800" b="0" i="0" u="none" strike="noStrike" dirty="0">
                <a:effectLst/>
                <a:latin typeface="Anthropic Sans"/>
              </a:rPr>
              <a:t>1/</a:t>
            </a:r>
            <a:r>
              <a:rPr lang="en-GB" sz="1800" b="0" i="0" u="none" strike="noStrike" dirty="0" err="1">
                <a:effectLst/>
                <a:latin typeface="Anthropic Sans"/>
              </a:rPr>
              <a:t>τ</a:t>
            </a:r>
            <a:r>
              <a:rPr lang="en-GB" sz="1800" b="0" i="0" u="none" strike="noStrike" dirty="0">
                <a:effectLst/>
                <a:latin typeface="Anthropic Sans"/>
              </a:rPr>
              <a:t> round-trips</a:t>
            </a:r>
            <a:endParaRPr lang="en-US" dirty="0"/>
          </a:p>
        </p:txBody>
      </p:sp>
      <p:sp>
        <p:nvSpPr>
          <p:cNvPr id="19" name="TextBox 18">
            <a:extLst>
              <a:ext uri="{FF2B5EF4-FFF2-40B4-BE49-F238E27FC236}">
                <a16:creationId xmlns:a16="http://schemas.microsoft.com/office/drawing/2014/main" id="{F1573A69-EDDC-3DCA-56E7-99F18BFF862B}"/>
              </a:ext>
            </a:extLst>
          </p:cNvPr>
          <p:cNvSpPr txBox="1"/>
          <p:nvPr/>
        </p:nvSpPr>
        <p:spPr>
          <a:xfrm>
            <a:off x="2784196" y="5292546"/>
            <a:ext cx="2218565" cy="1200329"/>
          </a:xfrm>
          <a:prstGeom prst="rect">
            <a:avLst/>
          </a:prstGeom>
          <a:noFill/>
        </p:spPr>
        <p:txBody>
          <a:bodyPr wrap="square">
            <a:spAutoFit/>
          </a:bodyPr>
          <a:lstStyle/>
          <a:p>
            <a:pPr algn="ctr"/>
            <a:r>
              <a:rPr lang="en-GB" b="0" i="0" u="none" strike="noStrike" dirty="0">
                <a:effectLst/>
                <a:latin typeface="-webkit-standard"/>
              </a:rPr>
              <a:t>passes through reflections and accumulates a little more of the rotation</a:t>
            </a:r>
            <a:endParaRPr lang="en-US" dirty="0"/>
          </a:p>
        </p:txBody>
      </p:sp>
      <p:sp>
        <p:nvSpPr>
          <p:cNvPr id="20" name="TextBox 19">
            <a:extLst>
              <a:ext uri="{FF2B5EF4-FFF2-40B4-BE49-F238E27FC236}">
                <a16:creationId xmlns:a16="http://schemas.microsoft.com/office/drawing/2014/main" id="{BBA5F0AD-20A4-933C-CC07-CA2AF4FB9A14}"/>
              </a:ext>
            </a:extLst>
          </p:cNvPr>
          <p:cNvSpPr txBox="1"/>
          <p:nvPr/>
        </p:nvSpPr>
        <p:spPr>
          <a:xfrm>
            <a:off x="6605222" y="5370657"/>
            <a:ext cx="2218565" cy="1200329"/>
          </a:xfrm>
          <a:prstGeom prst="rect">
            <a:avLst/>
          </a:prstGeom>
          <a:noFill/>
        </p:spPr>
        <p:txBody>
          <a:bodyPr wrap="square">
            <a:spAutoFit/>
          </a:bodyPr>
          <a:lstStyle/>
          <a:p>
            <a:pPr algn="ctr"/>
            <a:r>
              <a:rPr lang="en-GB" b="0" i="0" u="none" strike="noStrike" dirty="0">
                <a:effectLst/>
                <a:latin typeface="-webkit-standard"/>
              </a:rPr>
              <a:t>passes through reflections and accumulates a little more of the rotation</a:t>
            </a:r>
            <a:endParaRPr lang="en-US" dirty="0"/>
          </a:p>
        </p:txBody>
      </p:sp>
      <p:sp>
        <p:nvSpPr>
          <p:cNvPr id="24" name="TextBox 23">
            <a:extLst>
              <a:ext uri="{FF2B5EF4-FFF2-40B4-BE49-F238E27FC236}">
                <a16:creationId xmlns:a16="http://schemas.microsoft.com/office/drawing/2014/main" id="{BF3201DC-4234-C8E6-3FCE-8B1E3B733055}"/>
              </a:ext>
            </a:extLst>
          </p:cNvPr>
          <p:cNvSpPr txBox="1"/>
          <p:nvPr/>
        </p:nvSpPr>
        <p:spPr>
          <a:xfrm>
            <a:off x="8191585" y="180459"/>
            <a:ext cx="4000415" cy="369332"/>
          </a:xfrm>
          <a:prstGeom prst="rect">
            <a:avLst/>
          </a:prstGeom>
          <a:noFill/>
        </p:spPr>
        <p:txBody>
          <a:bodyPr wrap="square">
            <a:spAutoFit/>
          </a:bodyPr>
          <a:lstStyle/>
          <a:p>
            <a:r>
              <a:rPr lang="en-GB" b="1" i="0" dirty="0" err="1">
                <a:effectLst/>
              </a:rPr>
              <a:t>τ</a:t>
            </a:r>
            <a:r>
              <a:rPr lang="en-GB" b="0" i="0" u="none" strike="noStrike" dirty="0">
                <a:effectLst/>
                <a:latin typeface="-webkit-standard"/>
              </a:rPr>
              <a:t> = the margin/precision on the </a:t>
            </a:r>
            <a:r>
              <a:rPr lang="en-GB" b="0" i="1" dirty="0">
                <a:effectLst/>
              </a:rPr>
              <a:t>angle</a:t>
            </a:r>
            <a:endParaRPr lang="en-US" dirty="0"/>
          </a:p>
        </p:txBody>
      </p:sp>
      <p:sp>
        <p:nvSpPr>
          <p:cNvPr id="25" name="Slide Number Placeholder 24">
            <a:extLst>
              <a:ext uri="{FF2B5EF4-FFF2-40B4-BE49-F238E27FC236}">
                <a16:creationId xmlns:a16="http://schemas.microsoft.com/office/drawing/2014/main" id="{EDAABEFD-A0B7-06E8-9B18-5F519CC656A4}"/>
              </a:ext>
            </a:extLst>
          </p:cNvPr>
          <p:cNvSpPr>
            <a:spLocks noGrp="1"/>
          </p:cNvSpPr>
          <p:nvPr>
            <p:ph type="sldNum" sz="quarter" idx="12"/>
          </p:nvPr>
        </p:nvSpPr>
        <p:spPr/>
        <p:txBody>
          <a:bodyPr/>
          <a:lstStyle/>
          <a:p>
            <a:fld id="{4544B810-10F2-2E49-94DF-FA7BE986B6B9}" type="slidenum">
              <a:rPr lang="en-US" smtClean="0"/>
              <a:t>46</a:t>
            </a:fld>
            <a:endParaRPr lang="en-US"/>
          </a:p>
        </p:txBody>
      </p:sp>
    </p:spTree>
    <p:extLst>
      <p:ext uri="{BB962C8B-B14F-4D97-AF65-F5344CB8AC3E}">
        <p14:creationId xmlns:p14="http://schemas.microsoft.com/office/powerpoint/2010/main" val="1960933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7534E-A255-6E54-31B6-CCC6275AE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C0CBC-49DE-7631-FBAB-7C8F61B342A3}"/>
              </a:ext>
            </a:extLst>
          </p:cNvPr>
          <p:cNvSpPr>
            <a:spLocks noGrp="1"/>
          </p:cNvSpPr>
          <p:nvPr>
            <p:ph type="title"/>
          </p:nvPr>
        </p:nvSpPr>
        <p:spPr/>
        <p:txBody>
          <a:bodyPr/>
          <a:lstStyle/>
          <a:p>
            <a:r>
              <a:rPr lang="en-GB" dirty="0"/>
              <a:t>Margin conflict detection</a:t>
            </a:r>
            <a:endParaRPr lang="en-US" dirty="0"/>
          </a:p>
        </p:txBody>
      </p:sp>
      <p:cxnSp>
        <p:nvCxnSpPr>
          <p:cNvPr id="7" name="Straight Connector 6">
            <a:extLst>
              <a:ext uri="{FF2B5EF4-FFF2-40B4-BE49-F238E27FC236}">
                <a16:creationId xmlns:a16="http://schemas.microsoft.com/office/drawing/2014/main" id="{0A517D20-BD8F-181A-B7D2-179ED9DC885E}"/>
              </a:ext>
            </a:extLst>
          </p:cNvPr>
          <p:cNvCxnSpPr>
            <a:cxnSpLocks/>
          </p:cNvCxnSpPr>
          <p:nvPr/>
        </p:nvCxnSpPr>
        <p:spPr>
          <a:xfrm>
            <a:off x="5910470" y="1690688"/>
            <a:ext cx="0" cy="4776373"/>
          </a:xfrm>
          <a:prstGeom prst="line">
            <a:avLst/>
          </a:prstGeom>
          <a:ln w="57150"/>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BCE55297-D0A6-69EC-094C-CB2EBAB444BD}"/>
              </a:ext>
            </a:extLst>
          </p:cNvPr>
          <p:cNvSpPr txBox="1"/>
          <p:nvPr/>
        </p:nvSpPr>
        <p:spPr>
          <a:xfrm>
            <a:off x="1921565" y="1624427"/>
            <a:ext cx="2782956" cy="461665"/>
          </a:xfrm>
          <a:prstGeom prst="rect">
            <a:avLst/>
          </a:prstGeom>
          <a:noFill/>
        </p:spPr>
        <p:txBody>
          <a:bodyPr wrap="square" rtlCol="0">
            <a:spAutoFit/>
          </a:bodyPr>
          <a:lstStyle/>
          <a:p>
            <a:pPr algn="ctr"/>
            <a:r>
              <a:rPr lang="en-US" sz="2400" dirty="0"/>
              <a:t>CLASSICAL</a:t>
            </a:r>
          </a:p>
        </p:txBody>
      </p:sp>
      <p:sp>
        <p:nvSpPr>
          <p:cNvPr id="9" name="TextBox 8">
            <a:extLst>
              <a:ext uri="{FF2B5EF4-FFF2-40B4-BE49-F238E27FC236}">
                <a16:creationId xmlns:a16="http://schemas.microsoft.com/office/drawing/2014/main" id="{86D77C56-0255-49EE-C72C-08873615BB50}"/>
              </a:ext>
            </a:extLst>
          </p:cNvPr>
          <p:cNvSpPr txBox="1"/>
          <p:nvPr/>
        </p:nvSpPr>
        <p:spPr>
          <a:xfrm>
            <a:off x="6950765" y="1624426"/>
            <a:ext cx="2782956" cy="461665"/>
          </a:xfrm>
          <a:prstGeom prst="rect">
            <a:avLst/>
          </a:prstGeom>
          <a:noFill/>
        </p:spPr>
        <p:txBody>
          <a:bodyPr wrap="square" rtlCol="0">
            <a:spAutoFit/>
          </a:bodyPr>
          <a:lstStyle/>
          <a:p>
            <a:pPr algn="ctr"/>
            <a:r>
              <a:rPr lang="en-US" sz="2400" dirty="0"/>
              <a:t>QUANTUM</a:t>
            </a:r>
          </a:p>
        </p:txBody>
      </p:sp>
      <p:sp>
        <p:nvSpPr>
          <p:cNvPr id="15" name="Rectangle 14">
            <a:extLst>
              <a:ext uri="{FF2B5EF4-FFF2-40B4-BE49-F238E27FC236}">
                <a16:creationId xmlns:a16="http://schemas.microsoft.com/office/drawing/2014/main" id="{5B9F97B1-A205-502A-55CF-5D024A4D6937}"/>
              </a:ext>
            </a:extLst>
          </p:cNvPr>
          <p:cNvSpPr/>
          <p:nvPr/>
        </p:nvSpPr>
        <p:spPr>
          <a:xfrm>
            <a:off x="742123" y="3740219"/>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16" name="Rectangle 15">
            <a:extLst>
              <a:ext uri="{FF2B5EF4-FFF2-40B4-BE49-F238E27FC236}">
                <a16:creationId xmlns:a16="http://schemas.microsoft.com/office/drawing/2014/main" id="{0C845059-CF56-1210-5B43-8FCC7C3C9A3F}"/>
              </a:ext>
            </a:extLst>
          </p:cNvPr>
          <p:cNvSpPr/>
          <p:nvPr/>
        </p:nvSpPr>
        <p:spPr>
          <a:xfrm>
            <a:off x="4309934" y="3740219"/>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18" name="Straight Connector 17">
            <a:extLst>
              <a:ext uri="{FF2B5EF4-FFF2-40B4-BE49-F238E27FC236}">
                <a16:creationId xmlns:a16="http://schemas.microsoft.com/office/drawing/2014/main" id="{3C9AC8EC-5C59-5203-6DEE-90B6F3B6A43F}"/>
              </a:ext>
            </a:extLst>
          </p:cNvPr>
          <p:cNvCxnSpPr>
            <a:stCxn id="15" idx="3"/>
            <a:endCxn id="16" idx="1"/>
          </p:cNvCxnSpPr>
          <p:nvPr/>
        </p:nvCxnSpPr>
        <p:spPr>
          <a:xfrm>
            <a:off x="2091369" y="4403001"/>
            <a:ext cx="2218565" cy="0"/>
          </a:xfrm>
          <a:prstGeom prst="line">
            <a:avLst/>
          </a:prstGeom>
          <a:ln w="57150" cap="flat" cmpd="sng" algn="ctr">
            <a:solidFill>
              <a:schemeClr val="accent2">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TextBox 19">
            <a:extLst>
              <a:ext uri="{FF2B5EF4-FFF2-40B4-BE49-F238E27FC236}">
                <a16:creationId xmlns:a16="http://schemas.microsoft.com/office/drawing/2014/main" id="{39635B36-380E-1E65-A516-1D95CB9DD982}"/>
              </a:ext>
            </a:extLst>
          </p:cNvPr>
          <p:cNvSpPr txBox="1"/>
          <p:nvPr/>
        </p:nvSpPr>
        <p:spPr>
          <a:xfrm>
            <a:off x="185531" y="2975483"/>
            <a:ext cx="6096000" cy="369332"/>
          </a:xfrm>
          <a:prstGeom prst="rect">
            <a:avLst/>
          </a:prstGeom>
          <a:noFill/>
        </p:spPr>
        <p:txBody>
          <a:bodyPr wrap="square">
            <a:spAutoFit/>
          </a:bodyPr>
          <a:lstStyle/>
          <a:p>
            <a:pPr algn="ctr"/>
            <a:r>
              <a:rPr lang="en-GB" b="1" i="0" dirty="0">
                <a:effectLst/>
              </a:rPr>
              <a:t>compressed sketch </a:t>
            </a:r>
            <a:r>
              <a:rPr lang="en-GB" dirty="0"/>
              <a:t>size is ~1/τ²</a:t>
            </a:r>
            <a:endParaRPr lang="en-US" dirty="0"/>
          </a:p>
        </p:txBody>
      </p:sp>
      <p:sp>
        <p:nvSpPr>
          <p:cNvPr id="3" name="Rectangle 2">
            <a:extLst>
              <a:ext uri="{FF2B5EF4-FFF2-40B4-BE49-F238E27FC236}">
                <a16:creationId xmlns:a16="http://schemas.microsoft.com/office/drawing/2014/main" id="{82DFA8FE-9F5E-4F23-6FC6-BB1F86BC2C8E}"/>
              </a:ext>
            </a:extLst>
          </p:cNvPr>
          <p:cNvSpPr/>
          <p:nvPr/>
        </p:nvSpPr>
        <p:spPr>
          <a:xfrm>
            <a:off x="6615822" y="3796507"/>
            <a:ext cx="1349246" cy="132556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a:t>
            </a:r>
          </a:p>
        </p:txBody>
      </p:sp>
      <p:sp>
        <p:nvSpPr>
          <p:cNvPr id="4" name="Rectangle 3">
            <a:extLst>
              <a:ext uri="{FF2B5EF4-FFF2-40B4-BE49-F238E27FC236}">
                <a16:creationId xmlns:a16="http://schemas.microsoft.com/office/drawing/2014/main" id="{91A16AAD-3EAD-217B-21DE-32D2FAB35AA0}"/>
              </a:ext>
            </a:extLst>
          </p:cNvPr>
          <p:cNvSpPr/>
          <p:nvPr/>
        </p:nvSpPr>
        <p:spPr>
          <a:xfrm>
            <a:off x="10183633" y="3796507"/>
            <a:ext cx="1349246" cy="13255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B</a:t>
            </a:r>
          </a:p>
        </p:txBody>
      </p:sp>
      <p:cxnSp>
        <p:nvCxnSpPr>
          <p:cNvPr id="5" name="Straight Connector 4">
            <a:extLst>
              <a:ext uri="{FF2B5EF4-FFF2-40B4-BE49-F238E27FC236}">
                <a16:creationId xmlns:a16="http://schemas.microsoft.com/office/drawing/2014/main" id="{5C5B2EA0-4FAA-9A32-5D7C-BFAB92EFF092}"/>
              </a:ext>
            </a:extLst>
          </p:cNvPr>
          <p:cNvCxnSpPr>
            <a:cxnSpLocks/>
          </p:cNvCxnSpPr>
          <p:nvPr/>
        </p:nvCxnSpPr>
        <p:spPr>
          <a:xfrm>
            <a:off x="7965068" y="4234002"/>
            <a:ext cx="2218565" cy="0"/>
          </a:xfrm>
          <a:prstGeom prst="line">
            <a:avLst/>
          </a:prstGeom>
          <a:ln w="57150" cap="flat" cmpd="sng" algn="ctr">
            <a:solidFill>
              <a:schemeClr val="accent2">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 name="Straight Connector 5">
            <a:extLst>
              <a:ext uri="{FF2B5EF4-FFF2-40B4-BE49-F238E27FC236}">
                <a16:creationId xmlns:a16="http://schemas.microsoft.com/office/drawing/2014/main" id="{605DC611-C371-3D21-2DD4-EF12EAC029AB}"/>
              </a:ext>
            </a:extLst>
          </p:cNvPr>
          <p:cNvCxnSpPr>
            <a:cxnSpLocks/>
          </p:cNvCxnSpPr>
          <p:nvPr/>
        </p:nvCxnSpPr>
        <p:spPr>
          <a:xfrm flipH="1">
            <a:off x="7965068" y="4840323"/>
            <a:ext cx="2218565" cy="0"/>
          </a:xfrm>
          <a:prstGeom prst="line">
            <a:avLst/>
          </a:prstGeom>
          <a:ln w="57150" cap="flat" cmpd="sng" algn="ctr">
            <a:solidFill>
              <a:schemeClr val="accent5">
                <a:lumMod val="60000"/>
                <a:lumOff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TextBox 9">
            <a:extLst>
              <a:ext uri="{FF2B5EF4-FFF2-40B4-BE49-F238E27FC236}">
                <a16:creationId xmlns:a16="http://schemas.microsoft.com/office/drawing/2014/main" id="{A6074821-2193-E201-78F7-182247604183}"/>
              </a:ext>
            </a:extLst>
          </p:cNvPr>
          <p:cNvSpPr txBox="1"/>
          <p:nvPr/>
        </p:nvSpPr>
        <p:spPr>
          <a:xfrm>
            <a:off x="8314576" y="3673632"/>
            <a:ext cx="1349246" cy="646331"/>
          </a:xfrm>
          <a:prstGeom prst="rect">
            <a:avLst/>
          </a:prstGeom>
          <a:noFill/>
        </p:spPr>
        <p:txBody>
          <a:bodyPr wrap="square">
            <a:spAutoFit/>
          </a:bodyPr>
          <a:lstStyle/>
          <a:p>
            <a:r>
              <a:rPr lang="en-GB" dirty="0"/>
              <a:t>log P qubits</a:t>
            </a:r>
            <a:br>
              <a:rPr lang="en-GB" dirty="0"/>
            </a:br>
            <a:endParaRPr lang="en-US" dirty="0"/>
          </a:p>
        </p:txBody>
      </p:sp>
      <p:sp>
        <p:nvSpPr>
          <p:cNvPr id="11" name="TextBox 10">
            <a:extLst>
              <a:ext uri="{FF2B5EF4-FFF2-40B4-BE49-F238E27FC236}">
                <a16:creationId xmlns:a16="http://schemas.microsoft.com/office/drawing/2014/main" id="{D6E72145-0286-07A1-4560-4FE9222C8906}"/>
              </a:ext>
            </a:extLst>
          </p:cNvPr>
          <p:cNvSpPr txBox="1"/>
          <p:nvPr/>
        </p:nvSpPr>
        <p:spPr>
          <a:xfrm>
            <a:off x="8314576" y="4434292"/>
            <a:ext cx="1349246" cy="646331"/>
          </a:xfrm>
          <a:prstGeom prst="rect">
            <a:avLst/>
          </a:prstGeom>
          <a:noFill/>
        </p:spPr>
        <p:txBody>
          <a:bodyPr wrap="square">
            <a:spAutoFit/>
          </a:bodyPr>
          <a:lstStyle/>
          <a:p>
            <a:r>
              <a:rPr lang="en-GB" dirty="0"/>
              <a:t>log P qubits</a:t>
            </a:r>
            <a:br>
              <a:rPr lang="en-GB" dirty="0"/>
            </a:br>
            <a:endParaRPr lang="en-US" dirty="0"/>
          </a:p>
        </p:txBody>
      </p:sp>
      <p:sp>
        <p:nvSpPr>
          <p:cNvPr id="12" name="Right Brace 11">
            <a:extLst>
              <a:ext uri="{FF2B5EF4-FFF2-40B4-BE49-F238E27FC236}">
                <a16:creationId xmlns:a16="http://schemas.microsoft.com/office/drawing/2014/main" id="{FBE3D562-54ED-E26F-F3A5-447AA80D483C}"/>
              </a:ext>
            </a:extLst>
          </p:cNvPr>
          <p:cNvSpPr/>
          <p:nvPr/>
        </p:nvSpPr>
        <p:spPr>
          <a:xfrm rot="16200000">
            <a:off x="8793455" y="260691"/>
            <a:ext cx="663822" cy="5927211"/>
          </a:xfrm>
          <a:prstGeom prst="rightBrace">
            <a:avLst>
              <a:gd name="adj1" fmla="val 8333"/>
              <a:gd name="adj2" fmla="val 52587"/>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BBD2E1CB-525F-DC7C-7BF5-9A7B9A6EE3C1}"/>
              </a:ext>
            </a:extLst>
          </p:cNvPr>
          <p:cNvSpPr txBox="1"/>
          <p:nvPr/>
        </p:nvSpPr>
        <p:spPr>
          <a:xfrm>
            <a:off x="8314576" y="2437093"/>
            <a:ext cx="1974571" cy="369332"/>
          </a:xfrm>
          <a:prstGeom prst="rect">
            <a:avLst/>
          </a:prstGeom>
          <a:noFill/>
        </p:spPr>
        <p:txBody>
          <a:bodyPr wrap="square">
            <a:spAutoFit/>
          </a:bodyPr>
          <a:lstStyle/>
          <a:p>
            <a:pPr algn="ctr"/>
            <a:r>
              <a:rPr lang="en-GB" sz="1800" b="0" i="0" u="none" strike="noStrike" dirty="0">
                <a:effectLst/>
                <a:latin typeface="Anthropic Sans"/>
              </a:rPr>
              <a:t>1/</a:t>
            </a:r>
            <a:r>
              <a:rPr lang="en-GB" sz="1800" b="0" i="0" u="none" strike="noStrike" dirty="0" err="1">
                <a:effectLst/>
                <a:latin typeface="Anthropic Sans"/>
              </a:rPr>
              <a:t>τ</a:t>
            </a:r>
            <a:r>
              <a:rPr lang="en-GB" sz="1800" b="0" i="0" u="none" strike="noStrike" dirty="0">
                <a:effectLst/>
                <a:latin typeface="Anthropic Sans"/>
              </a:rPr>
              <a:t> round-trips</a:t>
            </a:r>
            <a:endParaRPr lang="en-US" dirty="0"/>
          </a:p>
        </p:txBody>
      </p:sp>
      <p:sp>
        <p:nvSpPr>
          <p:cNvPr id="17" name="TextBox 16">
            <a:extLst>
              <a:ext uri="{FF2B5EF4-FFF2-40B4-BE49-F238E27FC236}">
                <a16:creationId xmlns:a16="http://schemas.microsoft.com/office/drawing/2014/main" id="{A7AE0C43-2747-9DEB-5B58-9568714936ED}"/>
              </a:ext>
            </a:extLst>
          </p:cNvPr>
          <p:cNvSpPr txBox="1"/>
          <p:nvPr/>
        </p:nvSpPr>
        <p:spPr>
          <a:xfrm>
            <a:off x="2091369" y="5600983"/>
            <a:ext cx="2778801" cy="1077218"/>
          </a:xfrm>
          <a:prstGeom prst="rect">
            <a:avLst/>
          </a:prstGeom>
          <a:noFill/>
        </p:spPr>
        <p:txBody>
          <a:bodyPr wrap="square">
            <a:spAutoFit/>
          </a:bodyPr>
          <a:lstStyle/>
          <a:p>
            <a:pPr algn="ctr"/>
            <a:r>
              <a:rPr lang="en-GB" sz="3200" b="1" dirty="0">
                <a:solidFill>
                  <a:srgbClr val="FF0000"/>
                </a:solidFill>
              </a:rPr>
              <a:t>Õ(</a:t>
            </a:r>
            <a:r>
              <a:rPr lang="en-GB" sz="3200" b="1" i="0" dirty="0">
                <a:solidFill>
                  <a:srgbClr val="FF0000"/>
                </a:solidFill>
                <a:effectLst/>
              </a:rPr>
              <a:t>1/τ²</a:t>
            </a:r>
            <a:r>
              <a:rPr lang="en-GB" sz="3200" b="1" dirty="0">
                <a:solidFill>
                  <a:srgbClr val="FF0000"/>
                </a:solidFill>
                <a:latin typeface="-webkit-standard"/>
              </a:rPr>
              <a:t>) bits</a:t>
            </a:r>
          </a:p>
          <a:p>
            <a:pPr algn="ctr"/>
            <a:r>
              <a:rPr lang="en-GB" sz="3200" b="1" dirty="0">
                <a:solidFill>
                  <a:srgbClr val="FF0000"/>
                </a:solidFill>
                <a:latin typeface="-webkit-standard"/>
              </a:rPr>
              <a:t>One way</a:t>
            </a:r>
            <a:endParaRPr lang="en-US" sz="3200" b="1" dirty="0">
              <a:solidFill>
                <a:srgbClr val="FF0000"/>
              </a:solidFill>
            </a:endParaRPr>
          </a:p>
        </p:txBody>
      </p:sp>
      <p:sp>
        <p:nvSpPr>
          <p:cNvPr id="19" name="TextBox 18">
            <a:extLst>
              <a:ext uri="{FF2B5EF4-FFF2-40B4-BE49-F238E27FC236}">
                <a16:creationId xmlns:a16="http://schemas.microsoft.com/office/drawing/2014/main" id="{ED2FBE68-8641-A9B5-E3AD-D35A77AB58B8}"/>
              </a:ext>
            </a:extLst>
          </p:cNvPr>
          <p:cNvSpPr txBox="1"/>
          <p:nvPr/>
        </p:nvSpPr>
        <p:spPr>
          <a:xfrm>
            <a:off x="7116420" y="5600983"/>
            <a:ext cx="4281783" cy="1077218"/>
          </a:xfrm>
          <a:prstGeom prst="rect">
            <a:avLst/>
          </a:prstGeom>
          <a:noFill/>
        </p:spPr>
        <p:txBody>
          <a:bodyPr wrap="square">
            <a:spAutoFit/>
          </a:bodyPr>
          <a:lstStyle/>
          <a:p>
            <a:pPr algn="ctr"/>
            <a:r>
              <a:rPr lang="en-GB" sz="3200" b="1" dirty="0">
                <a:solidFill>
                  <a:srgbClr val="FF0000"/>
                </a:solidFill>
              </a:rPr>
              <a:t>Õ((</a:t>
            </a:r>
            <a:r>
              <a:rPr lang="en-GB" sz="3200" b="1" i="0" dirty="0">
                <a:solidFill>
                  <a:srgbClr val="FF0000"/>
                </a:solidFill>
                <a:effectLst/>
              </a:rPr>
              <a:t>1/</a:t>
            </a:r>
            <a:r>
              <a:rPr lang="en-GB" sz="3200" b="1" i="0" dirty="0" err="1">
                <a:solidFill>
                  <a:srgbClr val="FF0000"/>
                </a:solidFill>
                <a:effectLst/>
              </a:rPr>
              <a:t>τ</a:t>
            </a:r>
            <a:r>
              <a:rPr lang="en-GB" sz="3200" b="1" i="0" dirty="0">
                <a:solidFill>
                  <a:srgbClr val="FF0000"/>
                </a:solidFill>
                <a:effectLst/>
              </a:rPr>
              <a:t>)log(P)</a:t>
            </a:r>
            <a:r>
              <a:rPr lang="en-GB" sz="3200" b="1" dirty="0">
                <a:solidFill>
                  <a:srgbClr val="FF0000"/>
                </a:solidFill>
                <a:latin typeface="-webkit-standard"/>
              </a:rPr>
              <a:t>) qubits</a:t>
            </a:r>
          </a:p>
          <a:p>
            <a:pPr algn="ctr"/>
            <a:r>
              <a:rPr lang="en-GB" sz="3200" b="1" dirty="0">
                <a:solidFill>
                  <a:srgbClr val="FF0000"/>
                </a:solidFill>
                <a:latin typeface="-webkit-standard"/>
              </a:rPr>
              <a:t>Interactive</a:t>
            </a:r>
            <a:endParaRPr lang="en-US" sz="3200" b="1" dirty="0">
              <a:solidFill>
                <a:srgbClr val="FF0000"/>
              </a:solidFill>
            </a:endParaRPr>
          </a:p>
        </p:txBody>
      </p:sp>
      <p:sp>
        <p:nvSpPr>
          <p:cNvPr id="24" name="TextBox 23">
            <a:extLst>
              <a:ext uri="{FF2B5EF4-FFF2-40B4-BE49-F238E27FC236}">
                <a16:creationId xmlns:a16="http://schemas.microsoft.com/office/drawing/2014/main" id="{89B56F91-EF52-CA1C-D3D1-604F13389322}"/>
              </a:ext>
            </a:extLst>
          </p:cNvPr>
          <p:cNvSpPr txBox="1"/>
          <p:nvPr/>
        </p:nvSpPr>
        <p:spPr>
          <a:xfrm>
            <a:off x="8191585" y="180459"/>
            <a:ext cx="4000415" cy="369332"/>
          </a:xfrm>
          <a:prstGeom prst="rect">
            <a:avLst/>
          </a:prstGeom>
          <a:noFill/>
        </p:spPr>
        <p:txBody>
          <a:bodyPr wrap="square">
            <a:spAutoFit/>
          </a:bodyPr>
          <a:lstStyle/>
          <a:p>
            <a:r>
              <a:rPr lang="en-GB" b="1" i="0" dirty="0" err="1">
                <a:effectLst/>
              </a:rPr>
              <a:t>τ</a:t>
            </a:r>
            <a:r>
              <a:rPr lang="en-GB" b="0" i="0" u="none" strike="noStrike" dirty="0">
                <a:effectLst/>
                <a:latin typeface="-webkit-standard"/>
              </a:rPr>
              <a:t> = the margin/precision on the </a:t>
            </a:r>
            <a:r>
              <a:rPr lang="en-GB" b="0" i="1" dirty="0">
                <a:effectLst/>
              </a:rPr>
              <a:t>angle</a:t>
            </a:r>
            <a:endParaRPr lang="en-US" dirty="0"/>
          </a:p>
        </p:txBody>
      </p:sp>
      <p:sp>
        <p:nvSpPr>
          <p:cNvPr id="25" name="Slide Number Placeholder 24">
            <a:extLst>
              <a:ext uri="{FF2B5EF4-FFF2-40B4-BE49-F238E27FC236}">
                <a16:creationId xmlns:a16="http://schemas.microsoft.com/office/drawing/2014/main" id="{24A5C809-D10B-1082-0E28-C472062BF08A}"/>
              </a:ext>
            </a:extLst>
          </p:cNvPr>
          <p:cNvSpPr>
            <a:spLocks noGrp="1"/>
          </p:cNvSpPr>
          <p:nvPr>
            <p:ph type="sldNum" sz="quarter" idx="12"/>
          </p:nvPr>
        </p:nvSpPr>
        <p:spPr/>
        <p:txBody>
          <a:bodyPr/>
          <a:lstStyle/>
          <a:p>
            <a:fld id="{4544B810-10F2-2E49-94DF-FA7BE986B6B9}" type="slidenum">
              <a:rPr lang="en-US" smtClean="0"/>
              <a:t>47</a:t>
            </a:fld>
            <a:endParaRPr lang="en-US"/>
          </a:p>
        </p:txBody>
      </p:sp>
    </p:spTree>
    <p:extLst>
      <p:ext uri="{BB962C8B-B14F-4D97-AF65-F5344CB8AC3E}">
        <p14:creationId xmlns:p14="http://schemas.microsoft.com/office/powerpoint/2010/main" val="224900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heeky smile : r/dogmemes">
            <a:extLst>
              <a:ext uri="{FF2B5EF4-FFF2-40B4-BE49-F238E27FC236}">
                <a16:creationId xmlns:a16="http://schemas.microsoft.com/office/drawing/2014/main" id="{9F9FF472-8CB9-9BEC-F2C1-8D5FCA41E0D8}"/>
              </a:ext>
            </a:extLst>
          </p:cNvPr>
          <p:cNvPicPr>
            <a:picLocks noChangeAspect="1"/>
          </p:cNvPicPr>
          <p:nvPr/>
        </p:nvPicPr>
        <p:blipFill>
          <a:blip r:embed="rId2">
            <a:alphaModFix amt="49000"/>
          </a:blip>
          <a:stretch>
            <a:fillRect/>
          </a:stretch>
        </p:blipFill>
        <p:spPr>
          <a:xfrm>
            <a:off x="-94392" y="0"/>
            <a:ext cx="12286392" cy="6919534"/>
          </a:xfrm>
          <a:prstGeom prst="rect">
            <a:avLst/>
          </a:prstGeom>
        </p:spPr>
      </p:pic>
      <p:sp>
        <p:nvSpPr>
          <p:cNvPr id="8" name="Title 1">
            <a:extLst>
              <a:ext uri="{FF2B5EF4-FFF2-40B4-BE49-F238E27FC236}">
                <a16:creationId xmlns:a16="http://schemas.microsoft.com/office/drawing/2014/main" id="{C20DF33F-1E12-A076-B8AC-58E7AAC87EFF}"/>
              </a:ext>
            </a:extLst>
          </p:cNvPr>
          <p:cNvSpPr>
            <a:spLocks noGrp="1"/>
          </p:cNvSpPr>
          <p:nvPr>
            <p:ph type="title"/>
          </p:nvPr>
        </p:nvSpPr>
        <p:spPr>
          <a:xfrm>
            <a:off x="336206" y="4493263"/>
            <a:ext cx="10515600" cy="1325563"/>
          </a:xfrm>
        </p:spPr>
        <p:txBody>
          <a:bodyPr>
            <a:noAutofit/>
          </a:bodyPr>
          <a:lstStyle/>
          <a:p>
            <a:r>
              <a:rPr lang="en-GB" sz="7200" dirty="0"/>
              <a:t>WHAT ABOUT </a:t>
            </a:r>
            <a:r>
              <a:rPr lang="en-GB" sz="7200" i="1" dirty="0">
                <a:solidFill>
                  <a:srgbClr val="FF0000"/>
                </a:solidFill>
              </a:rPr>
              <a:t>EXPONENTIAL</a:t>
            </a:r>
            <a:r>
              <a:rPr lang="en-GB" sz="7200" dirty="0"/>
              <a:t> ADVANTAGE?</a:t>
            </a:r>
            <a:endParaRPr lang="en-US" sz="7200" dirty="0"/>
          </a:p>
        </p:txBody>
      </p:sp>
      <p:sp>
        <p:nvSpPr>
          <p:cNvPr id="9" name="Slide Number Placeholder 8">
            <a:extLst>
              <a:ext uri="{FF2B5EF4-FFF2-40B4-BE49-F238E27FC236}">
                <a16:creationId xmlns:a16="http://schemas.microsoft.com/office/drawing/2014/main" id="{4F2A7FD8-9483-80CC-9016-EBE63E62C890}"/>
              </a:ext>
            </a:extLst>
          </p:cNvPr>
          <p:cNvSpPr>
            <a:spLocks noGrp="1"/>
          </p:cNvSpPr>
          <p:nvPr>
            <p:ph type="sldNum" sz="quarter" idx="12"/>
          </p:nvPr>
        </p:nvSpPr>
        <p:spPr/>
        <p:txBody>
          <a:bodyPr/>
          <a:lstStyle/>
          <a:p>
            <a:fld id="{4544B810-10F2-2E49-94DF-FA7BE986B6B9}" type="slidenum">
              <a:rPr lang="en-US" smtClean="0"/>
              <a:t>48</a:t>
            </a:fld>
            <a:endParaRPr lang="en-US"/>
          </a:p>
        </p:txBody>
      </p:sp>
    </p:spTree>
    <p:extLst>
      <p:ext uri="{BB962C8B-B14F-4D97-AF65-F5344CB8AC3E}">
        <p14:creationId xmlns:p14="http://schemas.microsoft.com/office/powerpoint/2010/main" val="25299969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259-8402-7B40-FD9F-CF4E4BCB5B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A6194-E6C2-6900-E3EA-E8A7BEEDD2D8}"/>
              </a:ext>
            </a:extLst>
          </p:cNvPr>
          <p:cNvSpPr>
            <a:spLocks noGrp="1"/>
          </p:cNvSpPr>
          <p:nvPr>
            <p:ph type="title"/>
          </p:nvPr>
        </p:nvSpPr>
        <p:spPr/>
        <p:txBody>
          <a:bodyPr/>
          <a:lstStyle/>
          <a:p>
            <a:r>
              <a:rPr lang="en-GB" dirty="0"/>
              <a:t>Relational sign audit</a:t>
            </a:r>
          </a:p>
        </p:txBody>
      </p:sp>
      <p:sp>
        <p:nvSpPr>
          <p:cNvPr id="8" name="TextBox 7">
            <a:extLst>
              <a:ext uri="{FF2B5EF4-FFF2-40B4-BE49-F238E27FC236}">
                <a16:creationId xmlns:a16="http://schemas.microsoft.com/office/drawing/2014/main" id="{422F7B18-A147-95F2-73C0-17B5C5108752}"/>
              </a:ext>
            </a:extLst>
          </p:cNvPr>
          <p:cNvSpPr txBox="1"/>
          <p:nvPr/>
        </p:nvSpPr>
        <p:spPr>
          <a:xfrm>
            <a:off x="244565" y="5699154"/>
            <a:ext cx="11947435" cy="830997"/>
          </a:xfrm>
          <a:prstGeom prst="rect">
            <a:avLst/>
          </a:prstGeom>
          <a:noFill/>
        </p:spPr>
        <p:txBody>
          <a:bodyPr wrap="square">
            <a:spAutoFit/>
          </a:bodyPr>
          <a:lstStyle/>
          <a:p>
            <a:pPr algn="ctr"/>
            <a:r>
              <a:rPr lang="en-GB" sz="2400" i="1" dirty="0">
                <a:solidFill>
                  <a:srgbClr val="FF0000"/>
                </a:solidFill>
              </a:rPr>
              <a:t>The server sent me one compressed update for the whole model. </a:t>
            </a:r>
          </a:p>
          <a:p>
            <a:pPr algn="ctr"/>
            <a:r>
              <a:rPr lang="en-GB" sz="2400" i="1" dirty="0">
                <a:solidFill>
                  <a:srgbClr val="FF0000"/>
                </a:solidFill>
              </a:rPr>
              <a:t>Does it respect the parts of my model I know are tied together?</a:t>
            </a:r>
            <a:endParaRPr lang="en-US" sz="2400" i="1" dirty="0">
              <a:solidFill>
                <a:srgbClr val="FF0000"/>
              </a:solidFill>
            </a:endParaRPr>
          </a:p>
        </p:txBody>
      </p:sp>
      <p:sp>
        <p:nvSpPr>
          <p:cNvPr id="9" name="Cloud Callout 8">
            <a:extLst>
              <a:ext uri="{FF2B5EF4-FFF2-40B4-BE49-F238E27FC236}">
                <a16:creationId xmlns:a16="http://schemas.microsoft.com/office/drawing/2014/main" id="{26CECB41-4358-B465-0519-C66C60342DF5}"/>
              </a:ext>
            </a:extLst>
          </p:cNvPr>
          <p:cNvSpPr/>
          <p:nvPr/>
        </p:nvSpPr>
        <p:spPr>
          <a:xfrm>
            <a:off x="7855130" y="221813"/>
            <a:ext cx="4188824" cy="2110955"/>
          </a:xfrm>
          <a:prstGeom prst="cloudCallout">
            <a:avLst/>
          </a:prstGeom>
          <a:solidFill>
            <a:srgbClr val="6DB2D2"/>
          </a:solidFill>
          <a:ln>
            <a:solidFill>
              <a:srgbClr val="0095D4">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Given my knowledge of the model, </a:t>
            </a:r>
            <a:r>
              <a:rPr lang="en-GB" dirty="0"/>
              <a:t>is the relation I care about TRUE?</a:t>
            </a:r>
          </a:p>
        </p:txBody>
      </p:sp>
      <p:pic>
        <p:nvPicPr>
          <p:cNvPr id="3" name="Picture 2" descr="Simple User Icon transparent PNG - StickPNG">
            <a:extLst>
              <a:ext uri="{FF2B5EF4-FFF2-40B4-BE49-F238E27FC236}">
                <a16:creationId xmlns:a16="http://schemas.microsoft.com/office/drawing/2014/main" id="{03519842-1C26-9638-4133-F30AA4996DA2}"/>
              </a:ext>
            </a:extLst>
          </p:cNvPr>
          <p:cNvPicPr>
            <a:picLocks noChangeAspect="1"/>
          </p:cNvPicPr>
          <p:nvPr/>
        </p:nvPicPr>
        <p:blipFill>
          <a:blip r:embed="rId2"/>
          <a:stretch>
            <a:fillRect/>
          </a:stretch>
        </p:blipFill>
        <p:spPr>
          <a:xfrm>
            <a:off x="7294179" y="3048824"/>
            <a:ext cx="2182356" cy="2182356"/>
          </a:xfrm>
          <a:prstGeom prst="rect">
            <a:avLst/>
          </a:prstGeom>
        </p:spPr>
      </p:pic>
      <p:cxnSp>
        <p:nvCxnSpPr>
          <p:cNvPr id="4" name="Straight Connector 3">
            <a:extLst>
              <a:ext uri="{FF2B5EF4-FFF2-40B4-BE49-F238E27FC236}">
                <a16:creationId xmlns:a16="http://schemas.microsoft.com/office/drawing/2014/main" id="{96F0C623-E187-745E-F879-E06417875670}"/>
              </a:ext>
            </a:extLst>
          </p:cNvPr>
          <p:cNvCxnSpPr/>
          <p:nvPr/>
        </p:nvCxnSpPr>
        <p:spPr>
          <a:xfrm>
            <a:off x="4372303" y="4140002"/>
            <a:ext cx="2921876" cy="0"/>
          </a:xfrm>
          <a:prstGeom prst="line">
            <a:avLst/>
          </a:prstGeom>
          <a:ln w="38100"/>
        </p:spPr>
        <p:style>
          <a:lnRef idx="2">
            <a:schemeClr val="dk1"/>
          </a:lnRef>
          <a:fillRef idx="0">
            <a:schemeClr val="dk1"/>
          </a:fillRef>
          <a:effectRef idx="1">
            <a:schemeClr val="dk1"/>
          </a:effectRef>
          <a:fontRef idx="minor">
            <a:schemeClr val="tx1"/>
          </a:fontRef>
        </p:style>
      </p:cxnSp>
      <p:pic>
        <p:nvPicPr>
          <p:cNvPr id="11" name="Picture 10">
            <a:extLst>
              <a:ext uri="{FF2B5EF4-FFF2-40B4-BE49-F238E27FC236}">
                <a16:creationId xmlns:a16="http://schemas.microsoft.com/office/drawing/2014/main" id="{D686926E-6940-EDC4-0748-68E9EFFE56AF}"/>
              </a:ext>
            </a:extLst>
          </p:cNvPr>
          <p:cNvPicPr>
            <a:picLocks noChangeAspect="1"/>
          </p:cNvPicPr>
          <p:nvPr/>
        </p:nvPicPr>
        <p:blipFill>
          <a:blip r:embed="rId3">
            <a:duotone>
              <a:schemeClr val="accent2">
                <a:shade val="45000"/>
                <a:satMod val="135000"/>
              </a:schemeClr>
              <a:prstClr val="white"/>
            </a:duotone>
          </a:blip>
          <a:stretch/>
        </p:blipFill>
        <p:spPr>
          <a:xfrm>
            <a:off x="839788" y="3140991"/>
            <a:ext cx="3731685" cy="2058658"/>
          </a:xfrm>
          <a:prstGeom prst="rect">
            <a:avLst/>
          </a:prstGeom>
        </p:spPr>
      </p:pic>
      <p:pic>
        <p:nvPicPr>
          <p:cNvPr id="12" name="Picture 11">
            <a:extLst>
              <a:ext uri="{FF2B5EF4-FFF2-40B4-BE49-F238E27FC236}">
                <a16:creationId xmlns:a16="http://schemas.microsoft.com/office/drawing/2014/main" id="{2775060B-2051-9704-AEE7-85963F844933}"/>
              </a:ext>
            </a:extLst>
          </p:cNvPr>
          <p:cNvPicPr>
            <a:picLocks noChangeAspect="1"/>
          </p:cNvPicPr>
          <p:nvPr/>
        </p:nvPicPr>
        <p:blipFill>
          <a:blip r:embed="rId4">
            <a:duotone>
              <a:schemeClr val="accent2">
                <a:shade val="45000"/>
                <a:satMod val="135000"/>
              </a:schemeClr>
              <a:prstClr val="white"/>
            </a:duotone>
          </a:blip>
          <a:stretch>
            <a:fillRect/>
          </a:stretch>
        </p:blipFill>
        <p:spPr>
          <a:xfrm>
            <a:off x="4367096" y="1761399"/>
            <a:ext cx="2927083" cy="2307892"/>
          </a:xfrm>
          <a:prstGeom prst="rect">
            <a:avLst/>
          </a:prstGeom>
        </p:spPr>
      </p:pic>
      <p:sp>
        <p:nvSpPr>
          <p:cNvPr id="13" name="Slide Number Placeholder 12">
            <a:extLst>
              <a:ext uri="{FF2B5EF4-FFF2-40B4-BE49-F238E27FC236}">
                <a16:creationId xmlns:a16="http://schemas.microsoft.com/office/drawing/2014/main" id="{7F6119C9-38D5-23ED-7104-BBEE4D98CCFC}"/>
              </a:ext>
            </a:extLst>
          </p:cNvPr>
          <p:cNvSpPr>
            <a:spLocks noGrp="1"/>
          </p:cNvSpPr>
          <p:nvPr>
            <p:ph type="sldNum" sz="quarter" idx="12"/>
          </p:nvPr>
        </p:nvSpPr>
        <p:spPr/>
        <p:txBody>
          <a:bodyPr/>
          <a:lstStyle/>
          <a:p>
            <a:fld id="{4544B810-10F2-2E49-94DF-FA7BE986B6B9}" type="slidenum">
              <a:rPr lang="en-US" smtClean="0"/>
              <a:t>49</a:t>
            </a:fld>
            <a:endParaRPr lang="en-US"/>
          </a:p>
        </p:txBody>
      </p:sp>
    </p:spTree>
    <p:extLst>
      <p:ext uri="{BB962C8B-B14F-4D97-AF65-F5344CB8AC3E}">
        <p14:creationId xmlns:p14="http://schemas.microsoft.com/office/powerpoint/2010/main" val="33638786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F525C-2E4A-D979-3C35-E0342B473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B4EB2-E8EB-5841-B4F8-7C510B433DAD}"/>
              </a:ext>
            </a:extLst>
          </p:cNvPr>
          <p:cNvSpPr>
            <a:spLocks noGrp="1"/>
          </p:cNvSpPr>
          <p:nvPr>
            <p:ph type="title"/>
          </p:nvPr>
        </p:nvSpPr>
        <p:spPr/>
        <p:txBody>
          <a:bodyPr/>
          <a:lstStyle/>
          <a:p>
            <a:r>
              <a:rPr lang="en-GB" dirty="0"/>
              <a:t>Relational sign audit</a:t>
            </a:r>
          </a:p>
        </p:txBody>
      </p:sp>
      <p:sp>
        <p:nvSpPr>
          <p:cNvPr id="8" name="TextBox 7">
            <a:extLst>
              <a:ext uri="{FF2B5EF4-FFF2-40B4-BE49-F238E27FC236}">
                <a16:creationId xmlns:a16="http://schemas.microsoft.com/office/drawing/2014/main" id="{7C803872-67B7-8213-260C-FC45D149D935}"/>
              </a:ext>
            </a:extLst>
          </p:cNvPr>
          <p:cNvSpPr txBox="1"/>
          <p:nvPr/>
        </p:nvSpPr>
        <p:spPr>
          <a:xfrm>
            <a:off x="244565" y="5699154"/>
            <a:ext cx="11947435" cy="830997"/>
          </a:xfrm>
          <a:prstGeom prst="rect">
            <a:avLst/>
          </a:prstGeom>
          <a:noFill/>
        </p:spPr>
        <p:txBody>
          <a:bodyPr wrap="square">
            <a:spAutoFit/>
          </a:bodyPr>
          <a:lstStyle/>
          <a:p>
            <a:pPr algn="ctr"/>
            <a:r>
              <a:rPr lang="en-GB" sz="2400" i="1" dirty="0">
                <a:solidFill>
                  <a:srgbClr val="FF0000"/>
                </a:solidFill>
              </a:rPr>
              <a:t>The server sent me one compressed update for the whole model. </a:t>
            </a:r>
          </a:p>
          <a:p>
            <a:pPr algn="ctr"/>
            <a:r>
              <a:rPr lang="en-GB" sz="2400" i="1" dirty="0">
                <a:solidFill>
                  <a:srgbClr val="FF0000"/>
                </a:solidFill>
              </a:rPr>
              <a:t>Does it respect the parts of my model I know are tied together?</a:t>
            </a:r>
            <a:endParaRPr lang="en-US" sz="2400" i="1" dirty="0">
              <a:solidFill>
                <a:srgbClr val="FF0000"/>
              </a:solidFill>
            </a:endParaRPr>
          </a:p>
        </p:txBody>
      </p:sp>
      <p:sp>
        <p:nvSpPr>
          <p:cNvPr id="9" name="Cloud Callout 8">
            <a:extLst>
              <a:ext uri="{FF2B5EF4-FFF2-40B4-BE49-F238E27FC236}">
                <a16:creationId xmlns:a16="http://schemas.microsoft.com/office/drawing/2014/main" id="{06E701C5-3F09-5A33-2266-AD7E3BEE44EE}"/>
              </a:ext>
            </a:extLst>
          </p:cNvPr>
          <p:cNvSpPr/>
          <p:nvPr/>
        </p:nvSpPr>
        <p:spPr>
          <a:xfrm>
            <a:off x="7855130" y="221813"/>
            <a:ext cx="4188824" cy="2110955"/>
          </a:xfrm>
          <a:prstGeom prst="cloudCallout">
            <a:avLst/>
          </a:prstGeom>
          <a:solidFill>
            <a:srgbClr val="6DB2D2"/>
          </a:solidFill>
          <a:ln>
            <a:solidFill>
              <a:srgbClr val="0095D4">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Given my knowledge of the model, </a:t>
            </a:r>
            <a:r>
              <a:rPr lang="en-GB" dirty="0"/>
              <a:t>is the relation I care about TRUE?</a:t>
            </a:r>
          </a:p>
        </p:txBody>
      </p:sp>
      <p:pic>
        <p:nvPicPr>
          <p:cNvPr id="3" name="Picture 2" descr="Simple User Icon transparent PNG - StickPNG">
            <a:extLst>
              <a:ext uri="{FF2B5EF4-FFF2-40B4-BE49-F238E27FC236}">
                <a16:creationId xmlns:a16="http://schemas.microsoft.com/office/drawing/2014/main" id="{9667F3DE-6BC0-64EF-83A3-B692CDF7A8B2}"/>
              </a:ext>
            </a:extLst>
          </p:cNvPr>
          <p:cNvPicPr>
            <a:picLocks noChangeAspect="1"/>
          </p:cNvPicPr>
          <p:nvPr/>
        </p:nvPicPr>
        <p:blipFill>
          <a:blip r:embed="rId2"/>
          <a:stretch>
            <a:fillRect/>
          </a:stretch>
        </p:blipFill>
        <p:spPr>
          <a:xfrm>
            <a:off x="7294179" y="3048824"/>
            <a:ext cx="2182356" cy="2182356"/>
          </a:xfrm>
          <a:prstGeom prst="rect">
            <a:avLst/>
          </a:prstGeom>
        </p:spPr>
      </p:pic>
      <p:cxnSp>
        <p:nvCxnSpPr>
          <p:cNvPr id="4" name="Straight Connector 3">
            <a:extLst>
              <a:ext uri="{FF2B5EF4-FFF2-40B4-BE49-F238E27FC236}">
                <a16:creationId xmlns:a16="http://schemas.microsoft.com/office/drawing/2014/main" id="{7DE32A5A-65F1-0028-EFD8-E5FB3B0C08CD}"/>
              </a:ext>
            </a:extLst>
          </p:cNvPr>
          <p:cNvCxnSpPr/>
          <p:nvPr/>
        </p:nvCxnSpPr>
        <p:spPr>
          <a:xfrm>
            <a:off x="4372303" y="4140002"/>
            <a:ext cx="2921876" cy="0"/>
          </a:xfrm>
          <a:prstGeom prst="line">
            <a:avLst/>
          </a:prstGeom>
          <a:ln w="38100"/>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9116BE35-1C6C-A6A1-5C28-EBD45872067C}"/>
              </a:ext>
            </a:extLst>
          </p:cNvPr>
          <p:cNvSpPr txBox="1"/>
          <p:nvPr/>
        </p:nvSpPr>
        <p:spPr>
          <a:xfrm>
            <a:off x="4319751" y="3240387"/>
            <a:ext cx="2921876" cy="400110"/>
          </a:xfrm>
          <a:prstGeom prst="rect">
            <a:avLst/>
          </a:prstGeom>
          <a:noFill/>
        </p:spPr>
        <p:txBody>
          <a:bodyPr wrap="square">
            <a:spAutoFit/>
          </a:bodyPr>
          <a:lstStyle/>
          <a:p>
            <a:pPr algn="ctr"/>
            <a:r>
              <a:rPr lang="en-US" sz="2000" dirty="0"/>
              <a:t>Compress our model</a:t>
            </a:r>
          </a:p>
        </p:txBody>
      </p:sp>
      <p:pic>
        <p:nvPicPr>
          <p:cNvPr id="11" name="Picture 10">
            <a:extLst>
              <a:ext uri="{FF2B5EF4-FFF2-40B4-BE49-F238E27FC236}">
                <a16:creationId xmlns:a16="http://schemas.microsoft.com/office/drawing/2014/main" id="{8CB71C59-D8FD-EB0A-FBA0-C894FD34A73F}"/>
              </a:ext>
            </a:extLst>
          </p:cNvPr>
          <p:cNvPicPr>
            <a:picLocks noChangeAspect="1"/>
          </p:cNvPicPr>
          <p:nvPr/>
        </p:nvPicPr>
        <p:blipFill>
          <a:blip r:embed="rId3">
            <a:duotone>
              <a:schemeClr val="accent2">
                <a:shade val="45000"/>
                <a:satMod val="135000"/>
              </a:schemeClr>
              <a:prstClr val="white"/>
            </a:duotone>
          </a:blip>
          <a:stretch/>
        </p:blipFill>
        <p:spPr>
          <a:xfrm>
            <a:off x="839788" y="3140991"/>
            <a:ext cx="3731685" cy="2058658"/>
          </a:xfrm>
          <a:prstGeom prst="rect">
            <a:avLst/>
          </a:prstGeom>
        </p:spPr>
      </p:pic>
      <p:grpSp>
        <p:nvGrpSpPr>
          <p:cNvPr id="5" name="Group 4">
            <a:extLst>
              <a:ext uri="{FF2B5EF4-FFF2-40B4-BE49-F238E27FC236}">
                <a16:creationId xmlns:a16="http://schemas.microsoft.com/office/drawing/2014/main" id="{BCEB06C0-42F5-577A-12AC-4E0630063480}"/>
              </a:ext>
            </a:extLst>
          </p:cNvPr>
          <p:cNvGrpSpPr/>
          <p:nvPr/>
        </p:nvGrpSpPr>
        <p:grpSpPr>
          <a:xfrm>
            <a:off x="244565" y="2158662"/>
            <a:ext cx="8691857" cy="3213885"/>
            <a:chOff x="1935889" y="2348102"/>
            <a:chExt cx="7772400" cy="2713172"/>
          </a:xfrm>
        </p:grpSpPr>
        <p:pic>
          <p:nvPicPr>
            <p:cNvPr id="6" name="Picture 5">
              <a:extLst>
                <a:ext uri="{FF2B5EF4-FFF2-40B4-BE49-F238E27FC236}">
                  <a16:creationId xmlns:a16="http://schemas.microsoft.com/office/drawing/2014/main" id="{2DF0A101-43DA-DB3E-82EB-EAC460BCC38C}"/>
                </a:ext>
              </a:extLst>
            </p:cNvPr>
            <p:cNvPicPr>
              <a:picLocks noChangeAspect="1"/>
            </p:cNvPicPr>
            <p:nvPr/>
          </p:nvPicPr>
          <p:blipFill>
            <a:blip r:embed="rId4"/>
            <a:srcRect b="1951"/>
            <a:stretch>
              <a:fillRect/>
            </a:stretch>
          </p:blipFill>
          <p:spPr>
            <a:xfrm>
              <a:off x="1935889" y="2348102"/>
              <a:ext cx="7772400" cy="2471872"/>
            </a:xfrm>
            <a:prstGeom prst="rect">
              <a:avLst/>
            </a:prstGeom>
          </p:spPr>
        </p:pic>
        <p:pic>
          <p:nvPicPr>
            <p:cNvPr id="7" name="Picture 6">
              <a:extLst>
                <a:ext uri="{FF2B5EF4-FFF2-40B4-BE49-F238E27FC236}">
                  <a16:creationId xmlns:a16="http://schemas.microsoft.com/office/drawing/2014/main" id="{34382A41-B4CA-3757-0BA5-D9039DD6370C}"/>
                </a:ext>
              </a:extLst>
            </p:cNvPr>
            <p:cNvPicPr>
              <a:picLocks noChangeAspect="1"/>
            </p:cNvPicPr>
            <p:nvPr/>
          </p:nvPicPr>
          <p:blipFill>
            <a:blip r:embed="rId5"/>
            <a:stretch>
              <a:fillRect/>
            </a:stretch>
          </p:blipFill>
          <p:spPr>
            <a:xfrm>
              <a:off x="6825220" y="4578674"/>
              <a:ext cx="2775979" cy="482600"/>
            </a:xfrm>
            <a:prstGeom prst="rect">
              <a:avLst/>
            </a:prstGeom>
          </p:spPr>
        </p:pic>
      </p:grpSp>
      <p:pic>
        <p:nvPicPr>
          <p:cNvPr id="12" name="Picture 11" descr="FLASH WARNING) you met with a terrible fate by linda-mota on Newgrounds">
            <a:extLst>
              <a:ext uri="{FF2B5EF4-FFF2-40B4-BE49-F238E27FC236}">
                <a16:creationId xmlns:a16="http://schemas.microsoft.com/office/drawing/2014/main" id="{770DAED7-5FD1-2ACE-FFC6-498044AFEC18}"/>
              </a:ext>
            </a:extLst>
          </p:cNvPr>
          <p:cNvPicPr>
            <a:picLocks noChangeAspect="1"/>
          </p:cNvPicPr>
          <p:nvPr/>
        </p:nvPicPr>
        <p:blipFill>
          <a:blip r:embed="rId6"/>
          <a:stretch>
            <a:fillRect/>
          </a:stretch>
        </p:blipFill>
        <p:spPr>
          <a:xfrm>
            <a:off x="8936422" y="2367549"/>
            <a:ext cx="2832100" cy="2832100"/>
          </a:xfrm>
          <a:prstGeom prst="rect">
            <a:avLst/>
          </a:prstGeom>
        </p:spPr>
      </p:pic>
      <p:sp>
        <p:nvSpPr>
          <p:cNvPr id="13" name="Slide Number Placeholder 12">
            <a:extLst>
              <a:ext uri="{FF2B5EF4-FFF2-40B4-BE49-F238E27FC236}">
                <a16:creationId xmlns:a16="http://schemas.microsoft.com/office/drawing/2014/main" id="{5D337A94-9F19-DB5B-61F5-E7CE89C4E8F8}"/>
              </a:ext>
            </a:extLst>
          </p:cNvPr>
          <p:cNvSpPr>
            <a:spLocks noGrp="1"/>
          </p:cNvSpPr>
          <p:nvPr>
            <p:ph type="sldNum" sz="quarter" idx="12"/>
          </p:nvPr>
        </p:nvSpPr>
        <p:spPr/>
        <p:txBody>
          <a:bodyPr/>
          <a:lstStyle/>
          <a:p>
            <a:fld id="{4544B810-10F2-2E49-94DF-FA7BE986B6B9}" type="slidenum">
              <a:rPr lang="en-US" smtClean="0"/>
              <a:t>50</a:t>
            </a:fld>
            <a:endParaRPr lang="en-US"/>
          </a:p>
        </p:txBody>
      </p:sp>
    </p:spTree>
    <p:extLst>
      <p:ext uri="{BB962C8B-B14F-4D97-AF65-F5344CB8AC3E}">
        <p14:creationId xmlns:p14="http://schemas.microsoft.com/office/powerpoint/2010/main" val="1677888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696A8-36A1-1756-96A6-053DCC112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FC113-6D8D-742A-3CAF-5C0B338D0814}"/>
              </a:ext>
            </a:extLst>
          </p:cNvPr>
          <p:cNvSpPr>
            <a:spLocks noGrp="1"/>
          </p:cNvSpPr>
          <p:nvPr>
            <p:ph type="title"/>
          </p:nvPr>
        </p:nvSpPr>
        <p:spPr/>
        <p:txBody>
          <a:bodyPr/>
          <a:lstStyle/>
          <a:p>
            <a:r>
              <a:rPr lang="en-GB" dirty="0"/>
              <a:t>Relational sign audit</a:t>
            </a:r>
          </a:p>
        </p:txBody>
      </p:sp>
      <p:pic>
        <p:nvPicPr>
          <p:cNvPr id="3" name="Picture 2" descr="Simple User Icon transparent PNG - StickPNG">
            <a:extLst>
              <a:ext uri="{FF2B5EF4-FFF2-40B4-BE49-F238E27FC236}">
                <a16:creationId xmlns:a16="http://schemas.microsoft.com/office/drawing/2014/main" id="{0CE9B825-4FB2-0BF7-E959-1E9E4267E5BF}"/>
              </a:ext>
            </a:extLst>
          </p:cNvPr>
          <p:cNvPicPr>
            <a:picLocks noChangeAspect="1"/>
          </p:cNvPicPr>
          <p:nvPr/>
        </p:nvPicPr>
        <p:blipFill>
          <a:blip r:embed="rId2"/>
          <a:stretch>
            <a:fillRect/>
          </a:stretch>
        </p:blipFill>
        <p:spPr>
          <a:xfrm>
            <a:off x="1469113" y="2794824"/>
            <a:ext cx="2182356" cy="2182356"/>
          </a:xfrm>
          <a:prstGeom prst="rect">
            <a:avLst/>
          </a:prstGeom>
        </p:spPr>
      </p:pic>
      <p:sp>
        <p:nvSpPr>
          <p:cNvPr id="6" name="TextBox 5">
            <a:extLst>
              <a:ext uri="{FF2B5EF4-FFF2-40B4-BE49-F238E27FC236}">
                <a16:creationId xmlns:a16="http://schemas.microsoft.com/office/drawing/2014/main" id="{67A424B8-5D30-2DD7-7B90-6B50D34FE89B}"/>
              </a:ext>
            </a:extLst>
          </p:cNvPr>
          <p:cNvSpPr txBox="1"/>
          <p:nvPr/>
        </p:nvSpPr>
        <p:spPr>
          <a:xfrm>
            <a:off x="5816600" y="944034"/>
            <a:ext cx="6146800" cy="3477875"/>
          </a:xfrm>
          <a:prstGeom prst="rect">
            <a:avLst/>
          </a:prstGeom>
          <a:noFill/>
        </p:spPr>
        <p:txBody>
          <a:bodyPr wrap="square" rtlCol="0">
            <a:spAutoFit/>
          </a:bodyPr>
          <a:lstStyle/>
          <a:p>
            <a:pPr algn="ctr"/>
            <a:r>
              <a:rPr lang="en-US" sz="2000" b="1" dirty="0"/>
              <a:t>I KNOW</a:t>
            </a:r>
          </a:p>
          <a:p>
            <a:pPr algn="ctr"/>
            <a:r>
              <a:rPr lang="en-US" sz="2000" dirty="0"/>
              <a:t>some gradient pairs</a:t>
            </a:r>
            <a:r>
              <a:rPr lang="en-GB" sz="2000" dirty="0"/>
              <a:t> </a:t>
            </a:r>
            <a:r>
              <a:rPr lang="en-GB" sz="2000" i="1" dirty="0"/>
              <a:t>should</a:t>
            </a:r>
            <a:r>
              <a:rPr lang="en-GB" sz="2000" dirty="0"/>
              <a:t> be “pushed” in the same direction (sᵢ = sⱼ). </a:t>
            </a:r>
          </a:p>
          <a:p>
            <a:pPr algn="ctr"/>
            <a:endParaRPr lang="en-GB" sz="2000" dirty="0"/>
          </a:p>
          <a:p>
            <a:pPr algn="ctr"/>
            <a:endParaRPr lang="en-GB" sz="2000" dirty="0"/>
          </a:p>
          <a:p>
            <a:pPr algn="ctr"/>
            <a:endParaRPr lang="en-GB" sz="2000" dirty="0"/>
          </a:p>
          <a:p>
            <a:pPr algn="ctr"/>
            <a:endParaRPr lang="en-GB" sz="2000" dirty="0"/>
          </a:p>
          <a:p>
            <a:pPr algn="ctr"/>
            <a:endParaRPr lang="en-GB" sz="2000" dirty="0"/>
          </a:p>
          <a:p>
            <a:pPr algn="ctr"/>
            <a:r>
              <a:rPr lang="en-GB" sz="2000" b="1" dirty="0"/>
              <a:t>I WANT TO CHECK</a:t>
            </a:r>
          </a:p>
          <a:p>
            <a:pPr algn="ctr"/>
            <a:r>
              <a:rPr lang="en-GB" sz="2000" dirty="0"/>
              <a:t>consistency of received information with my prior knowledge</a:t>
            </a:r>
            <a:endParaRPr lang="en-US" sz="2000" dirty="0"/>
          </a:p>
        </p:txBody>
      </p:sp>
      <p:sp>
        <p:nvSpPr>
          <p:cNvPr id="7" name="Down Arrow 6">
            <a:extLst>
              <a:ext uri="{FF2B5EF4-FFF2-40B4-BE49-F238E27FC236}">
                <a16:creationId xmlns:a16="http://schemas.microsoft.com/office/drawing/2014/main" id="{2FC3C609-2D33-349A-E422-0D1974FC9464}"/>
              </a:ext>
            </a:extLst>
          </p:cNvPr>
          <p:cNvSpPr/>
          <p:nvPr/>
        </p:nvSpPr>
        <p:spPr>
          <a:xfrm>
            <a:off x="8737600" y="2124171"/>
            <a:ext cx="304800" cy="111760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Slide Number Placeholder 12">
            <a:extLst>
              <a:ext uri="{FF2B5EF4-FFF2-40B4-BE49-F238E27FC236}">
                <a16:creationId xmlns:a16="http://schemas.microsoft.com/office/drawing/2014/main" id="{C673785C-D7E9-75DC-6DBA-39B0B149F560}"/>
              </a:ext>
            </a:extLst>
          </p:cNvPr>
          <p:cNvSpPr>
            <a:spLocks noGrp="1"/>
          </p:cNvSpPr>
          <p:nvPr>
            <p:ph type="sldNum" sz="quarter" idx="12"/>
          </p:nvPr>
        </p:nvSpPr>
        <p:spPr/>
        <p:txBody>
          <a:bodyPr/>
          <a:lstStyle/>
          <a:p>
            <a:fld id="{4544B810-10F2-2E49-94DF-FA7BE986B6B9}" type="slidenum">
              <a:rPr lang="en-US" smtClean="0"/>
              <a:t>51</a:t>
            </a:fld>
            <a:endParaRPr lang="en-US"/>
          </a:p>
        </p:txBody>
      </p:sp>
      <p:pic>
        <p:nvPicPr>
          <p:cNvPr id="4" name="Picture 3">
            <a:extLst>
              <a:ext uri="{FF2B5EF4-FFF2-40B4-BE49-F238E27FC236}">
                <a16:creationId xmlns:a16="http://schemas.microsoft.com/office/drawing/2014/main" id="{E310DEBB-6BF9-00D5-1E55-03BFE03D2510}"/>
              </a:ext>
            </a:extLst>
          </p:cNvPr>
          <p:cNvPicPr>
            <a:picLocks noChangeAspect="1"/>
          </p:cNvPicPr>
          <p:nvPr/>
        </p:nvPicPr>
        <p:blipFill>
          <a:blip r:embed="rId3">
            <a:duotone>
              <a:schemeClr val="accent2">
                <a:shade val="45000"/>
                <a:satMod val="135000"/>
              </a:schemeClr>
              <a:prstClr val="white"/>
            </a:duotone>
          </a:blip>
          <a:stretch>
            <a:fillRect/>
          </a:stretch>
        </p:blipFill>
        <p:spPr>
          <a:xfrm>
            <a:off x="4383578" y="4503963"/>
            <a:ext cx="2156698" cy="2034949"/>
          </a:xfrm>
          <a:prstGeom prst="rect">
            <a:avLst/>
          </a:prstGeom>
        </p:spPr>
      </p:pic>
      <p:pic>
        <p:nvPicPr>
          <p:cNvPr id="9" name="Picture 8">
            <a:extLst>
              <a:ext uri="{FF2B5EF4-FFF2-40B4-BE49-F238E27FC236}">
                <a16:creationId xmlns:a16="http://schemas.microsoft.com/office/drawing/2014/main" id="{36A7C58B-2618-DD31-C67E-557E745D5753}"/>
              </a:ext>
            </a:extLst>
          </p:cNvPr>
          <p:cNvPicPr>
            <a:picLocks noChangeAspect="1"/>
          </p:cNvPicPr>
          <p:nvPr/>
        </p:nvPicPr>
        <p:blipFill>
          <a:blip r:embed="rId4">
            <a:duotone>
              <a:schemeClr val="accent5">
                <a:shade val="45000"/>
                <a:satMod val="135000"/>
              </a:schemeClr>
              <a:prstClr val="white"/>
            </a:duotone>
          </a:blip>
          <a:stretch>
            <a:fillRect/>
          </a:stretch>
        </p:blipFill>
        <p:spPr>
          <a:xfrm>
            <a:off x="7893050" y="4423497"/>
            <a:ext cx="2089150" cy="2069378"/>
          </a:xfrm>
          <a:prstGeom prst="rect">
            <a:avLst/>
          </a:prstGeom>
        </p:spPr>
      </p:pic>
      <p:pic>
        <p:nvPicPr>
          <p:cNvPr id="10" name="Picture 9" descr="Is similar to symbol - Free signs icons">
            <a:extLst>
              <a:ext uri="{FF2B5EF4-FFF2-40B4-BE49-F238E27FC236}">
                <a16:creationId xmlns:a16="http://schemas.microsoft.com/office/drawing/2014/main" id="{4361073E-7DB3-3E66-9F3C-0071DD8C4B8E}"/>
              </a:ext>
            </a:extLst>
          </p:cNvPr>
          <p:cNvPicPr>
            <a:picLocks noChangeAspect="1"/>
          </p:cNvPicPr>
          <p:nvPr/>
        </p:nvPicPr>
        <p:blipFill>
          <a:blip r:embed="rId5"/>
          <a:stretch/>
        </p:blipFill>
        <p:spPr>
          <a:xfrm>
            <a:off x="6707351" y="4977180"/>
            <a:ext cx="1123398" cy="1123398"/>
          </a:xfrm>
          <a:prstGeom prst="rect">
            <a:avLst/>
          </a:prstGeom>
        </p:spPr>
      </p:pic>
      <p:sp>
        <p:nvSpPr>
          <p:cNvPr id="11" name="Action Button: Help 10">
            <a:hlinkClick r:id="" action="ppaction://noaction" highlightClick="1"/>
            <a:extLst>
              <a:ext uri="{FF2B5EF4-FFF2-40B4-BE49-F238E27FC236}">
                <a16:creationId xmlns:a16="http://schemas.microsoft.com/office/drawing/2014/main" id="{90DC704D-891B-FFEA-E3E4-592E97191FD6}"/>
              </a:ext>
            </a:extLst>
          </p:cNvPr>
          <p:cNvSpPr/>
          <p:nvPr/>
        </p:nvSpPr>
        <p:spPr>
          <a:xfrm>
            <a:off x="6900340" y="4553518"/>
            <a:ext cx="737420" cy="667805"/>
          </a:xfrm>
          <a:prstGeom prst="actionButtonHelp">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9548CDF-C90A-9738-836F-F05E59517670}"/>
              </a:ext>
            </a:extLst>
          </p:cNvPr>
          <p:cNvSpPr/>
          <p:nvPr/>
        </p:nvSpPr>
        <p:spPr>
          <a:xfrm>
            <a:off x="5937956" y="5221323"/>
            <a:ext cx="349955" cy="317556"/>
          </a:xfrm>
          <a:prstGeom prst="ellipse">
            <a:avLst/>
          </a:prstGeom>
          <a:solidFill>
            <a:srgbClr val="C1E5F5">
              <a:alpha val="3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626DCF8-9219-1800-3901-31208A7E6BF4}"/>
              </a:ext>
            </a:extLst>
          </p:cNvPr>
          <p:cNvSpPr/>
          <p:nvPr/>
        </p:nvSpPr>
        <p:spPr>
          <a:xfrm>
            <a:off x="5461927" y="6197572"/>
            <a:ext cx="349955" cy="317556"/>
          </a:xfrm>
          <a:prstGeom prst="ellipse">
            <a:avLst/>
          </a:prstGeom>
          <a:solidFill>
            <a:srgbClr val="C1E5F5">
              <a:alpha val="3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9D18795-EA12-FC1A-B543-F42CD588AF5F}"/>
              </a:ext>
            </a:extLst>
          </p:cNvPr>
          <p:cNvSpPr/>
          <p:nvPr/>
        </p:nvSpPr>
        <p:spPr>
          <a:xfrm>
            <a:off x="8937625" y="6175319"/>
            <a:ext cx="349955" cy="317556"/>
          </a:xfrm>
          <a:prstGeom prst="ellipse">
            <a:avLst/>
          </a:prstGeom>
          <a:solidFill>
            <a:srgbClr val="C1E5F5">
              <a:alpha val="3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AFD4640-7AFA-7218-8513-97F278403F20}"/>
              </a:ext>
            </a:extLst>
          </p:cNvPr>
          <p:cNvSpPr/>
          <p:nvPr/>
        </p:nvSpPr>
        <p:spPr>
          <a:xfrm>
            <a:off x="9375544" y="5153089"/>
            <a:ext cx="349955" cy="317556"/>
          </a:xfrm>
          <a:prstGeom prst="ellipse">
            <a:avLst/>
          </a:prstGeom>
          <a:solidFill>
            <a:srgbClr val="C1E5F5">
              <a:alpha val="3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Where's Waldo? – Señora Chase">
            <a:extLst>
              <a:ext uri="{FF2B5EF4-FFF2-40B4-BE49-F238E27FC236}">
                <a16:creationId xmlns:a16="http://schemas.microsoft.com/office/drawing/2014/main" id="{315FFAAB-0552-8241-FAE5-0A9114D33A85}"/>
              </a:ext>
            </a:extLst>
          </p:cNvPr>
          <p:cNvPicPr>
            <a:picLocks noChangeAspect="1"/>
          </p:cNvPicPr>
          <p:nvPr/>
        </p:nvPicPr>
        <p:blipFill>
          <a:blip r:embed="rId6"/>
          <a:stretch>
            <a:fillRect/>
          </a:stretch>
        </p:blipFill>
        <p:spPr>
          <a:xfrm flipH="1">
            <a:off x="11020510" y="4789496"/>
            <a:ext cx="1171490" cy="1385823"/>
          </a:xfrm>
          <a:prstGeom prst="rect">
            <a:avLst/>
          </a:prstGeom>
        </p:spPr>
      </p:pic>
      <p:sp>
        <p:nvSpPr>
          <p:cNvPr id="5" name="Rectangle 4">
            <a:extLst>
              <a:ext uri="{FF2B5EF4-FFF2-40B4-BE49-F238E27FC236}">
                <a16:creationId xmlns:a16="http://schemas.microsoft.com/office/drawing/2014/main" id="{ED073FFF-B05D-D7AD-1D34-FFFCD3CECF86}"/>
              </a:ext>
            </a:extLst>
          </p:cNvPr>
          <p:cNvSpPr/>
          <p:nvPr/>
        </p:nvSpPr>
        <p:spPr>
          <a:xfrm rot="20197062">
            <a:off x="471993" y="1956440"/>
            <a:ext cx="2849968" cy="557212"/>
          </a:xfrm>
          <a:prstGeom prst="rect">
            <a:avLst/>
          </a:prstGeom>
          <a:solidFill>
            <a:schemeClr val="accent1">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Instance of Boolean Hidden Matching </a:t>
            </a:r>
            <a:r>
              <a:rPr lang="en-US" dirty="0">
                <a:ln w="0"/>
                <a:solidFill>
                  <a:schemeClr val="tx1"/>
                </a:solidFill>
                <a:effectLst>
                  <a:outerShdw blurRad="38100" dist="19050" dir="2700000" algn="tl" rotWithShape="0">
                    <a:schemeClr val="dk1">
                      <a:alpha val="40000"/>
                    </a:schemeClr>
                  </a:outerShdw>
                </a:effectLst>
                <a:sym typeface="Wingdings" pitchFamily="2" charset="2"/>
              </a:rPr>
              <a:t></a:t>
            </a: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5332844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88CA4-6411-C5F8-62D1-8464AEC7B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18196-BCF5-01B7-8489-0ED30235546D}"/>
              </a:ext>
            </a:extLst>
          </p:cNvPr>
          <p:cNvSpPr>
            <a:spLocks noGrp="1"/>
          </p:cNvSpPr>
          <p:nvPr>
            <p:ph type="title"/>
          </p:nvPr>
        </p:nvSpPr>
        <p:spPr/>
        <p:txBody>
          <a:bodyPr/>
          <a:lstStyle/>
          <a:p>
            <a:r>
              <a:rPr lang="en-GB" dirty="0"/>
              <a:t>Relational sign audit</a:t>
            </a:r>
            <a:endParaRPr lang="en-US" dirty="0"/>
          </a:p>
        </p:txBody>
      </p:sp>
      <p:sp>
        <p:nvSpPr>
          <p:cNvPr id="8" name="TextBox 7">
            <a:extLst>
              <a:ext uri="{FF2B5EF4-FFF2-40B4-BE49-F238E27FC236}">
                <a16:creationId xmlns:a16="http://schemas.microsoft.com/office/drawing/2014/main" id="{CE8ECE7F-E67B-6875-5F0C-441EBFEAA629}"/>
              </a:ext>
            </a:extLst>
          </p:cNvPr>
          <p:cNvSpPr txBox="1"/>
          <p:nvPr/>
        </p:nvSpPr>
        <p:spPr>
          <a:xfrm>
            <a:off x="1921565" y="1624427"/>
            <a:ext cx="2782956" cy="461665"/>
          </a:xfrm>
          <a:prstGeom prst="rect">
            <a:avLst/>
          </a:prstGeom>
          <a:noFill/>
        </p:spPr>
        <p:txBody>
          <a:bodyPr wrap="square" rtlCol="0">
            <a:spAutoFit/>
          </a:bodyPr>
          <a:lstStyle/>
          <a:p>
            <a:pPr algn="ctr"/>
            <a:r>
              <a:rPr lang="en-US" sz="2400" dirty="0"/>
              <a:t>CLASSICAL</a:t>
            </a:r>
          </a:p>
        </p:txBody>
      </p:sp>
      <p:sp>
        <p:nvSpPr>
          <p:cNvPr id="12" name="TextBox 11">
            <a:extLst>
              <a:ext uri="{FF2B5EF4-FFF2-40B4-BE49-F238E27FC236}">
                <a16:creationId xmlns:a16="http://schemas.microsoft.com/office/drawing/2014/main" id="{AC2E1FC7-CF0E-1A09-75E2-87CA01346D45}"/>
              </a:ext>
            </a:extLst>
          </p:cNvPr>
          <p:cNvSpPr txBox="1"/>
          <p:nvPr/>
        </p:nvSpPr>
        <p:spPr>
          <a:xfrm>
            <a:off x="1422400" y="2274838"/>
            <a:ext cx="9804400" cy="2308324"/>
          </a:xfrm>
          <a:prstGeom prst="rect">
            <a:avLst/>
          </a:prstGeom>
          <a:noFill/>
        </p:spPr>
        <p:txBody>
          <a:bodyPr wrap="square">
            <a:spAutoFit/>
          </a:bodyPr>
          <a:lstStyle/>
          <a:p>
            <a:pPr marL="342900" indent="-342900">
              <a:buFont typeface="+mj-lt"/>
              <a:buAutoNum type="arabicPeriod"/>
            </a:pPr>
            <a:r>
              <a:rPr lang="en-GB" sz="2400" b="0" i="0" u="none" strike="noStrike" dirty="0">
                <a:effectLst/>
                <a:latin typeface="-webkit-standard"/>
              </a:rPr>
              <a:t>The server's message is fixed </a:t>
            </a:r>
            <a:r>
              <a:rPr lang="en-GB" sz="2400" b="0" i="1" dirty="0">
                <a:effectLst/>
              </a:rPr>
              <a:t>before</a:t>
            </a:r>
            <a:r>
              <a:rPr lang="en-GB" sz="2400" b="0" i="0" u="none" strike="noStrike" dirty="0">
                <a:effectLst/>
                <a:latin typeface="-webkit-standard"/>
              </a:rPr>
              <a:t> it learns the client's matching. </a:t>
            </a:r>
          </a:p>
          <a:p>
            <a:pPr marL="342900" indent="-342900">
              <a:buFont typeface="+mj-lt"/>
              <a:buAutoNum type="arabicPeriod"/>
            </a:pPr>
            <a:r>
              <a:rPr lang="en-GB" sz="2400" b="0" i="0" u="none" strike="noStrike" dirty="0">
                <a:effectLst/>
                <a:latin typeface="-webkit-standard"/>
              </a:rPr>
              <a:t>To answer for whatever pairing the client privately holds, the message would have to preserve the parity sᵢ⊕sⱼ of an </a:t>
            </a:r>
            <a:r>
              <a:rPr lang="en-GB" sz="2400" b="0" i="1" dirty="0">
                <a:effectLst/>
              </a:rPr>
              <a:t>arbitrary</a:t>
            </a:r>
            <a:r>
              <a:rPr lang="en-GB" sz="2400" b="0" i="0" u="none" strike="noStrike" dirty="0">
                <a:effectLst/>
                <a:latin typeface="-webkit-standard"/>
              </a:rPr>
              <a:t> pair. </a:t>
            </a:r>
          </a:p>
          <a:p>
            <a:pPr marL="342900" indent="-342900">
              <a:buFont typeface="+mj-lt"/>
              <a:buAutoNum type="arabicPeriod"/>
            </a:pPr>
            <a:r>
              <a:rPr lang="en-GB" sz="2400" b="0" i="0" u="none" strike="noStrike" dirty="0">
                <a:effectLst/>
                <a:latin typeface="-webkit-standard"/>
              </a:rPr>
              <a:t>Boolean Hidden Matching lower bound</a:t>
            </a:r>
            <a:r>
              <a:rPr lang="en-GB" sz="2400" dirty="0">
                <a:latin typeface="-webkit-standard"/>
              </a:rPr>
              <a:t> tell us the server is forced to send </a:t>
            </a:r>
            <a:r>
              <a:rPr lang="en-GB" sz="2400" b="1" dirty="0" err="1">
                <a:latin typeface="-webkit-standard"/>
              </a:rPr>
              <a:t>Ω</a:t>
            </a:r>
            <a:r>
              <a:rPr lang="en-GB" sz="2400" b="1" dirty="0">
                <a:latin typeface="-webkit-standard"/>
              </a:rPr>
              <a:t>(√P) bits </a:t>
            </a:r>
            <a:r>
              <a:rPr lang="en-GB" sz="2400" dirty="0">
                <a:latin typeface="-webkit-standard"/>
              </a:rPr>
              <a:t>(for the P</a:t>
            </a:r>
            <a:r>
              <a:rPr lang="en-GB" sz="2400" baseline="30000" dirty="0">
                <a:latin typeface="-webkit-standard"/>
              </a:rPr>
              <a:t>2 </a:t>
            </a:r>
            <a:r>
              <a:rPr lang="en-GB" sz="2400" dirty="0">
                <a:latin typeface="-webkit-standard"/>
              </a:rPr>
              <a:t>possible pairs), no matter how loose an answer (large </a:t>
            </a:r>
            <a:r>
              <a:rPr lang="en-GB" sz="2400" dirty="0" err="1">
                <a:latin typeface="-webkit-standard"/>
              </a:rPr>
              <a:t>ε</a:t>
            </a:r>
            <a:r>
              <a:rPr lang="en-GB" sz="2400" dirty="0">
                <a:latin typeface="-webkit-standard"/>
              </a:rPr>
              <a:t>) the client would accept.</a:t>
            </a:r>
            <a:endParaRPr lang="en-US" sz="2400" dirty="0">
              <a:latin typeface="-webkit-standard"/>
            </a:endParaRPr>
          </a:p>
        </p:txBody>
      </p:sp>
      <p:sp>
        <p:nvSpPr>
          <p:cNvPr id="14" name="Slide Number Placeholder 13">
            <a:extLst>
              <a:ext uri="{FF2B5EF4-FFF2-40B4-BE49-F238E27FC236}">
                <a16:creationId xmlns:a16="http://schemas.microsoft.com/office/drawing/2014/main" id="{1E57127A-CBD5-1B0D-E7AD-D2F434652010}"/>
              </a:ext>
            </a:extLst>
          </p:cNvPr>
          <p:cNvSpPr>
            <a:spLocks noGrp="1"/>
          </p:cNvSpPr>
          <p:nvPr>
            <p:ph type="sldNum" sz="quarter" idx="12"/>
          </p:nvPr>
        </p:nvSpPr>
        <p:spPr/>
        <p:txBody>
          <a:bodyPr/>
          <a:lstStyle/>
          <a:p>
            <a:fld id="{4544B810-10F2-2E49-94DF-FA7BE986B6B9}" type="slidenum">
              <a:rPr lang="en-US" smtClean="0"/>
              <a:t>52</a:t>
            </a:fld>
            <a:endParaRPr lang="en-US"/>
          </a:p>
        </p:txBody>
      </p:sp>
      <p:sp>
        <p:nvSpPr>
          <p:cNvPr id="15" name="TextBox 14">
            <a:extLst>
              <a:ext uri="{FF2B5EF4-FFF2-40B4-BE49-F238E27FC236}">
                <a16:creationId xmlns:a16="http://schemas.microsoft.com/office/drawing/2014/main" id="{FFE13784-661D-C727-3B82-09031382D0EC}"/>
              </a:ext>
            </a:extLst>
          </p:cNvPr>
          <p:cNvSpPr txBox="1"/>
          <p:nvPr/>
        </p:nvSpPr>
        <p:spPr>
          <a:xfrm>
            <a:off x="1473200" y="5232400"/>
            <a:ext cx="9364133" cy="369332"/>
          </a:xfrm>
          <a:prstGeom prst="rect">
            <a:avLst/>
          </a:prstGeom>
          <a:solidFill>
            <a:schemeClr val="accent1">
              <a:lumMod val="20000"/>
              <a:lumOff val="80000"/>
            </a:schemeClr>
          </a:solidFill>
          <a:ln w="38100">
            <a:solidFill>
              <a:schemeClr val="accent1"/>
            </a:solidFill>
            <a:prstDash val="dash"/>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Classically the server must answer every possible pairing in advance, which costs √P.</a:t>
            </a:r>
            <a:endParaRPr lang="en-GB" sz="2000" dirty="0"/>
          </a:p>
        </p:txBody>
      </p:sp>
    </p:spTree>
    <p:extLst>
      <p:ext uri="{BB962C8B-B14F-4D97-AF65-F5344CB8AC3E}">
        <p14:creationId xmlns:p14="http://schemas.microsoft.com/office/powerpoint/2010/main" val="19538406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F0D66-00D4-5966-2194-9AFCAB7E1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CCA16-4B6B-B2C6-2476-F2A53691BC94}"/>
              </a:ext>
            </a:extLst>
          </p:cNvPr>
          <p:cNvSpPr>
            <a:spLocks noGrp="1"/>
          </p:cNvSpPr>
          <p:nvPr>
            <p:ph type="title"/>
          </p:nvPr>
        </p:nvSpPr>
        <p:spPr/>
        <p:txBody>
          <a:bodyPr/>
          <a:lstStyle/>
          <a:p>
            <a:r>
              <a:rPr lang="en-GB" dirty="0"/>
              <a:t>Relational sign audit</a:t>
            </a:r>
            <a:endParaRPr lang="en-US" dirty="0"/>
          </a:p>
        </p:txBody>
      </p:sp>
      <p:cxnSp>
        <p:nvCxnSpPr>
          <p:cNvPr id="7" name="Straight Connector 6">
            <a:extLst>
              <a:ext uri="{FF2B5EF4-FFF2-40B4-BE49-F238E27FC236}">
                <a16:creationId xmlns:a16="http://schemas.microsoft.com/office/drawing/2014/main" id="{D9FC5600-BC5B-12F6-BCA7-883BBA2B5577}"/>
              </a:ext>
            </a:extLst>
          </p:cNvPr>
          <p:cNvCxnSpPr>
            <a:cxnSpLocks/>
          </p:cNvCxnSpPr>
          <p:nvPr/>
        </p:nvCxnSpPr>
        <p:spPr>
          <a:xfrm>
            <a:off x="5910470" y="1690688"/>
            <a:ext cx="0" cy="4776373"/>
          </a:xfrm>
          <a:prstGeom prst="line">
            <a:avLst/>
          </a:prstGeom>
          <a:ln w="57150"/>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98754610-ED1A-E886-BDCA-861F173382A9}"/>
              </a:ext>
            </a:extLst>
          </p:cNvPr>
          <p:cNvSpPr txBox="1"/>
          <p:nvPr/>
        </p:nvSpPr>
        <p:spPr>
          <a:xfrm>
            <a:off x="1921565" y="1624427"/>
            <a:ext cx="2782956" cy="461665"/>
          </a:xfrm>
          <a:prstGeom prst="rect">
            <a:avLst/>
          </a:prstGeom>
          <a:noFill/>
        </p:spPr>
        <p:txBody>
          <a:bodyPr wrap="square" rtlCol="0">
            <a:spAutoFit/>
          </a:bodyPr>
          <a:lstStyle/>
          <a:p>
            <a:pPr algn="ctr"/>
            <a:r>
              <a:rPr lang="en-US" sz="2400" dirty="0"/>
              <a:t>CLASSICAL</a:t>
            </a:r>
          </a:p>
        </p:txBody>
      </p:sp>
      <p:sp>
        <p:nvSpPr>
          <p:cNvPr id="9" name="TextBox 8">
            <a:extLst>
              <a:ext uri="{FF2B5EF4-FFF2-40B4-BE49-F238E27FC236}">
                <a16:creationId xmlns:a16="http://schemas.microsoft.com/office/drawing/2014/main" id="{4A0AB443-5C24-BD0B-3788-3A524F679B50}"/>
              </a:ext>
            </a:extLst>
          </p:cNvPr>
          <p:cNvSpPr txBox="1"/>
          <p:nvPr/>
        </p:nvSpPr>
        <p:spPr>
          <a:xfrm>
            <a:off x="6950765" y="1624426"/>
            <a:ext cx="2782956" cy="461665"/>
          </a:xfrm>
          <a:prstGeom prst="rect">
            <a:avLst/>
          </a:prstGeom>
          <a:noFill/>
        </p:spPr>
        <p:txBody>
          <a:bodyPr wrap="square" rtlCol="0">
            <a:spAutoFit/>
          </a:bodyPr>
          <a:lstStyle/>
          <a:p>
            <a:pPr algn="ctr"/>
            <a:r>
              <a:rPr lang="en-US" sz="2400" dirty="0"/>
              <a:t>QUANTUM</a:t>
            </a:r>
          </a:p>
        </p:txBody>
      </p:sp>
      <p:pic>
        <p:nvPicPr>
          <p:cNvPr id="3" name="Picture 2" descr="Good question - Cool Jesus Meme Generator">
            <a:extLst>
              <a:ext uri="{FF2B5EF4-FFF2-40B4-BE49-F238E27FC236}">
                <a16:creationId xmlns:a16="http://schemas.microsoft.com/office/drawing/2014/main" id="{15F8F3FB-EA7C-C939-49CC-E67604C836A9}"/>
              </a:ext>
            </a:extLst>
          </p:cNvPr>
          <p:cNvPicPr>
            <a:picLocks noChangeAspect="1"/>
          </p:cNvPicPr>
          <p:nvPr/>
        </p:nvPicPr>
        <p:blipFill>
          <a:blip r:embed="rId3"/>
          <a:stretch>
            <a:fillRect/>
          </a:stretch>
        </p:blipFill>
        <p:spPr>
          <a:xfrm>
            <a:off x="7365944" y="2517016"/>
            <a:ext cx="3517072" cy="3517072"/>
          </a:xfrm>
          <a:prstGeom prst="rect">
            <a:avLst/>
          </a:prstGeom>
        </p:spPr>
      </p:pic>
      <p:sp>
        <p:nvSpPr>
          <p:cNvPr id="4" name="TextBox 3">
            <a:extLst>
              <a:ext uri="{FF2B5EF4-FFF2-40B4-BE49-F238E27FC236}">
                <a16:creationId xmlns:a16="http://schemas.microsoft.com/office/drawing/2014/main" id="{3060A2EE-0BAA-DA8D-22D0-CAC1858BCC9E}"/>
              </a:ext>
            </a:extLst>
          </p:cNvPr>
          <p:cNvSpPr txBox="1"/>
          <p:nvPr/>
        </p:nvSpPr>
        <p:spPr>
          <a:xfrm>
            <a:off x="1001647" y="3198334"/>
            <a:ext cx="4622791" cy="1077218"/>
          </a:xfrm>
          <a:prstGeom prst="rect">
            <a:avLst/>
          </a:prstGeom>
          <a:noFill/>
        </p:spPr>
        <p:txBody>
          <a:bodyPr wrap="square">
            <a:spAutoFit/>
          </a:bodyPr>
          <a:lstStyle/>
          <a:p>
            <a:pPr algn="ctr"/>
            <a:r>
              <a:rPr lang="en-GB" sz="3200" dirty="0">
                <a:latin typeface="-webkit-standard"/>
              </a:rPr>
              <a:t>Boolean Hidden Matching:</a:t>
            </a:r>
            <a:endParaRPr lang="en-GB" sz="3200" b="1" dirty="0">
              <a:latin typeface="-webkit-standard"/>
            </a:endParaRPr>
          </a:p>
          <a:p>
            <a:pPr algn="ctr"/>
            <a:r>
              <a:rPr lang="en-GB" sz="3200" b="1" dirty="0" err="1">
                <a:solidFill>
                  <a:srgbClr val="FF0000"/>
                </a:solidFill>
                <a:latin typeface="-webkit-standard"/>
              </a:rPr>
              <a:t>Ω</a:t>
            </a:r>
            <a:r>
              <a:rPr lang="en-GB" sz="3200" b="1" dirty="0">
                <a:solidFill>
                  <a:srgbClr val="FF0000"/>
                </a:solidFill>
                <a:latin typeface="-webkit-standard"/>
              </a:rPr>
              <a:t>(√P)</a:t>
            </a:r>
            <a:endParaRPr lang="en-US" sz="3200" dirty="0">
              <a:solidFill>
                <a:srgbClr val="FF0000"/>
              </a:solidFill>
            </a:endParaRPr>
          </a:p>
        </p:txBody>
      </p:sp>
      <p:sp>
        <p:nvSpPr>
          <p:cNvPr id="5" name="Slide Number Placeholder 4">
            <a:extLst>
              <a:ext uri="{FF2B5EF4-FFF2-40B4-BE49-F238E27FC236}">
                <a16:creationId xmlns:a16="http://schemas.microsoft.com/office/drawing/2014/main" id="{D4A9D87E-4FD6-D996-5C47-117693C63EC6}"/>
              </a:ext>
            </a:extLst>
          </p:cNvPr>
          <p:cNvSpPr>
            <a:spLocks noGrp="1"/>
          </p:cNvSpPr>
          <p:nvPr>
            <p:ph type="sldNum" sz="quarter" idx="12"/>
          </p:nvPr>
        </p:nvSpPr>
        <p:spPr/>
        <p:txBody>
          <a:bodyPr/>
          <a:lstStyle/>
          <a:p>
            <a:fld id="{4544B810-10F2-2E49-94DF-FA7BE986B6B9}" type="slidenum">
              <a:rPr lang="en-US" smtClean="0"/>
              <a:t>53</a:t>
            </a:fld>
            <a:endParaRPr lang="en-US"/>
          </a:p>
        </p:txBody>
      </p:sp>
    </p:spTree>
    <p:extLst>
      <p:ext uri="{BB962C8B-B14F-4D97-AF65-F5344CB8AC3E}">
        <p14:creationId xmlns:p14="http://schemas.microsoft.com/office/powerpoint/2010/main" val="17433312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53A88-B866-2BA8-129E-5AB90195E1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17602-B77E-0F27-4C45-55F566B6858E}"/>
              </a:ext>
            </a:extLst>
          </p:cNvPr>
          <p:cNvSpPr>
            <a:spLocks noGrp="1"/>
          </p:cNvSpPr>
          <p:nvPr>
            <p:ph type="title"/>
          </p:nvPr>
        </p:nvSpPr>
        <p:spPr/>
        <p:txBody>
          <a:bodyPr/>
          <a:lstStyle/>
          <a:p>
            <a:r>
              <a:rPr lang="en-GB" dirty="0"/>
              <a:t>Relational sign audit</a:t>
            </a:r>
            <a:endParaRPr lang="en-US" dirty="0"/>
          </a:p>
        </p:txBody>
      </p:sp>
      <p:sp>
        <p:nvSpPr>
          <p:cNvPr id="8" name="TextBox 7">
            <a:extLst>
              <a:ext uri="{FF2B5EF4-FFF2-40B4-BE49-F238E27FC236}">
                <a16:creationId xmlns:a16="http://schemas.microsoft.com/office/drawing/2014/main" id="{C1249EAA-ACB1-C269-3E30-C5ABDFACFEA3}"/>
              </a:ext>
            </a:extLst>
          </p:cNvPr>
          <p:cNvSpPr txBox="1"/>
          <p:nvPr/>
        </p:nvSpPr>
        <p:spPr>
          <a:xfrm>
            <a:off x="1921565" y="1624427"/>
            <a:ext cx="2782956" cy="461665"/>
          </a:xfrm>
          <a:prstGeom prst="rect">
            <a:avLst/>
          </a:prstGeom>
          <a:noFill/>
        </p:spPr>
        <p:txBody>
          <a:bodyPr wrap="square" rtlCol="0">
            <a:spAutoFit/>
          </a:bodyPr>
          <a:lstStyle/>
          <a:p>
            <a:pPr algn="ctr"/>
            <a:r>
              <a:rPr lang="en-US" sz="2400" dirty="0"/>
              <a:t>QUANTUM</a:t>
            </a:r>
          </a:p>
        </p:txBody>
      </p:sp>
      <p:sp>
        <p:nvSpPr>
          <p:cNvPr id="4" name="TextBox 3">
            <a:extLst>
              <a:ext uri="{FF2B5EF4-FFF2-40B4-BE49-F238E27FC236}">
                <a16:creationId xmlns:a16="http://schemas.microsoft.com/office/drawing/2014/main" id="{4B85B23E-D157-15B3-79FE-DCD7F5B0D822}"/>
              </a:ext>
            </a:extLst>
          </p:cNvPr>
          <p:cNvSpPr txBox="1"/>
          <p:nvPr/>
        </p:nvSpPr>
        <p:spPr>
          <a:xfrm>
            <a:off x="6858000" y="180459"/>
            <a:ext cx="6096000" cy="369332"/>
          </a:xfrm>
          <a:prstGeom prst="rect">
            <a:avLst/>
          </a:prstGeom>
          <a:noFill/>
        </p:spPr>
        <p:txBody>
          <a:bodyPr wrap="square">
            <a:spAutoFit/>
          </a:bodyPr>
          <a:lstStyle/>
          <a:p>
            <a:r>
              <a:rPr lang="en-GB" b="1" i="0" dirty="0" err="1">
                <a:effectLst/>
              </a:rPr>
              <a:t>ε</a:t>
            </a:r>
            <a:r>
              <a:rPr lang="en-GB" b="0" i="0" u="none" strike="noStrike" dirty="0">
                <a:effectLst/>
                <a:latin typeface="-webkit-standard"/>
              </a:rPr>
              <a:t> = the additive accuracy on the </a:t>
            </a:r>
            <a:r>
              <a:rPr lang="en-GB" b="0" i="1" dirty="0">
                <a:effectLst/>
              </a:rPr>
              <a:t>conflict fraction</a:t>
            </a:r>
            <a:r>
              <a:rPr lang="en-GB" b="0" i="0" u="none" strike="noStrike" dirty="0">
                <a:effectLst/>
                <a:latin typeface="-webkit-standard"/>
              </a:rPr>
              <a:t> fₖ</a:t>
            </a:r>
            <a:endParaRPr lang="en-US" dirty="0"/>
          </a:p>
        </p:txBody>
      </p:sp>
      <p:sp>
        <p:nvSpPr>
          <p:cNvPr id="5" name="Rectangle 4">
            <a:extLst>
              <a:ext uri="{FF2B5EF4-FFF2-40B4-BE49-F238E27FC236}">
                <a16:creationId xmlns:a16="http://schemas.microsoft.com/office/drawing/2014/main" id="{62D737D3-06D4-97BC-EBC5-8B29C1C23F14}"/>
              </a:ext>
            </a:extLst>
          </p:cNvPr>
          <p:cNvSpPr/>
          <p:nvPr/>
        </p:nvSpPr>
        <p:spPr>
          <a:xfrm>
            <a:off x="954741" y="3087800"/>
            <a:ext cx="2208212" cy="20235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SERVER</a:t>
            </a:r>
          </a:p>
        </p:txBody>
      </p:sp>
      <p:sp>
        <p:nvSpPr>
          <p:cNvPr id="13" name="TextBox 12">
            <a:extLst>
              <a:ext uri="{FF2B5EF4-FFF2-40B4-BE49-F238E27FC236}">
                <a16:creationId xmlns:a16="http://schemas.microsoft.com/office/drawing/2014/main" id="{568D5F0C-313F-2A06-F9A1-BE939FCBB198}"/>
              </a:ext>
            </a:extLst>
          </p:cNvPr>
          <p:cNvSpPr txBox="1"/>
          <p:nvPr/>
        </p:nvSpPr>
        <p:spPr>
          <a:xfrm>
            <a:off x="5660315" y="4365237"/>
            <a:ext cx="3377534" cy="923330"/>
          </a:xfrm>
          <a:prstGeom prst="rect">
            <a:avLst/>
          </a:prstGeom>
          <a:noFill/>
        </p:spPr>
        <p:txBody>
          <a:bodyPr wrap="square">
            <a:spAutoFit/>
          </a:bodyPr>
          <a:lstStyle/>
          <a:p>
            <a:pPr algn="ctr"/>
            <a:r>
              <a:rPr lang="en-GB" b="1" dirty="0"/>
              <a:t>phase state</a:t>
            </a:r>
            <a:r>
              <a:rPr lang="en-GB" dirty="0"/>
              <a:t> |s⟩ = (1/√P)·</a:t>
            </a:r>
            <a:r>
              <a:rPr lang="en-GB" dirty="0" err="1"/>
              <a:t>Σ</a:t>
            </a:r>
            <a:r>
              <a:rPr lang="en-GB" dirty="0"/>
              <a:t> s</a:t>
            </a:r>
            <a:r>
              <a:rPr lang="en-GB" baseline="-25000" dirty="0"/>
              <a:t>ᶜ</a:t>
            </a:r>
            <a:r>
              <a:rPr lang="en-GB" dirty="0"/>
              <a:t>|c⟩</a:t>
            </a:r>
          </a:p>
          <a:p>
            <a:pPr algn="ctr"/>
            <a:r>
              <a:rPr lang="en-GB" b="1" dirty="0"/>
              <a:t>log P qubits</a:t>
            </a:r>
          </a:p>
          <a:p>
            <a:endParaRPr lang="en-GB" dirty="0"/>
          </a:p>
        </p:txBody>
      </p:sp>
      <p:sp>
        <p:nvSpPr>
          <p:cNvPr id="14" name="Slide Number Placeholder 13">
            <a:extLst>
              <a:ext uri="{FF2B5EF4-FFF2-40B4-BE49-F238E27FC236}">
                <a16:creationId xmlns:a16="http://schemas.microsoft.com/office/drawing/2014/main" id="{8E4A3B21-0518-6F9B-4212-1C8E4370628A}"/>
              </a:ext>
            </a:extLst>
          </p:cNvPr>
          <p:cNvSpPr>
            <a:spLocks noGrp="1"/>
          </p:cNvSpPr>
          <p:nvPr>
            <p:ph type="sldNum" sz="quarter" idx="12"/>
          </p:nvPr>
        </p:nvSpPr>
        <p:spPr/>
        <p:txBody>
          <a:bodyPr/>
          <a:lstStyle/>
          <a:p>
            <a:fld id="{4544B810-10F2-2E49-94DF-FA7BE986B6B9}" type="slidenum">
              <a:rPr lang="en-US" smtClean="0"/>
              <a:t>54</a:t>
            </a:fld>
            <a:endParaRPr lang="en-US"/>
          </a:p>
        </p:txBody>
      </p:sp>
      <p:sp>
        <p:nvSpPr>
          <p:cNvPr id="19" name="TextBox 18">
            <a:extLst>
              <a:ext uri="{FF2B5EF4-FFF2-40B4-BE49-F238E27FC236}">
                <a16:creationId xmlns:a16="http://schemas.microsoft.com/office/drawing/2014/main" id="{79094FC3-83C4-EDD9-2890-6AB6A7A8ABDB}"/>
              </a:ext>
            </a:extLst>
          </p:cNvPr>
          <p:cNvSpPr txBox="1"/>
          <p:nvPr/>
        </p:nvSpPr>
        <p:spPr>
          <a:xfrm>
            <a:off x="3388933" y="2697683"/>
            <a:ext cx="3469067" cy="923330"/>
          </a:xfrm>
          <a:prstGeom prst="rect">
            <a:avLst/>
          </a:prstGeom>
          <a:noFill/>
        </p:spPr>
        <p:txBody>
          <a:bodyPr wrap="square">
            <a:spAutoFit/>
          </a:bodyPr>
          <a:lstStyle/>
          <a:p>
            <a:r>
              <a:rPr lang="en-GB" dirty="0"/>
              <a:t>Each parameter's sign is written onto the amplitude of its own basis state |c⟩</a:t>
            </a:r>
            <a:endParaRPr lang="en-US" dirty="0"/>
          </a:p>
        </p:txBody>
      </p:sp>
      <p:sp>
        <p:nvSpPr>
          <p:cNvPr id="21" name="Rectangle 20">
            <a:extLst>
              <a:ext uri="{FF2B5EF4-FFF2-40B4-BE49-F238E27FC236}">
                <a16:creationId xmlns:a16="http://schemas.microsoft.com/office/drawing/2014/main" id="{365733DA-2393-8A84-E31C-6CD29F79E727}"/>
              </a:ext>
            </a:extLst>
          </p:cNvPr>
          <p:cNvSpPr/>
          <p:nvPr/>
        </p:nvSpPr>
        <p:spPr>
          <a:xfrm>
            <a:off x="3388933" y="3678759"/>
            <a:ext cx="2434212" cy="457200"/>
          </a:xfrm>
          <a:prstGeom prst="rect">
            <a:avLst/>
          </a:prstGeom>
          <a:solidFill>
            <a:schemeClr val="accent2">
              <a:lumMod val="20000"/>
              <a:lumOff val="80000"/>
            </a:schemeClr>
          </a:solidFill>
          <a:ln>
            <a:solidFill>
              <a:srgbClr val="D35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 + - - + - + + +…</a:t>
            </a:r>
          </a:p>
        </p:txBody>
      </p:sp>
      <p:sp>
        <p:nvSpPr>
          <p:cNvPr id="22" name="Triangle 21">
            <a:extLst>
              <a:ext uri="{FF2B5EF4-FFF2-40B4-BE49-F238E27FC236}">
                <a16:creationId xmlns:a16="http://schemas.microsoft.com/office/drawing/2014/main" id="{78762975-17BC-2CCF-3714-DD2233924936}"/>
              </a:ext>
            </a:extLst>
          </p:cNvPr>
          <p:cNvSpPr/>
          <p:nvPr/>
        </p:nvSpPr>
        <p:spPr>
          <a:xfrm rot="5400000">
            <a:off x="5806213" y="3539686"/>
            <a:ext cx="844004" cy="691606"/>
          </a:xfrm>
          <a:prstGeom prst="triangle">
            <a:avLst>
              <a:gd name="adj" fmla="val 53041"/>
            </a:avLst>
          </a:prstGeom>
          <a:solidFill>
            <a:srgbClr val="E75C10">
              <a:alpha val="5921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604D34A-7BFD-9275-50DF-2D2E84E1A536}"/>
              </a:ext>
            </a:extLst>
          </p:cNvPr>
          <p:cNvSpPr/>
          <p:nvPr/>
        </p:nvSpPr>
        <p:spPr>
          <a:xfrm>
            <a:off x="6633285" y="3639623"/>
            <a:ext cx="691606" cy="457200"/>
          </a:xfrm>
          <a:prstGeom prst="rect">
            <a:avLst/>
          </a:prstGeom>
          <a:solidFill>
            <a:srgbClr val="B1470E">
              <a:alpha val="53725"/>
            </a:srgbClr>
          </a:solidFill>
          <a:ln>
            <a:solidFill>
              <a:srgbClr val="D35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a:t>
            </a:r>
            <a:endParaRPr lang="en-US" dirty="0">
              <a:solidFill>
                <a:schemeClr val="tx1"/>
              </a:solidFill>
            </a:endParaRPr>
          </a:p>
        </p:txBody>
      </p:sp>
      <p:cxnSp>
        <p:nvCxnSpPr>
          <p:cNvPr id="24" name="Straight Arrow Connector 23">
            <a:extLst>
              <a:ext uri="{FF2B5EF4-FFF2-40B4-BE49-F238E27FC236}">
                <a16:creationId xmlns:a16="http://schemas.microsoft.com/office/drawing/2014/main" id="{958904FE-B64D-CE08-6156-E99D90D6F2E6}"/>
              </a:ext>
            </a:extLst>
          </p:cNvPr>
          <p:cNvCxnSpPr>
            <a:cxnSpLocks/>
            <a:endCxn id="25" idx="1"/>
          </p:cNvCxnSpPr>
          <p:nvPr/>
        </p:nvCxnSpPr>
        <p:spPr>
          <a:xfrm flipV="1">
            <a:off x="7349082" y="3849649"/>
            <a:ext cx="1541940" cy="11105"/>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pic>
        <p:nvPicPr>
          <p:cNvPr id="25" name="Picture 24" descr="Simple User Icon transparent PNG - StickPNG">
            <a:extLst>
              <a:ext uri="{FF2B5EF4-FFF2-40B4-BE49-F238E27FC236}">
                <a16:creationId xmlns:a16="http://schemas.microsoft.com/office/drawing/2014/main" id="{E4EBADF7-850E-34CF-05D1-B2B4202CC1D7}"/>
              </a:ext>
            </a:extLst>
          </p:cNvPr>
          <p:cNvPicPr>
            <a:picLocks noChangeAspect="1"/>
          </p:cNvPicPr>
          <p:nvPr/>
        </p:nvPicPr>
        <p:blipFill>
          <a:blip r:embed="rId3"/>
          <a:stretch>
            <a:fillRect/>
          </a:stretch>
        </p:blipFill>
        <p:spPr>
          <a:xfrm>
            <a:off x="8891022" y="2758471"/>
            <a:ext cx="2182356" cy="2182356"/>
          </a:xfrm>
          <a:prstGeom prst="rect">
            <a:avLst/>
          </a:prstGeom>
        </p:spPr>
      </p:pic>
    </p:spTree>
    <p:extLst>
      <p:ext uri="{BB962C8B-B14F-4D97-AF65-F5344CB8AC3E}">
        <p14:creationId xmlns:p14="http://schemas.microsoft.com/office/powerpoint/2010/main" val="2013213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E5C1D-E777-A3C0-A762-756882D3B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76DDD-1E0E-10DD-80E8-F12D3078695B}"/>
              </a:ext>
            </a:extLst>
          </p:cNvPr>
          <p:cNvSpPr>
            <a:spLocks noGrp="1"/>
          </p:cNvSpPr>
          <p:nvPr>
            <p:ph type="title"/>
          </p:nvPr>
        </p:nvSpPr>
        <p:spPr/>
        <p:txBody>
          <a:bodyPr/>
          <a:lstStyle/>
          <a:p>
            <a:r>
              <a:rPr lang="en-GB" dirty="0"/>
              <a:t>Relational sign audit</a:t>
            </a:r>
            <a:endParaRPr lang="en-US" dirty="0"/>
          </a:p>
        </p:txBody>
      </p:sp>
      <p:sp>
        <p:nvSpPr>
          <p:cNvPr id="8" name="TextBox 7">
            <a:extLst>
              <a:ext uri="{FF2B5EF4-FFF2-40B4-BE49-F238E27FC236}">
                <a16:creationId xmlns:a16="http://schemas.microsoft.com/office/drawing/2014/main" id="{D87152AB-E7A9-9AAA-0F65-DA0B8281348D}"/>
              </a:ext>
            </a:extLst>
          </p:cNvPr>
          <p:cNvSpPr txBox="1"/>
          <p:nvPr/>
        </p:nvSpPr>
        <p:spPr>
          <a:xfrm>
            <a:off x="1921565" y="1624427"/>
            <a:ext cx="2782956" cy="461665"/>
          </a:xfrm>
          <a:prstGeom prst="rect">
            <a:avLst/>
          </a:prstGeom>
          <a:noFill/>
        </p:spPr>
        <p:txBody>
          <a:bodyPr wrap="square" rtlCol="0">
            <a:spAutoFit/>
          </a:bodyPr>
          <a:lstStyle/>
          <a:p>
            <a:pPr algn="ctr"/>
            <a:r>
              <a:rPr lang="en-US" sz="2400" dirty="0"/>
              <a:t>QUANTUM</a:t>
            </a:r>
          </a:p>
        </p:txBody>
      </p:sp>
      <p:sp>
        <p:nvSpPr>
          <p:cNvPr id="4" name="TextBox 3">
            <a:extLst>
              <a:ext uri="{FF2B5EF4-FFF2-40B4-BE49-F238E27FC236}">
                <a16:creationId xmlns:a16="http://schemas.microsoft.com/office/drawing/2014/main" id="{1D0C8A50-89F1-F4E5-3486-2A8C102A5144}"/>
              </a:ext>
            </a:extLst>
          </p:cNvPr>
          <p:cNvSpPr txBox="1"/>
          <p:nvPr/>
        </p:nvSpPr>
        <p:spPr>
          <a:xfrm>
            <a:off x="6858000" y="180459"/>
            <a:ext cx="6096000" cy="369332"/>
          </a:xfrm>
          <a:prstGeom prst="rect">
            <a:avLst/>
          </a:prstGeom>
          <a:noFill/>
        </p:spPr>
        <p:txBody>
          <a:bodyPr wrap="square">
            <a:spAutoFit/>
          </a:bodyPr>
          <a:lstStyle/>
          <a:p>
            <a:r>
              <a:rPr lang="en-GB" b="1" i="0" dirty="0" err="1">
                <a:effectLst/>
              </a:rPr>
              <a:t>ε</a:t>
            </a:r>
            <a:r>
              <a:rPr lang="en-GB" b="0" i="0" u="none" strike="noStrike" dirty="0">
                <a:effectLst/>
                <a:latin typeface="-webkit-standard"/>
              </a:rPr>
              <a:t> = the additive accuracy on the </a:t>
            </a:r>
            <a:r>
              <a:rPr lang="en-GB" b="0" i="1" dirty="0">
                <a:effectLst/>
              </a:rPr>
              <a:t>conflict fraction</a:t>
            </a:r>
            <a:r>
              <a:rPr lang="en-GB" b="0" i="0" u="none" strike="noStrike" dirty="0">
                <a:effectLst/>
                <a:latin typeface="-webkit-standard"/>
              </a:rPr>
              <a:t> fₖ</a:t>
            </a:r>
            <a:endParaRPr lang="en-US" dirty="0"/>
          </a:p>
        </p:txBody>
      </p:sp>
      <p:sp>
        <p:nvSpPr>
          <p:cNvPr id="5" name="Rectangle 4">
            <a:extLst>
              <a:ext uri="{FF2B5EF4-FFF2-40B4-BE49-F238E27FC236}">
                <a16:creationId xmlns:a16="http://schemas.microsoft.com/office/drawing/2014/main" id="{11FD63C2-2CAD-66DD-CEED-A169353F116F}"/>
              </a:ext>
            </a:extLst>
          </p:cNvPr>
          <p:cNvSpPr/>
          <p:nvPr/>
        </p:nvSpPr>
        <p:spPr>
          <a:xfrm>
            <a:off x="541832" y="2961342"/>
            <a:ext cx="2208212" cy="20235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SERVER</a:t>
            </a:r>
          </a:p>
        </p:txBody>
      </p:sp>
      <p:pic>
        <p:nvPicPr>
          <p:cNvPr id="6" name="Picture 5" descr="Simple User Icon transparent PNG - StickPNG">
            <a:extLst>
              <a:ext uri="{FF2B5EF4-FFF2-40B4-BE49-F238E27FC236}">
                <a16:creationId xmlns:a16="http://schemas.microsoft.com/office/drawing/2014/main" id="{EE651999-18C3-977C-4033-6F9AA7058753}"/>
              </a:ext>
            </a:extLst>
          </p:cNvPr>
          <p:cNvPicPr>
            <a:picLocks noChangeAspect="1"/>
          </p:cNvPicPr>
          <p:nvPr/>
        </p:nvPicPr>
        <p:blipFill>
          <a:blip r:embed="rId3"/>
          <a:stretch>
            <a:fillRect/>
          </a:stretch>
        </p:blipFill>
        <p:spPr>
          <a:xfrm>
            <a:off x="3313043" y="2869528"/>
            <a:ext cx="2182356" cy="2182356"/>
          </a:xfrm>
          <a:prstGeom prst="rect">
            <a:avLst/>
          </a:prstGeom>
        </p:spPr>
      </p:pic>
      <p:sp>
        <p:nvSpPr>
          <p:cNvPr id="10" name="Slide Number Placeholder 9">
            <a:extLst>
              <a:ext uri="{FF2B5EF4-FFF2-40B4-BE49-F238E27FC236}">
                <a16:creationId xmlns:a16="http://schemas.microsoft.com/office/drawing/2014/main" id="{90EC4C4C-7FF8-6587-1753-6876103B9A6F}"/>
              </a:ext>
            </a:extLst>
          </p:cNvPr>
          <p:cNvSpPr>
            <a:spLocks noGrp="1"/>
          </p:cNvSpPr>
          <p:nvPr>
            <p:ph type="sldNum" sz="quarter" idx="12"/>
          </p:nvPr>
        </p:nvSpPr>
        <p:spPr/>
        <p:txBody>
          <a:bodyPr/>
          <a:lstStyle/>
          <a:p>
            <a:fld id="{4544B810-10F2-2E49-94DF-FA7BE986B6B9}" type="slidenum">
              <a:rPr lang="en-US" smtClean="0"/>
              <a:t>55</a:t>
            </a:fld>
            <a:endParaRPr lang="en-US"/>
          </a:p>
        </p:txBody>
      </p:sp>
      <p:sp>
        <p:nvSpPr>
          <p:cNvPr id="16" name="Rectangle 15">
            <a:extLst>
              <a:ext uri="{FF2B5EF4-FFF2-40B4-BE49-F238E27FC236}">
                <a16:creationId xmlns:a16="http://schemas.microsoft.com/office/drawing/2014/main" id="{BFF3921D-509E-211A-B8BD-EE01D4B65F0C}"/>
              </a:ext>
            </a:extLst>
          </p:cNvPr>
          <p:cNvSpPr/>
          <p:nvPr/>
        </p:nvSpPr>
        <p:spPr>
          <a:xfrm>
            <a:off x="6795875" y="1875354"/>
            <a:ext cx="691606" cy="457200"/>
          </a:xfrm>
          <a:prstGeom prst="rect">
            <a:avLst/>
          </a:prstGeom>
          <a:solidFill>
            <a:srgbClr val="B1470E">
              <a:alpha val="53725"/>
            </a:srgbClr>
          </a:solidFill>
          <a:ln>
            <a:solidFill>
              <a:srgbClr val="D35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a:t>
            </a:r>
            <a:endParaRPr lang="en-US" dirty="0">
              <a:solidFill>
                <a:schemeClr val="tx1"/>
              </a:solidFill>
            </a:endParaRPr>
          </a:p>
        </p:txBody>
      </p:sp>
      <p:sp>
        <p:nvSpPr>
          <p:cNvPr id="7" name="TextBox 6">
            <a:extLst>
              <a:ext uri="{FF2B5EF4-FFF2-40B4-BE49-F238E27FC236}">
                <a16:creationId xmlns:a16="http://schemas.microsoft.com/office/drawing/2014/main" id="{93C2EFC7-DAC9-FA05-D31B-C59A14883CDE}"/>
              </a:ext>
            </a:extLst>
          </p:cNvPr>
          <p:cNvSpPr txBox="1"/>
          <p:nvPr/>
        </p:nvSpPr>
        <p:spPr>
          <a:xfrm>
            <a:off x="5664215" y="3313713"/>
            <a:ext cx="3300914" cy="369332"/>
          </a:xfrm>
          <a:prstGeom prst="rect">
            <a:avLst/>
          </a:prstGeom>
          <a:noFill/>
        </p:spPr>
        <p:txBody>
          <a:bodyPr wrap="square">
            <a:spAutoFit/>
          </a:bodyPr>
          <a:lstStyle/>
          <a:p>
            <a:pPr algn="ctr"/>
            <a:r>
              <a:rPr lang="en-GB" b="0" i="0" u="none" strike="noStrike" dirty="0">
                <a:effectLst/>
                <a:latin typeface="-webkit-standard"/>
              </a:rPr>
              <a:t>pair-basis (parity) measurement</a:t>
            </a:r>
          </a:p>
        </p:txBody>
      </p:sp>
      <p:sp>
        <p:nvSpPr>
          <p:cNvPr id="11" name="TextBox 10">
            <a:extLst>
              <a:ext uri="{FF2B5EF4-FFF2-40B4-BE49-F238E27FC236}">
                <a16:creationId xmlns:a16="http://schemas.microsoft.com/office/drawing/2014/main" id="{4A321830-6735-31C0-4AAC-0CF55AF147C1}"/>
              </a:ext>
            </a:extLst>
          </p:cNvPr>
          <p:cNvSpPr txBox="1"/>
          <p:nvPr/>
        </p:nvSpPr>
        <p:spPr>
          <a:xfrm>
            <a:off x="5664215" y="4843890"/>
            <a:ext cx="3079173" cy="923330"/>
          </a:xfrm>
          <a:prstGeom prst="rect">
            <a:avLst/>
          </a:prstGeom>
          <a:noFill/>
        </p:spPr>
        <p:txBody>
          <a:bodyPr wrap="square">
            <a:spAutoFit/>
          </a:bodyPr>
          <a:lstStyle/>
          <a:p>
            <a:pPr algn="ctr"/>
            <a:r>
              <a:rPr lang="en-GB" b="0" i="0" u="none" strike="noStrike" dirty="0">
                <a:effectLst/>
                <a:latin typeface="-webkit-standard"/>
              </a:rPr>
              <a:t>measurement lands on a random pair and returns + or − (agree or disagree)</a:t>
            </a:r>
            <a:endParaRPr lang="en-US" dirty="0"/>
          </a:p>
        </p:txBody>
      </p:sp>
      <p:cxnSp>
        <p:nvCxnSpPr>
          <p:cNvPr id="12" name="Straight Arrow Connector 11">
            <a:extLst>
              <a:ext uri="{FF2B5EF4-FFF2-40B4-BE49-F238E27FC236}">
                <a16:creationId xmlns:a16="http://schemas.microsoft.com/office/drawing/2014/main" id="{9AAAAE56-2ABB-E5D6-4225-9F4C40782263}"/>
              </a:ext>
            </a:extLst>
          </p:cNvPr>
          <p:cNvCxnSpPr>
            <a:cxnSpLocks/>
          </p:cNvCxnSpPr>
          <p:nvPr/>
        </p:nvCxnSpPr>
        <p:spPr>
          <a:xfrm>
            <a:off x="7118942" y="2576945"/>
            <a:ext cx="0" cy="59801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87DD0B2D-2116-5817-807C-12C301216742}"/>
              </a:ext>
            </a:extLst>
          </p:cNvPr>
          <p:cNvCxnSpPr>
            <a:cxnSpLocks/>
          </p:cNvCxnSpPr>
          <p:nvPr/>
        </p:nvCxnSpPr>
        <p:spPr>
          <a:xfrm>
            <a:off x="7118942" y="4031672"/>
            <a:ext cx="0" cy="81221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pic>
        <p:nvPicPr>
          <p:cNvPr id="20" name="Graphic 19">
            <a:extLst>
              <a:ext uri="{FF2B5EF4-FFF2-40B4-BE49-F238E27FC236}">
                <a16:creationId xmlns:a16="http://schemas.microsoft.com/office/drawing/2014/main" id="{A580A386-A839-D3CF-B17E-D404192BA6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63911" y="2787676"/>
            <a:ext cx="3897362" cy="2346059"/>
          </a:xfrm>
          <a:prstGeom prst="rect">
            <a:avLst/>
          </a:prstGeom>
        </p:spPr>
      </p:pic>
    </p:spTree>
    <p:extLst>
      <p:ext uri="{BB962C8B-B14F-4D97-AF65-F5344CB8AC3E}">
        <p14:creationId xmlns:p14="http://schemas.microsoft.com/office/powerpoint/2010/main" val="41193288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A90E8-440A-D8CD-16B9-1B6154AAE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51E4D-6EBA-AD04-46E2-781E03BE61F9}"/>
              </a:ext>
            </a:extLst>
          </p:cNvPr>
          <p:cNvSpPr>
            <a:spLocks noGrp="1"/>
          </p:cNvSpPr>
          <p:nvPr>
            <p:ph type="title"/>
          </p:nvPr>
        </p:nvSpPr>
        <p:spPr/>
        <p:txBody>
          <a:bodyPr/>
          <a:lstStyle/>
          <a:p>
            <a:r>
              <a:rPr lang="en-GB" dirty="0"/>
              <a:t>Relational sign audit</a:t>
            </a:r>
            <a:endParaRPr lang="en-US" dirty="0"/>
          </a:p>
        </p:txBody>
      </p:sp>
      <p:sp>
        <p:nvSpPr>
          <p:cNvPr id="8" name="TextBox 7">
            <a:extLst>
              <a:ext uri="{FF2B5EF4-FFF2-40B4-BE49-F238E27FC236}">
                <a16:creationId xmlns:a16="http://schemas.microsoft.com/office/drawing/2014/main" id="{554D880B-EADF-F2E9-2AF2-D550C5D3333A}"/>
              </a:ext>
            </a:extLst>
          </p:cNvPr>
          <p:cNvSpPr txBox="1"/>
          <p:nvPr/>
        </p:nvSpPr>
        <p:spPr>
          <a:xfrm>
            <a:off x="1921565" y="1624427"/>
            <a:ext cx="2782956" cy="461665"/>
          </a:xfrm>
          <a:prstGeom prst="rect">
            <a:avLst/>
          </a:prstGeom>
          <a:noFill/>
        </p:spPr>
        <p:txBody>
          <a:bodyPr wrap="square" rtlCol="0">
            <a:spAutoFit/>
          </a:bodyPr>
          <a:lstStyle/>
          <a:p>
            <a:pPr algn="ctr"/>
            <a:r>
              <a:rPr lang="en-US" sz="2400" dirty="0"/>
              <a:t>QUANTUM</a:t>
            </a:r>
          </a:p>
        </p:txBody>
      </p:sp>
      <p:sp>
        <p:nvSpPr>
          <p:cNvPr id="4" name="TextBox 3">
            <a:extLst>
              <a:ext uri="{FF2B5EF4-FFF2-40B4-BE49-F238E27FC236}">
                <a16:creationId xmlns:a16="http://schemas.microsoft.com/office/drawing/2014/main" id="{3B0A692A-9F5E-8368-ACFF-B89C6E17D2F8}"/>
              </a:ext>
            </a:extLst>
          </p:cNvPr>
          <p:cNvSpPr txBox="1"/>
          <p:nvPr/>
        </p:nvSpPr>
        <p:spPr>
          <a:xfrm>
            <a:off x="6858000" y="180459"/>
            <a:ext cx="6096000" cy="369332"/>
          </a:xfrm>
          <a:prstGeom prst="rect">
            <a:avLst/>
          </a:prstGeom>
          <a:noFill/>
        </p:spPr>
        <p:txBody>
          <a:bodyPr wrap="square">
            <a:spAutoFit/>
          </a:bodyPr>
          <a:lstStyle/>
          <a:p>
            <a:r>
              <a:rPr lang="en-GB" b="1" i="0" dirty="0" err="1">
                <a:effectLst/>
              </a:rPr>
              <a:t>ε</a:t>
            </a:r>
            <a:r>
              <a:rPr lang="en-GB" b="0" i="0" u="none" strike="noStrike" dirty="0">
                <a:effectLst/>
                <a:latin typeface="-webkit-standard"/>
              </a:rPr>
              <a:t> = the additive accuracy on the </a:t>
            </a:r>
            <a:r>
              <a:rPr lang="en-GB" b="0" i="1" dirty="0">
                <a:effectLst/>
              </a:rPr>
              <a:t>conflict fraction</a:t>
            </a:r>
            <a:r>
              <a:rPr lang="en-GB" b="0" i="0" u="none" strike="noStrike" dirty="0">
                <a:effectLst/>
                <a:latin typeface="-webkit-standard"/>
              </a:rPr>
              <a:t> fₖ</a:t>
            </a:r>
            <a:endParaRPr lang="en-US" dirty="0"/>
          </a:p>
        </p:txBody>
      </p:sp>
      <p:sp>
        <p:nvSpPr>
          <p:cNvPr id="13" name="TextBox 12">
            <a:extLst>
              <a:ext uri="{FF2B5EF4-FFF2-40B4-BE49-F238E27FC236}">
                <a16:creationId xmlns:a16="http://schemas.microsoft.com/office/drawing/2014/main" id="{E514CDDF-25C7-C93F-6D46-7DA63760A182}"/>
              </a:ext>
            </a:extLst>
          </p:cNvPr>
          <p:cNvSpPr txBox="1"/>
          <p:nvPr/>
        </p:nvSpPr>
        <p:spPr>
          <a:xfrm>
            <a:off x="2963333" y="2360099"/>
            <a:ext cx="6718607" cy="369332"/>
          </a:xfrm>
          <a:prstGeom prst="rect">
            <a:avLst/>
          </a:prstGeom>
          <a:noFill/>
        </p:spPr>
        <p:txBody>
          <a:bodyPr wrap="square">
            <a:spAutoFit/>
          </a:bodyPr>
          <a:lstStyle/>
          <a:p>
            <a:r>
              <a:rPr lang="en-US" dirty="0"/>
              <a:t>Repeat </a:t>
            </a:r>
            <a:r>
              <a:rPr lang="en-GB" dirty="0"/>
              <a:t>averaging </a:t>
            </a:r>
            <a:r>
              <a:rPr lang="en-GB" dirty="0">
                <a:solidFill>
                  <a:srgbClr val="FF0000"/>
                </a:solidFill>
              </a:rPr>
              <a:t>O(ε⁻²)</a:t>
            </a:r>
            <a:r>
              <a:rPr lang="en-GB" dirty="0"/>
              <a:t> copies gives the conflict fraction to ±</a:t>
            </a:r>
            <a:r>
              <a:rPr lang="en-GB" dirty="0" err="1"/>
              <a:t>ε</a:t>
            </a:r>
            <a:endParaRPr lang="en-US" dirty="0"/>
          </a:p>
        </p:txBody>
      </p:sp>
      <p:sp>
        <p:nvSpPr>
          <p:cNvPr id="3" name="Slide Number Placeholder 2">
            <a:extLst>
              <a:ext uri="{FF2B5EF4-FFF2-40B4-BE49-F238E27FC236}">
                <a16:creationId xmlns:a16="http://schemas.microsoft.com/office/drawing/2014/main" id="{BFCAD44B-3236-D0F7-92DB-2D2F4C4A4A65}"/>
              </a:ext>
            </a:extLst>
          </p:cNvPr>
          <p:cNvSpPr>
            <a:spLocks noGrp="1"/>
          </p:cNvSpPr>
          <p:nvPr>
            <p:ph type="sldNum" sz="quarter" idx="12"/>
          </p:nvPr>
        </p:nvSpPr>
        <p:spPr/>
        <p:txBody>
          <a:bodyPr/>
          <a:lstStyle/>
          <a:p>
            <a:fld id="{4544B810-10F2-2E49-94DF-FA7BE986B6B9}" type="slidenum">
              <a:rPr lang="en-US" smtClean="0"/>
              <a:t>56</a:t>
            </a:fld>
            <a:endParaRPr lang="en-US"/>
          </a:p>
        </p:txBody>
      </p:sp>
      <p:pic>
        <p:nvPicPr>
          <p:cNvPr id="16" name="Picture 15">
            <a:extLst>
              <a:ext uri="{FF2B5EF4-FFF2-40B4-BE49-F238E27FC236}">
                <a16:creationId xmlns:a16="http://schemas.microsoft.com/office/drawing/2014/main" id="{9CF54441-D5B6-12EE-00CC-87A2E1845F90}"/>
              </a:ext>
            </a:extLst>
          </p:cNvPr>
          <p:cNvPicPr>
            <a:picLocks noChangeAspect="1"/>
          </p:cNvPicPr>
          <p:nvPr/>
        </p:nvPicPr>
        <p:blipFill>
          <a:blip r:embed="rId3"/>
          <a:stretch>
            <a:fillRect/>
          </a:stretch>
        </p:blipFill>
        <p:spPr>
          <a:xfrm>
            <a:off x="-861391" y="3462677"/>
            <a:ext cx="2782956" cy="1521929"/>
          </a:xfrm>
          <a:prstGeom prst="rect">
            <a:avLst/>
          </a:prstGeom>
        </p:spPr>
      </p:pic>
      <p:pic>
        <p:nvPicPr>
          <p:cNvPr id="17" name="Picture 16">
            <a:extLst>
              <a:ext uri="{FF2B5EF4-FFF2-40B4-BE49-F238E27FC236}">
                <a16:creationId xmlns:a16="http://schemas.microsoft.com/office/drawing/2014/main" id="{98CE678C-5FF6-2413-DBCA-8EB59AAA1F1F}"/>
              </a:ext>
            </a:extLst>
          </p:cNvPr>
          <p:cNvPicPr>
            <a:picLocks noChangeAspect="1"/>
          </p:cNvPicPr>
          <p:nvPr/>
        </p:nvPicPr>
        <p:blipFill>
          <a:blip r:embed="rId3"/>
          <a:stretch>
            <a:fillRect/>
          </a:stretch>
        </p:blipFill>
        <p:spPr>
          <a:xfrm>
            <a:off x="1921565" y="3462677"/>
            <a:ext cx="2782956" cy="1521929"/>
          </a:xfrm>
          <a:prstGeom prst="rect">
            <a:avLst/>
          </a:prstGeom>
        </p:spPr>
      </p:pic>
      <p:pic>
        <p:nvPicPr>
          <p:cNvPr id="18" name="Picture 17">
            <a:extLst>
              <a:ext uri="{FF2B5EF4-FFF2-40B4-BE49-F238E27FC236}">
                <a16:creationId xmlns:a16="http://schemas.microsoft.com/office/drawing/2014/main" id="{1574025B-949A-AFB1-DA99-230103F6FF83}"/>
              </a:ext>
            </a:extLst>
          </p:cNvPr>
          <p:cNvPicPr>
            <a:picLocks noChangeAspect="1"/>
          </p:cNvPicPr>
          <p:nvPr/>
        </p:nvPicPr>
        <p:blipFill>
          <a:blip r:embed="rId3"/>
          <a:stretch>
            <a:fillRect/>
          </a:stretch>
        </p:blipFill>
        <p:spPr>
          <a:xfrm>
            <a:off x="4704521" y="3462676"/>
            <a:ext cx="2782956" cy="1521929"/>
          </a:xfrm>
          <a:prstGeom prst="rect">
            <a:avLst/>
          </a:prstGeom>
        </p:spPr>
      </p:pic>
      <p:pic>
        <p:nvPicPr>
          <p:cNvPr id="19" name="Picture 18">
            <a:extLst>
              <a:ext uri="{FF2B5EF4-FFF2-40B4-BE49-F238E27FC236}">
                <a16:creationId xmlns:a16="http://schemas.microsoft.com/office/drawing/2014/main" id="{B2684718-D2BB-A2BF-205A-2FAD381DE394}"/>
              </a:ext>
            </a:extLst>
          </p:cNvPr>
          <p:cNvPicPr>
            <a:picLocks noChangeAspect="1"/>
          </p:cNvPicPr>
          <p:nvPr/>
        </p:nvPicPr>
        <p:blipFill>
          <a:blip r:embed="rId3"/>
          <a:stretch>
            <a:fillRect/>
          </a:stretch>
        </p:blipFill>
        <p:spPr>
          <a:xfrm>
            <a:off x="7487477" y="3462675"/>
            <a:ext cx="2782956" cy="1521929"/>
          </a:xfrm>
          <a:prstGeom prst="rect">
            <a:avLst/>
          </a:prstGeom>
        </p:spPr>
      </p:pic>
      <p:pic>
        <p:nvPicPr>
          <p:cNvPr id="20" name="Picture 19">
            <a:extLst>
              <a:ext uri="{FF2B5EF4-FFF2-40B4-BE49-F238E27FC236}">
                <a16:creationId xmlns:a16="http://schemas.microsoft.com/office/drawing/2014/main" id="{65C854C1-7958-55B7-DE0C-DBEE93E14087}"/>
              </a:ext>
            </a:extLst>
          </p:cNvPr>
          <p:cNvPicPr>
            <a:picLocks noChangeAspect="1"/>
          </p:cNvPicPr>
          <p:nvPr/>
        </p:nvPicPr>
        <p:blipFill>
          <a:blip r:embed="rId3"/>
          <a:stretch>
            <a:fillRect/>
          </a:stretch>
        </p:blipFill>
        <p:spPr>
          <a:xfrm>
            <a:off x="10270433" y="3462674"/>
            <a:ext cx="2782956" cy="1521929"/>
          </a:xfrm>
          <a:prstGeom prst="rect">
            <a:avLst/>
          </a:prstGeom>
        </p:spPr>
      </p:pic>
      <p:sp>
        <p:nvSpPr>
          <p:cNvPr id="21" name="TextBox 20">
            <a:extLst>
              <a:ext uri="{FF2B5EF4-FFF2-40B4-BE49-F238E27FC236}">
                <a16:creationId xmlns:a16="http://schemas.microsoft.com/office/drawing/2014/main" id="{B9946598-EE91-8C9D-0D39-FC76669CF552}"/>
              </a:ext>
            </a:extLst>
          </p:cNvPr>
          <p:cNvSpPr txBox="1"/>
          <p:nvPr/>
        </p:nvSpPr>
        <p:spPr>
          <a:xfrm>
            <a:off x="1413932" y="5759943"/>
            <a:ext cx="9364133" cy="646331"/>
          </a:xfrm>
          <a:prstGeom prst="rect">
            <a:avLst/>
          </a:prstGeom>
          <a:solidFill>
            <a:schemeClr val="accent1">
              <a:lumMod val="20000"/>
              <a:lumOff val="80000"/>
            </a:schemeClr>
          </a:solidFill>
          <a:ln w="38100">
            <a:solidFill>
              <a:schemeClr val="accent1"/>
            </a:solidFill>
            <a:prstDash val="dash"/>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Quantumly the server sends one state holding all the signs, and the client's measurement picks out the pair it cares about.</a:t>
            </a:r>
            <a:endParaRPr lang="en-GB" sz="2000" dirty="0"/>
          </a:p>
        </p:txBody>
      </p:sp>
    </p:spTree>
    <p:extLst>
      <p:ext uri="{BB962C8B-B14F-4D97-AF65-F5344CB8AC3E}">
        <p14:creationId xmlns:p14="http://schemas.microsoft.com/office/powerpoint/2010/main" val="4084102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2DE0B-DF0B-5E90-191A-000B7B2CC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CF9B9-599B-65D6-DF2C-E3F9384E3C08}"/>
              </a:ext>
            </a:extLst>
          </p:cNvPr>
          <p:cNvSpPr>
            <a:spLocks noGrp="1"/>
          </p:cNvSpPr>
          <p:nvPr>
            <p:ph type="title"/>
          </p:nvPr>
        </p:nvSpPr>
        <p:spPr/>
        <p:txBody>
          <a:bodyPr/>
          <a:lstStyle/>
          <a:p>
            <a:r>
              <a:rPr lang="en-GB" dirty="0"/>
              <a:t>Relational sign audit</a:t>
            </a:r>
            <a:endParaRPr lang="en-US" dirty="0"/>
          </a:p>
        </p:txBody>
      </p:sp>
      <p:cxnSp>
        <p:nvCxnSpPr>
          <p:cNvPr id="7" name="Straight Connector 6">
            <a:extLst>
              <a:ext uri="{FF2B5EF4-FFF2-40B4-BE49-F238E27FC236}">
                <a16:creationId xmlns:a16="http://schemas.microsoft.com/office/drawing/2014/main" id="{0D8FAFFE-426F-3676-DE84-34F3CD89C2BA}"/>
              </a:ext>
            </a:extLst>
          </p:cNvPr>
          <p:cNvCxnSpPr>
            <a:cxnSpLocks/>
          </p:cNvCxnSpPr>
          <p:nvPr/>
        </p:nvCxnSpPr>
        <p:spPr>
          <a:xfrm>
            <a:off x="5910470" y="1690688"/>
            <a:ext cx="0" cy="4776373"/>
          </a:xfrm>
          <a:prstGeom prst="line">
            <a:avLst/>
          </a:prstGeom>
          <a:ln w="57150"/>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D6A2D5B5-6248-A25A-542D-98B3FF01CF3D}"/>
              </a:ext>
            </a:extLst>
          </p:cNvPr>
          <p:cNvSpPr txBox="1"/>
          <p:nvPr/>
        </p:nvSpPr>
        <p:spPr>
          <a:xfrm>
            <a:off x="1921565" y="1624427"/>
            <a:ext cx="2782956" cy="461665"/>
          </a:xfrm>
          <a:prstGeom prst="rect">
            <a:avLst/>
          </a:prstGeom>
          <a:noFill/>
        </p:spPr>
        <p:txBody>
          <a:bodyPr wrap="square" rtlCol="0">
            <a:spAutoFit/>
          </a:bodyPr>
          <a:lstStyle/>
          <a:p>
            <a:pPr algn="ctr"/>
            <a:r>
              <a:rPr lang="en-US" sz="2400" dirty="0"/>
              <a:t>CLASSICAL</a:t>
            </a:r>
          </a:p>
        </p:txBody>
      </p:sp>
      <p:sp>
        <p:nvSpPr>
          <p:cNvPr id="9" name="TextBox 8">
            <a:extLst>
              <a:ext uri="{FF2B5EF4-FFF2-40B4-BE49-F238E27FC236}">
                <a16:creationId xmlns:a16="http://schemas.microsoft.com/office/drawing/2014/main" id="{C6069D32-B3B2-D9FC-5E6D-6A121B50FE13}"/>
              </a:ext>
            </a:extLst>
          </p:cNvPr>
          <p:cNvSpPr txBox="1"/>
          <p:nvPr/>
        </p:nvSpPr>
        <p:spPr>
          <a:xfrm>
            <a:off x="6950765" y="1624426"/>
            <a:ext cx="2782956" cy="461665"/>
          </a:xfrm>
          <a:prstGeom prst="rect">
            <a:avLst/>
          </a:prstGeom>
          <a:noFill/>
        </p:spPr>
        <p:txBody>
          <a:bodyPr wrap="square" rtlCol="0">
            <a:spAutoFit/>
          </a:bodyPr>
          <a:lstStyle/>
          <a:p>
            <a:pPr algn="ctr"/>
            <a:r>
              <a:rPr lang="en-US" sz="2400" dirty="0"/>
              <a:t>QUANTUM</a:t>
            </a:r>
          </a:p>
        </p:txBody>
      </p:sp>
      <p:sp>
        <p:nvSpPr>
          <p:cNvPr id="17" name="TextBox 16">
            <a:extLst>
              <a:ext uri="{FF2B5EF4-FFF2-40B4-BE49-F238E27FC236}">
                <a16:creationId xmlns:a16="http://schemas.microsoft.com/office/drawing/2014/main" id="{E137A803-79D9-57BF-360B-8ACDE1FD2D48}"/>
              </a:ext>
            </a:extLst>
          </p:cNvPr>
          <p:cNvSpPr txBox="1"/>
          <p:nvPr/>
        </p:nvSpPr>
        <p:spPr>
          <a:xfrm>
            <a:off x="839789" y="3524015"/>
            <a:ext cx="4663542" cy="1077218"/>
          </a:xfrm>
          <a:prstGeom prst="rect">
            <a:avLst/>
          </a:prstGeom>
          <a:noFill/>
        </p:spPr>
        <p:txBody>
          <a:bodyPr wrap="square">
            <a:spAutoFit/>
          </a:bodyPr>
          <a:lstStyle/>
          <a:p>
            <a:pPr algn="ctr"/>
            <a:r>
              <a:rPr lang="en-GB" sz="3200" b="1" dirty="0" err="1">
                <a:solidFill>
                  <a:srgbClr val="FF0000"/>
                </a:solidFill>
                <a:latin typeface="-webkit-standard"/>
              </a:rPr>
              <a:t>Ω</a:t>
            </a:r>
            <a:r>
              <a:rPr lang="en-GB" sz="3200" b="1" dirty="0">
                <a:solidFill>
                  <a:srgbClr val="FF0000"/>
                </a:solidFill>
                <a:latin typeface="-webkit-standard"/>
              </a:rPr>
              <a:t>(√P) bits</a:t>
            </a:r>
          </a:p>
          <a:p>
            <a:pPr algn="ctr"/>
            <a:r>
              <a:rPr lang="en-GB" sz="3200" b="1" dirty="0">
                <a:solidFill>
                  <a:srgbClr val="FF0000"/>
                </a:solidFill>
                <a:latin typeface="-webkit-standard"/>
              </a:rPr>
              <a:t>One way</a:t>
            </a:r>
            <a:endParaRPr lang="en-US" sz="3200" dirty="0">
              <a:solidFill>
                <a:srgbClr val="FF0000"/>
              </a:solidFill>
            </a:endParaRPr>
          </a:p>
        </p:txBody>
      </p:sp>
      <p:sp>
        <p:nvSpPr>
          <p:cNvPr id="19" name="TextBox 18">
            <a:extLst>
              <a:ext uri="{FF2B5EF4-FFF2-40B4-BE49-F238E27FC236}">
                <a16:creationId xmlns:a16="http://schemas.microsoft.com/office/drawing/2014/main" id="{663EAFB3-50FE-9581-BA8B-0565C82DE4C8}"/>
              </a:ext>
            </a:extLst>
          </p:cNvPr>
          <p:cNvSpPr txBox="1"/>
          <p:nvPr/>
        </p:nvSpPr>
        <p:spPr>
          <a:xfrm>
            <a:off x="7387719" y="3420533"/>
            <a:ext cx="3433135" cy="1077218"/>
          </a:xfrm>
          <a:prstGeom prst="rect">
            <a:avLst/>
          </a:prstGeom>
          <a:noFill/>
        </p:spPr>
        <p:txBody>
          <a:bodyPr wrap="square">
            <a:spAutoFit/>
          </a:bodyPr>
          <a:lstStyle>
            <a:defPPr>
              <a:defRPr lang="en-US"/>
            </a:defPPr>
            <a:lvl1pPr algn="ctr">
              <a:defRPr sz="3200" b="1">
                <a:solidFill>
                  <a:srgbClr val="FF0000"/>
                </a:solidFill>
                <a:latin typeface="-webkit-standard"/>
              </a:defRPr>
            </a:lvl1pPr>
          </a:lstStyle>
          <a:p>
            <a:r>
              <a:rPr lang="en-GB" dirty="0"/>
              <a:t>O(ε⁻²·log P) qubits</a:t>
            </a:r>
          </a:p>
          <a:p>
            <a:r>
              <a:rPr lang="en-GB" dirty="0"/>
              <a:t>One way</a:t>
            </a:r>
            <a:endParaRPr lang="en-US" dirty="0"/>
          </a:p>
        </p:txBody>
      </p:sp>
      <p:pic>
        <p:nvPicPr>
          <p:cNvPr id="14" name="Picture 13" descr="All the “Charlie Brown Christmas” Dancers — ID'ed | Thinkpiece Magazine">
            <a:extLst>
              <a:ext uri="{FF2B5EF4-FFF2-40B4-BE49-F238E27FC236}">
                <a16:creationId xmlns:a16="http://schemas.microsoft.com/office/drawing/2014/main" id="{DCA13151-3CE1-E3FC-41DB-8862916F9F13}"/>
              </a:ext>
            </a:extLst>
          </p:cNvPr>
          <p:cNvPicPr>
            <a:picLocks noChangeAspect="1"/>
          </p:cNvPicPr>
          <p:nvPr/>
        </p:nvPicPr>
        <p:blipFill>
          <a:blip r:embed="rId2"/>
          <a:stretch>
            <a:fillRect/>
          </a:stretch>
        </p:blipFill>
        <p:spPr>
          <a:xfrm>
            <a:off x="7739883" y="4801014"/>
            <a:ext cx="2728809" cy="1691861"/>
          </a:xfrm>
          <a:prstGeom prst="rect">
            <a:avLst/>
          </a:prstGeom>
        </p:spPr>
      </p:pic>
      <p:sp>
        <p:nvSpPr>
          <p:cNvPr id="21" name="TextBox 20">
            <a:extLst>
              <a:ext uri="{FF2B5EF4-FFF2-40B4-BE49-F238E27FC236}">
                <a16:creationId xmlns:a16="http://schemas.microsoft.com/office/drawing/2014/main" id="{0EB8AE8C-EF17-34BA-5B83-0CCDF3CB793D}"/>
              </a:ext>
            </a:extLst>
          </p:cNvPr>
          <p:cNvSpPr txBox="1"/>
          <p:nvPr/>
        </p:nvSpPr>
        <p:spPr>
          <a:xfrm>
            <a:off x="6858000" y="180459"/>
            <a:ext cx="6096000" cy="646331"/>
          </a:xfrm>
          <a:prstGeom prst="rect">
            <a:avLst/>
          </a:prstGeom>
          <a:noFill/>
        </p:spPr>
        <p:txBody>
          <a:bodyPr wrap="square">
            <a:spAutoFit/>
          </a:bodyPr>
          <a:lstStyle/>
          <a:p>
            <a:r>
              <a:rPr lang="en-GB" b="1" i="0" dirty="0" err="1">
                <a:effectLst/>
              </a:rPr>
              <a:t>ε</a:t>
            </a:r>
            <a:r>
              <a:rPr lang="en-GB" b="0" i="0" u="none" strike="noStrike" dirty="0">
                <a:effectLst/>
                <a:latin typeface="-webkit-standard"/>
              </a:rPr>
              <a:t> = the additive accuracy on the </a:t>
            </a:r>
            <a:r>
              <a:rPr lang="en-GB" b="0" i="1" dirty="0">
                <a:effectLst/>
              </a:rPr>
              <a:t>conflict fraction</a:t>
            </a:r>
            <a:r>
              <a:rPr lang="en-GB" b="0" i="0" u="none" strike="noStrike" dirty="0">
                <a:effectLst/>
                <a:latin typeface="-webkit-standard"/>
              </a:rPr>
              <a:t> fₖ</a:t>
            </a:r>
          </a:p>
          <a:p>
            <a:r>
              <a:rPr lang="en-GB" dirty="0"/>
              <a:t>Classical holds regardless of </a:t>
            </a:r>
            <a:r>
              <a:rPr lang="en-GB" b="1" dirty="0" err="1"/>
              <a:t>ε</a:t>
            </a:r>
            <a:endParaRPr lang="en-US" dirty="0"/>
          </a:p>
        </p:txBody>
      </p:sp>
      <p:sp>
        <p:nvSpPr>
          <p:cNvPr id="22" name="Slide Number Placeholder 21">
            <a:extLst>
              <a:ext uri="{FF2B5EF4-FFF2-40B4-BE49-F238E27FC236}">
                <a16:creationId xmlns:a16="http://schemas.microsoft.com/office/drawing/2014/main" id="{28CC6BE3-8DA4-5FB0-8D54-DBC9209A5522}"/>
              </a:ext>
            </a:extLst>
          </p:cNvPr>
          <p:cNvSpPr>
            <a:spLocks noGrp="1"/>
          </p:cNvSpPr>
          <p:nvPr>
            <p:ph type="sldNum" sz="quarter" idx="12"/>
          </p:nvPr>
        </p:nvSpPr>
        <p:spPr/>
        <p:txBody>
          <a:bodyPr/>
          <a:lstStyle/>
          <a:p>
            <a:fld id="{4544B810-10F2-2E49-94DF-FA7BE986B6B9}" type="slidenum">
              <a:rPr lang="en-US" smtClean="0"/>
              <a:t>57</a:t>
            </a:fld>
            <a:endParaRPr lang="en-US"/>
          </a:p>
        </p:txBody>
      </p:sp>
    </p:spTree>
    <p:extLst>
      <p:ext uri="{BB962C8B-B14F-4D97-AF65-F5344CB8AC3E}">
        <p14:creationId xmlns:p14="http://schemas.microsoft.com/office/powerpoint/2010/main" val="28283026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3B9DB-01F2-FE31-B52A-CBD81DA87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34233-C15B-8159-528D-15E402169F10}"/>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106408D1-7465-EB8E-A31B-59C55854F41E}"/>
              </a:ext>
            </a:extLst>
          </p:cNvPr>
          <p:cNvSpPr>
            <a:spLocks noGrp="1"/>
          </p:cNvSpPr>
          <p:nvPr>
            <p:ph idx="1"/>
          </p:nvPr>
        </p:nvSpPr>
        <p:spPr>
          <a:xfrm>
            <a:off x="838200" y="1690688"/>
            <a:ext cx="10515600" cy="4351338"/>
          </a:xfrm>
        </p:spPr>
        <p:txBody>
          <a:bodyPr>
            <a:normAutofit/>
          </a:bodyPr>
          <a:lstStyle/>
          <a:p>
            <a:r>
              <a:rPr lang="en-US" dirty="0"/>
              <a:t>We got some modest reductions and some nice free security on one of the main communication primitives used today for large scale ML training.</a:t>
            </a:r>
          </a:p>
          <a:p>
            <a:r>
              <a:rPr lang="en-US" dirty="0"/>
              <a:t>We found a set of related problems which offer quantum advantage and point to complexity landscapes where the certification and evaluation of </a:t>
            </a:r>
            <a:r>
              <a:rPr lang="en-GB" dirty="0"/>
              <a:t>relational properties could point to quantum advantages.</a:t>
            </a:r>
          </a:p>
          <a:p>
            <a:endParaRPr lang="en-US" dirty="0"/>
          </a:p>
        </p:txBody>
      </p:sp>
      <p:sp>
        <p:nvSpPr>
          <p:cNvPr id="4" name="TextBox 3">
            <a:extLst>
              <a:ext uri="{FF2B5EF4-FFF2-40B4-BE49-F238E27FC236}">
                <a16:creationId xmlns:a16="http://schemas.microsoft.com/office/drawing/2014/main" id="{3000B5CB-117A-EED6-4884-DC35DDC0AB7C}"/>
              </a:ext>
            </a:extLst>
          </p:cNvPr>
          <p:cNvSpPr txBox="1"/>
          <p:nvPr/>
        </p:nvSpPr>
        <p:spPr>
          <a:xfrm>
            <a:off x="1576724" y="5026363"/>
            <a:ext cx="9364133" cy="1015663"/>
          </a:xfrm>
          <a:prstGeom prst="rect">
            <a:avLst/>
          </a:prstGeom>
          <a:solidFill>
            <a:schemeClr val="accent2">
              <a:lumMod val="20000"/>
              <a:lumOff val="80000"/>
            </a:schemeClr>
          </a:solidFill>
          <a:ln w="38100">
            <a:solidFill>
              <a:srgbClr val="D35524"/>
            </a:solidFill>
            <a:prstDash val="dash"/>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t>Cheaper coordination (+ free privacy) in distributed ML </a:t>
            </a:r>
          </a:p>
          <a:p>
            <a:pPr algn="ctr"/>
            <a:r>
              <a:rPr lang="en-GB" sz="2000" dirty="0"/>
              <a:t>+ </a:t>
            </a:r>
          </a:p>
          <a:p>
            <a:pPr algn="ctr"/>
            <a:r>
              <a:rPr lang="en-GB" sz="2000" dirty="0"/>
              <a:t>New pointers to quantum advantage for distributed problems</a:t>
            </a:r>
          </a:p>
        </p:txBody>
      </p:sp>
      <p:sp>
        <p:nvSpPr>
          <p:cNvPr id="5" name="Slide Number Placeholder 4">
            <a:extLst>
              <a:ext uri="{FF2B5EF4-FFF2-40B4-BE49-F238E27FC236}">
                <a16:creationId xmlns:a16="http://schemas.microsoft.com/office/drawing/2014/main" id="{22730D45-CAF9-8117-05C4-2AA00C10C0E6}"/>
              </a:ext>
            </a:extLst>
          </p:cNvPr>
          <p:cNvSpPr>
            <a:spLocks noGrp="1"/>
          </p:cNvSpPr>
          <p:nvPr>
            <p:ph type="sldNum" sz="quarter" idx="12"/>
          </p:nvPr>
        </p:nvSpPr>
        <p:spPr/>
        <p:txBody>
          <a:bodyPr/>
          <a:lstStyle/>
          <a:p>
            <a:fld id="{4544B810-10F2-2E49-94DF-FA7BE986B6B9}" type="slidenum">
              <a:rPr lang="en-US" smtClean="0"/>
              <a:t>58</a:t>
            </a:fld>
            <a:endParaRPr lang="en-US"/>
          </a:p>
        </p:txBody>
      </p:sp>
      <p:sp>
        <p:nvSpPr>
          <p:cNvPr id="6" name="TextBox 5">
            <a:extLst>
              <a:ext uri="{FF2B5EF4-FFF2-40B4-BE49-F238E27FC236}">
                <a16:creationId xmlns:a16="http://schemas.microsoft.com/office/drawing/2014/main" id="{9912951A-C504-9279-1AEF-B0E668E68D58}"/>
              </a:ext>
            </a:extLst>
          </p:cNvPr>
          <p:cNvSpPr txBox="1"/>
          <p:nvPr/>
        </p:nvSpPr>
        <p:spPr>
          <a:xfrm>
            <a:off x="3906982" y="2529988"/>
            <a:ext cx="4703618" cy="400110"/>
          </a:xfrm>
          <a:prstGeom prst="rect">
            <a:avLst/>
          </a:prstGeom>
          <a:solidFill>
            <a:schemeClr val="accent3">
              <a:lumMod val="20000"/>
              <a:lumOff val="80000"/>
            </a:schemeClr>
          </a:solidFill>
          <a:ln w="38100">
            <a:solidFill>
              <a:schemeClr val="accent3"/>
            </a:solidFill>
            <a:prstDash val="sysDot"/>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b="1" dirty="0"/>
              <a:t>USEFUL</a:t>
            </a:r>
            <a:r>
              <a:rPr lang="en-GB" sz="2000" dirty="0"/>
              <a:t>! but </a:t>
            </a:r>
            <a:r>
              <a:rPr lang="en-GB" sz="2000" b="1" dirty="0"/>
              <a:t>boring</a:t>
            </a:r>
            <a:r>
              <a:rPr lang="en-GB" sz="2000" dirty="0"/>
              <a:t> for quantum people</a:t>
            </a:r>
          </a:p>
        </p:txBody>
      </p:sp>
      <p:sp>
        <p:nvSpPr>
          <p:cNvPr id="7" name="TextBox 6">
            <a:extLst>
              <a:ext uri="{FF2B5EF4-FFF2-40B4-BE49-F238E27FC236}">
                <a16:creationId xmlns:a16="http://schemas.microsoft.com/office/drawing/2014/main" id="{5C4A097E-2F5C-70F6-7A2C-854DF7C1CFE3}"/>
              </a:ext>
            </a:extLst>
          </p:cNvPr>
          <p:cNvSpPr txBox="1"/>
          <p:nvPr/>
        </p:nvSpPr>
        <p:spPr>
          <a:xfrm>
            <a:off x="4641272" y="4169509"/>
            <a:ext cx="3397828" cy="400110"/>
          </a:xfrm>
          <a:prstGeom prst="rect">
            <a:avLst/>
          </a:prstGeom>
          <a:solidFill>
            <a:schemeClr val="accent5">
              <a:lumMod val="20000"/>
              <a:lumOff val="80000"/>
            </a:schemeClr>
          </a:solidFill>
          <a:ln w="38100">
            <a:solidFill>
              <a:schemeClr val="accent5"/>
            </a:solidFill>
            <a:prstDash val="sysDot"/>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b="1" dirty="0"/>
              <a:t>INTERESTING</a:t>
            </a:r>
            <a:r>
              <a:rPr lang="en-GB" sz="2000" dirty="0"/>
              <a:t>! but </a:t>
            </a:r>
            <a:r>
              <a:rPr lang="en-GB" sz="2000" b="1" dirty="0"/>
              <a:t>useful?</a:t>
            </a:r>
          </a:p>
        </p:txBody>
      </p:sp>
    </p:spTree>
    <p:extLst>
      <p:ext uri="{BB962C8B-B14F-4D97-AF65-F5344CB8AC3E}">
        <p14:creationId xmlns:p14="http://schemas.microsoft.com/office/powerpoint/2010/main" val="19227676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3B18-9850-E21E-A222-35E7DB39F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2C963-C7F0-0C3C-A1E3-BE72C7FF837B}"/>
              </a:ext>
            </a:extLst>
          </p:cNvPr>
          <p:cNvSpPr>
            <a:spLocks noGrp="1"/>
          </p:cNvSpPr>
          <p:nvPr>
            <p:ph type="title"/>
          </p:nvPr>
        </p:nvSpPr>
        <p:spPr/>
        <p:txBody>
          <a:bodyPr/>
          <a:lstStyle/>
          <a:p>
            <a:pPr algn="ctr"/>
            <a:r>
              <a:rPr lang="en-US" dirty="0"/>
              <a:t>Check out the paper!</a:t>
            </a:r>
          </a:p>
        </p:txBody>
      </p:sp>
      <p:pic>
        <p:nvPicPr>
          <p:cNvPr id="5" name="Content Placeholder 4">
            <a:extLst>
              <a:ext uri="{FF2B5EF4-FFF2-40B4-BE49-F238E27FC236}">
                <a16:creationId xmlns:a16="http://schemas.microsoft.com/office/drawing/2014/main" id="{A4D0C344-6111-6D49-4CA6-D14154057559}"/>
              </a:ext>
            </a:extLst>
          </p:cNvPr>
          <p:cNvPicPr>
            <a:picLocks noGrp="1" noChangeAspect="1"/>
          </p:cNvPicPr>
          <p:nvPr>
            <p:ph idx="1"/>
          </p:nvPr>
        </p:nvPicPr>
        <p:blipFill>
          <a:blip r:embed="rId2"/>
          <a:stretch>
            <a:fillRect/>
          </a:stretch>
        </p:blipFill>
        <p:spPr>
          <a:xfrm>
            <a:off x="838200" y="1690688"/>
            <a:ext cx="10515600" cy="3887122"/>
          </a:xfrm>
          <a:prstGeom prst="rect">
            <a:avLst/>
          </a:prstGeom>
        </p:spPr>
      </p:pic>
      <p:sp>
        <p:nvSpPr>
          <p:cNvPr id="6" name="Title 1">
            <a:extLst>
              <a:ext uri="{FF2B5EF4-FFF2-40B4-BE49-F238E27FC236}">
                <a16:creationId xmlns:a16="http://schemas.microsoft.com/office/drawing/2014/main" id="{5CFD32D2-2461-2CC8-5865-A81CA7B12D4B}"/>
              </a:ext>
            </a:extLst>
          </p:cNvPr>
          <p:cNvSpPr txBox="1">
            <a:spLocks/>
          </p:cNvSpPr>
          <p:nvPr/>
        </p:nvSpPr>
        <p:spPr>
          <a:xfrm>
            <a:off x="0" y="5532437"/>
            <a:ext cx="414825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t>&amp; perhaps see you at QTML</a:t>
            </a:r>
          </a:p>
        </p:txBody>
      </p:sp>
      <p:pic>
        <p:nvPicPr>
          <p:cNvPr id="8" name="Picture 7">
            <a:extLst>
              <a:ext uri="{FF2B5EF4-FFF2-40B4-BE49-F238E27FC236}">
                <a16:creationId xmlns:a16="http://schemas.microsoft.com/office/drawing/2014/main" id="{C3ACE655-1607-8598-D3BA-7AEBD5BCC41F}"/>
              </a:ext>
            </a:extLst>
          </p:cNvPr>
          <p:cNvPicPr>
            <a:picLocks noChangeAspect="1"/>
          </p:cNvPicPr>
          <p:nvPr/>
        </p:nvPicPr>
        <p:blipFill>
          <a:blip r:embed="rId3"/>
          <a:stretch>
            <a:fillRect/>
          </a:stretch>
        </p:blipFill>
        <p:spPr>
          <a:xfrm>
            <a:off x="3954928" y="5900265"/>
            <a:ext cx="7772400" cy="589905"/>
          </a:xfrm>
          <a:prstGeom prst="rect">
            <a:avLst/>
          </a:prstGeom>
        </p:spPr>
      </p:pic>
      <p:pic>
        <p:nvPicPr>
          <p:cNvPr id="3" name="Picture 2" descr="Cars but it's just Lightning Mcqueen saying KA-CHOW!!! ⚡❤⚡">
            <a:extLst>
              <a:ext uri="{FF2B5EF4-FFF2-40B4-BE49-F238E27FC236}">
                <a16:creationId xmlns:a16="http://schemas.microsoft.com/office/drawing/2014/main" id="{31EDF99B-CCD7-FF3A-D4C2-D3DE5D529237}"/>
              </a:ext>
            </a:extLst>
          </p:cNvPr>
          <p:cNvPicPr>
            <a:picLocks noChangeAspect="1"/>
          </p:cNvPicPr>
          <p:nvPr/>
        </p:nvPicPr>
        <p:blipFill>
          <a:blip r:embed="rId4"/>
          <a:stretch>
            <a:fillRect/>
          </a:stretch>
        </p:blipFill>
        <p:spPr>
          <a:xfrm>
            <a:off x="8817564" y="331130"/>
            <a:ext cx="3374436" cy="1898120"/>
          </a:xfrm>
          <a:prstGeom prst="rect">
            <a:avLst/>
          </a:prstGeom>
        </p:spPr>
      </p:pic>
      <p:sp>
        <p:nvSpPr>
          <p:cNvPr id="4" name="Slide Number Placeholder 3">
            <a:extLst>
              <a:ext uri="{FF2B5EF4-FFF2-40B4-BE49-F238E27FC236}">
                <a16:creationId xmlns:a16="http://schemas.microsoft.com/office/drawing/2014/main" id="{23A97165-2A25-8609-C00F-23679BD65F41}"/>
              </a:ext>
            </a:extLst>
          </p:cNvPr>
          <p:cNvSpPr>
            <a:spLocks noGrp="1"/>
          </p:cNvSpPr>
          <p:nvPr>
            <p:ph type="sldNum" sz="quarter" idx="12"/>
          </p:nvPr>
        </p:nvSpPr>
        <p:spPr/>
        <p:txBody>
          <a:bodyPr/>
          <a:lstStyle/>
          <a:p>
            <a:fld id="{4544B810-10F2-2E49-94DF-FA7BE986B6B9}" type="slidenum">
              <a:rPr lang="en-US" smtClean="0"/>
              <a:t>59</a:t>
            </a:fld>
            <a:endParaRPr lang="en-US"/>
          </a:p>
        </p:txBody>
      </p:sp>
    </p:spTree>
    <p:extLst>
      <p:ext uri="{BB962C8B-B14F-4D97-AF65-F5344CB8AC3E}">
        <p14:creationId xmlns:p14="http://schemas.microsoft.com/office/powerpoint/2010/main" val="6784227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CC7338-9439-7930-23AB-FCBE802D693E}"/>
            </a:ext>
          </a:extLst>
        </p:cNvPr>
        <p:cNvGrpSpPr/>
        <p:nvPr/>
      </p:nvGrpSpPr>
      <p:grpSpPr>
        <a:xfrm>
          <a:off x="0" y="0"/>
          <a:ext cx="0" cy="0"/>
          <a:chOff x="0" y="0"/>
          <a:chExt cx="0" cy="0"/>
        </a:xfrm>
      </p:grpSpPr>
      <p:grpSp>
        <p:nvGrpSpPr>
          <p:cNvPr id="71" name="Group 70">
            <a:extLst>
              <a:ext uri="{FF2B5EF4-FFF2-40B4-BE49-F238E27FC236}">
                <a16:creationId xmlns:a16="http://schemas.microsoft.com/office/drawing/2014/main" id="{2DC6E1E2-0223-E0A6-6DA2-6511A752DF06}"/>
              </a:ext>
            </a:extLst>
          </p:cNvPr>
          <p:cNvGrpSpPr/>
          <p:nvPr/>
        </p:nvGrpSpPr>
        <p:grpSpPr>
          <a:xfrm>
            <a:off x="2041582" y="2191076"/>
            <a:ext cx="6270164" cy="3296846"/>
            <a:chOff x="2041582" y="2191076"/>
            <a:chExt cx="6270164" cy="3296846"/>
          </a:xfrm>
        </p:grpSpPr>
        <p:sp>
          <p:nvSpPr>
            <p:cNvPr id="15" name="Oval 14">
              <a:extLst>
                <a:ext uri="{FF2B5EF4-FFF2-40B4-BE49-F238E27FC236}">
                  <a16:creationId xmlns:a16="http://schemas.microsoft.com/office/drawing/2014/main" id="{7233553A-6244-CE70-7CE4-CFBC90E06373}"/>
                </a:ext>
              </a:extLst>
            </p:cNvPr>
            <p:cNvSpPr/>
            <p:nvPr/>
          </p:nvSpPr>
          <p:spPr>
            <a:xfrm>
              <a:off x="2337762" y="3834150"/>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00FB60F-C8C2-DD4B-290E-4E5B09B02BA3}"/>
                </a:ext>
              </a:extLst>
            </p:cNvPr>
            <p:cNvSpPr/>
            <p:nvPr/>
          </p:nvSpPr>
          <p:spPr>
            <a:xfrm>
              <a:off x="3257920" y="2651950"/>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9490E21-40FF-8CBF-1336-F7F3B28E23FE}"/>
                </a:ext>
              </a:extLst>
            </p:cNvPr>
            <p:cNvSpPr/>
            <p:nvPr/>
          </p:nvSpPr>
          <p:spPr>
            <a:xfrm>
              <a:off x="3257919" y="4822336"/>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209B308-C687-12E0-551A-EF161391FC29}"/>
                </a:ext>
              </a:extLst>
            </p:cNvPr>
            <p:cNvSpPr/>
            <p:nvPr/>
          </p:nvSpPr>
          <p:spPr>
            <a:xfrm>
              <a:off x="4684458" y="4840011"/>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838D242-BD12-A506-DAF1-96C065F3C042}"/>
                </a:ext>
              </a:extLst>
            </p:cNvPr>
            <p:cNvSpPr/>
            <p:nvPr/>
          </p:nvSpPr>
          <p:spPr>
            <a:xfrm>
              <a:off x="4676960" y="2651950"/>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2636049-9CB7-44F8-89DE-975F690B9769}"/>
                </a:ext>
              </a:extLst>
            </p:cNvPr>
            <p:cNvSpPr/>
            <p:nvPr/>
          </p:nvSpPr>
          <p:spPr>
            <a:xfrm>
              <a:off x="7128881" y="3823854"/>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0BF84DAF-2D65-0F3D-05E4-495B36B87E61}"/>
                </a:ext>
              </a:extLst>
            </p:cNvPr>
            <p:cNvCxnSpPr>
              <a:cxnSpLocks/>
              <a:stCxn id="15" idx="7"/>
              <a:endCxn id="16" idx="3"/>
            </p:cNvCxnSpPr>
            <p:nvPr/>
          </p:nvCxnSpPr>
          <p:spPr>
            <a:xfrm flipV="1">
              <a:off x="2550622" y="2864811"/>
              <a:ext cx="743819" cy="1005860"/>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FEBD602F-392B-0165-76BC-3ABA8CDB88EA}"/>
                </a:ext>
              </a:extLst>
            </p:cNvPr>
            <p:cNvCxnSpPr>
              <a:cxnSpLocks/>
              <a:stCxn id="15" idx="5"/>
              <a:endCxn id="17" idx="2"/>
            </p:cNvCxnSpPr>
            <p:nvPr/>
          </p:nvCxnSpPr>
          <p:spPr>
            <a:xfrm>
              <a:off x="2550622" y="4047011"/>
              <a:ext cx="707297" cy="900016"/>
            </a:xfrm>
            <a:prstGeom prst="line">
              <a:avLst/>
            </a:prstGeom>
          </p:spPr>
          <p:style>
            <a:lnRef idx="2">
              <a:schemeClr val="dk1"/>
            </a:lnRef>
            <a:fillRef idx="0">
              <a:schemeClr val="dk1"/>
            </a:fillRef>
            <a:effectRef idx="1">
              <a:schemeClr val="dk1"/>
            </a:effectRef>
            <a:fontRef idx="minor">
              <a:schemeClr val="tx1"/>
            </a:fontRef>
          </p:style>
        </p:cxnSp>
        <p:sp>
          <p:nvSpPr>
            <p:cNvPr id="28" name="Oval 27">
              <a:extLst>
                <a:ext uri="{FF2B5EF4-FFF2-40B4-BE49-F238E27FC236}">
                  <a16:creationId xmlns:a16="http://schemas.microsoft.com/office/drawing/2014/main" id="{5F612AA6-9BDB-3989-7CF9-4E78DEAA93D3}"/>
                </a:ext>
              </a:extLst>
            </p:cNvPr>
            <p:cNvSpPr/>
            <p:nvPr/>
          </p:nvSpPr>
          <p:spPr>
            <a:xfrm>
              <a:off x="6096000" y="2651950"/>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426412C-763D-F289-F5AE-F097B3EB0820}"/>
                </a:ext>
              </a:extLst>
            </p:cNvPr>
            <p:cNvSpPr/>
            <p:nvPr/>
          </p:nvSpPr>
          <p:spPr>
            <a:xfrm>
              <a:off x="6095999" y="4822336"/>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EE27D8F6-892A-A67B-BB2E-FD2190FD7679}"/>
                </a:ext>
              </a:extLst>
            </p:cNvPr>
            <p:cNvCxnSpPr>
              <a:cxnSpLocks/>
              <a:stCxn id="19" idx="2"/>
              <a:endCxn id="16" idx="6"/>
            </p:cNvCxnSpPr>
            <p:nvPr/>
          </p:nvCxnSpPr>
          <p:spPr>
            <a:xfrm flipH="1">
              <a:off x="3507301" y="2776641"/>
              <a:ext cx="1169659" cy="0"/>
            </a:xfrm>
            <a:prstGeom prst="line">
              <a:avLst/>
            </a:prstGeom>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27BCC14F-39EF-4419-8D1C-3297F89B18EE}"/>
                </a:ext>
              </a:extLst>
            </p:cNvPr>
            <p:cNvCxnSpPr>
              <a:cxnSpLocks/>
            </p:cNvCxnSpPr>
            <p:nvPr/>
          </p:nvCxnSpPr>
          <p:spPr>
            <a:xfrm flipH="1">
              <a:off x="3507300" y="4964702"/>
              <a:ext cx="1169659" cy="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DEEDAD5D-EA57-9571-C197-EE8B8E15B646}"/>
                </a:ext>
              </a:extLst>
            </p:cNvPr>
            <p:cNvCxnSpPr>
              <a:cxnSpLocks/>
            </p:cNvCxnSpPr>
            <p:nvPr/>
          </p:nvCxnSpPr>
          <p:spPr>
            <a:xfrm flipH="1">
              <a:off x="4926340" y="4964702"/>
              <a:ext cx="1169659" cy="0"/>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D20B655E-2165-5677-A8D9-BA87CF3269DE}"/>
                </a:ext>
              </a:extLst>
            </p:cNvPr>
            <p:cNvCxnSpPr>
              <a:cxnSpLocks/>
            </p:cNvCxnSpPr>
            <p:nvPr/>
          </p:nvCxnSpPr>
          <p:spPr>
            <a:xfrm flipH="1">
              <a:off x="4926339" y="2776641"/>
              <a:ext cx="1169659" cy="0"/>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1E2CC754-5A0C-7CAE-6420-A8EF4754555F}"/>
                </a:ext>
              </a:extLst>
            </p:cNvPr>
            <p:cNvCxnSpPr>
              <a:cxnSpLocks/>
              <a:stCxn id="20" idx="1"/>
              <a:endCxn id="28" idx="5"/>
            </p:cNvCxnSpPr>
            <p:nvPr/>
          </p:nvCxnSpPr>
          <p:spPr>
            <a:xfrm flipH="1" flipV="1">
              <a:off x="6308860" y="2864811"/>
              <a:ext cx="856542" cy="995564"/>
            </a:xfrm>
            <a:prstGeom prst="line">
              <a:avLst/>
            </a:prstGeom>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619954C5-309F-630C-5442-9B7D5183D8D4}"/>
                </a:ext>
              </a:extLst>
            </p:cNvPr>
            <p:cNvCxnSpPr>
              <a:cxnSpLocks/>
              <a:stCxn id="20" idx="3"/>
              <a:endCxn id="29" idx="6"/>
            </p:cNvCxnSpPr>
            <p:nvPr/>
          </p:nvCxnSpPr>
          <p:spPr>
            <a:xfrm flipH="1">
              <a:off x="6345380" y="4036715"/>
              <a:ext cx="820022" cy="910312"/>
            </a:xfrm>
            <a:prstGeom prst="line">
              <a:avLst/>
            </a:prstGeom>
          </p:spPr>
          <p:style>
            <a:lnRef idx="2">
              <a:schemeClr val="dk1"/>
            </a:lnRef>
            <a:fillRef idx="0">
              <a:schemeClr val="dk1"/>
            </a:fillRef>
            <a:effectRef idx="1">
              <a:schemeClr val="dk1"/>
            </a:effectRef>
            <a:fontRef idx="minor">
              <a:schemeClr val="tx1"/>
            </a:fontRef>
          </p:style>
        </p:cxnSp>
        <p:cxnSp>
          <p:nvCxnSpPr>
            <p:cNvPr id="45" name="Straight Connector 44">
              <a:extLst>
                <a:ext uri="{FF2B5EF4-FFF2-40B4-BE49-F238E27FC236}">
                  <a16:creationId xmlns:a16="http://schemas.microsoft.com/office/drawing/2014/main" id="{3A735DEE-32A6-A541-4C22-232820297640}"/>
                </a:ext>
              </a:extLst>
            </p:cNvPr>
            <p:cNvCxnSpPr>
              <a:cxnSpLocks/>
              <a:stCxn id="29" idx="1"/>
              <a:endCxn id="19" idx="5"/>
            </p:cNvCxnSpPr>
            <p:nvPr/>
          </p:nvCxnSpPr>
          <p:spPr>
            <a:xfrm flipH="1" flipV="1">
              <a:off x="4889820" y="2864811"/>
              <a:ext cx="1242700" cy="1994046"/>
            </a:xfrm>
            <a:prstGeom prst="line">
              <a:avLst/>
            </a:prstGeom>
          </p:spPr>
          <p:style>
            <a:lnRef idx="2">
              <a:schemeClr val="dk1"/>
            </a:lnRef>
            <a:fillRef idx="0">
              <a:schemeClr val="dk1"/>
            </a:fillRef>
            <a:effectRef idx="1">
              <a:schemeClr val="dk1"/>
            </a:effectRef>
            <a:fontRef idx="minor">
              <a:schemeClr val="tx1"/>
            </a:fontRef>
          </p:style>
        </p:cxnSp>
        <p:cxnSp>
          <p:nvCxnSpPr>
            <p:cNvPr id="48" name="Straight Connector 47">
              <a:extLst>
                <a:ext uri="{FF2B5EF4-FFF2-40B4-BE49-F238E27FC236}">
                  <a16:creationId xmlns:a16="http://schemas.microsoft.com/office/drawing/2014/main" id="{83BC4EC8-697F-F011-57E0-939FC16923C2}"/>
                </a:ext>
              </a:extLst>
            </p:cNvPr>
            <p:cNvCxnSpPr>
              <a:cxnSpLocks/>
            </p:cNvCxnSpPr>
            <p:nvPr/>
          </p:nvCxnSpPr>
          <p:spPr>
            <a:xfrm flipH="1" flipV="1">
              <a:off x="3467030" y="2879594"/>
              <a:ext cx="1242700" cy="1994046"/>
            </a:xfrm>
            <a:prstGeom prst="line">
              <a:avLst/>
            </a:prstGeom>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9DC24546-E321-99BA-BEAD-78A5FB40F432}"/>
                </a:ext>
              </a:extLst>
            </p:cNvPr>
            <p:cNvCxnSpPr>
              <a:cxnSpLocks/>
              <a:stCxn id="17" idx="7"/>
              <a:endCxn id="19" idx="3"/>
            </p:cNvCxnSpPr>
            <p:nvPr/>
          </p:nvCxnSpPr>
          <p:spPr>
            <a:xfrm flipV="1">
              <a:off x="3470779" y="2864811"/>
              <a:ext cx="1242702" cy="1994046"/>
            </a:xfrm>
            <a:prstGeom prst="line">
              <a:avLst/>
            </a:prstGeom>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3E0B501F-A302-3458-6C55-588C97B6FF4C}"/>
                </a:ext>
              </a:extLst>
            </p:cNvPr>
            <p:cNvCxnSpPr>
              <a:cxnSpLocks/>
              <a:endCxn id="28" idx="3"/>
            </p:cNvCxnSpPr>
            <p:nvPr/>
          </p:nvCxnSpPr>
          <p:spPr>
            <a:xfrm flipV="1">
              <a:off x="4882319" y="2864811"/>
              <a:ext cx="1250202" cy="2046969"/>
            </a:xfrm>
            <a:prstGeom prst="line">
              <a:avLst/>
            </a:prstGeom>
          </p:spPr>
          <p:style>
            <a:lnRef idx="2">
              <a:schemeClr val="dk1"/>
            </a:lnRef>
            <a:fillRef idx="0">
              <a:schemeClr val="dk1"/>
            </a:fillRef>
            <a:effectRef idx="1">
              <a:schemeClr val="dk1"/>
            </a:effectRef>
            <a:fontRef idx="minor">
              <a:schemeClr val="tx1"/>
            </a:fontRef>
          </p:style>
        </p:cxnSp>
        <p:cxnSp>
          <p:nvCxnSpPr>
            <p:cNvPr id="54" name="Straight Connector 53">
              <a:extLst>
                <a:ext uri="{FF2B5EF4-FFF2-40B4-BE49-F238E27FC236}">
                  <a16:creationId xmlns:a16="http://schemas.microsoft.com/office/drawing/2014/main" id="{90B59113-15FB-CC54-2D75-FEE660B1A7AA}"/>
                </a:ext>
              </a:extLst>
            </p:cNvPr>
            <p:cNvCxnSpPr>
              <a:cxnSpLocks/>
              <a:stCxn id="18" idx="0"/>
              <a:endCxn id="19" idx="4"/>
            </p:cNvCxnSpPr>
            <p:nvPr/>
          </p:nvCxnSpPr>
          <p:spPr>
            <a:xfrm flipH="1" flipV="1">
              <a:off x="4801651" y="2901332"/>
              <a:ext cx="7498" cy="1938679"/>
            </a:xfrm>
            <a:prstGeom prst="line">
              <a:avLst/>
            </a:prstGeom>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BD5E6BFB-1CC5-34CE-5E5E-02DAAD29C9A6}"/>
                </a:ext>
              </a:extLst>
            </p:cNvPr>
            <p:cNvCxnSpPr>
              <a:cxnSpLocks/>
            </p:cNvCxnSpPr>
            <p:nvPr/>
          </p:nvCxnSpPr>
          <p:spPr>
            <a:xfrm flipH="1" flipV="1">
              <a:off x="3366816" y="2864811"/>
              <a:ext cx="7498" cy="1938679"/>
            </a:xfrm>
            <a:prstGeom prst="line">
              <a:avLst/>
            </a:prstGeom>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866969B6-F210-1B99-698D-8EB40017A832}"/>
                </a:ext>
              </a:extLst>
            </p:cNvPr>
            <p:cNvCxnSpPr>
              <a:cxnSpLocks/>
            </p:cNvCxnSpPr>
            <p:nvPr/>
          </p:nvCxnSpPr>
          <p:spPr>
            <a:xfrm flipH="1" flipV="1">
              <a:off x="6216941" y="2854514"/>
              <a:ext cx="7498" cy="1938679"/>
            </a:xfrm>
            <a:prstGeom prst="line">
              <a:avLst/>
            </a:prstGeom>
          </p:spPr>
          <p:style>
            <a:lnRef idx="2">
              <a:schemeClr val="dk1"/>
            </a:lnRef>
            <a:fillRef idx="0">
              <a:schemeClr val="dk1"/>
            </a:fillRef>
            <a:effectRef idx="1">
              <a:schemeClr val="dk1"/>
            </a:effectRef>
            <a:fontRef idx="minor">
              <a:schemeClr val="tx1"/>
            </a:fontRef>
          </p:style>
        </p:cxnSp>
        <p:sp>
          <p:nvSpPr>
            <p:cNvPr id="63" name="TextBox 62">
              <a:extLst>
                <a:ext uri="{FF2B5EF4-FFF2-40B4-BE49-F238E27FC236}">
                  <a16:creationId xmlns:a16="http://schemas.microsoft.com/office/drawing/2014/main" id="{B66AB391-86AB-5185-D72D-CF381A35A8CA}"/>
                </a:ext>
              </a:extLst>
            </p:cNvPr>
            <p:cNvSpPr txBox="1"/>
            <p:nvPr/>
          </p:nvSpPr>
          <p:spPr>
            <a:xfrm>
              <a:off x="2041582" y="3300633"/>
              <a:ext cx="933484" cy="523220"/>
            </a:xfrm>
            <a:prstGeom prst="rect">
              <a:avLst/>
            </a:prstGeom>
            <a:noFill/>
          </p:spPr>
          <p:txBody>
            <a:bodyPr wrap="square" rtlCol="0">
              <a:spAutoFit/>
            </a:bodyPr>
            <a:lstStyle/>
            <a:p>
              <a:r>
                <a:rPr lang="en-US" sz="2800" dirty="0"/>
                <a:t>g</a:t>
              </a:r>
              <a:r>
                <a:rPr lang="en-US" sz="2800" baseline="-25000" dirty="0"/>
                <a:t>0</a:t>
              </a:r>
            </a:p>
          </p:txBody>
        </p:sp>
        <p:sp>
          <p:nvSpPr>
            <p:cNvPr id="64" name="TextBox 63">
              <a:extLst>
                <a:ext uri="{FF2B5EF4-FFF2-40B4-BE49-F238E27FC236}">
                  <a16:creationId xmlns:a16="http://schemas.microsoft.com/office/drawing/2014/main" id="{8A670DB8-D223-D996-8D09-9835021E09F7}"/>
                </a:ext>
              </a:extLst>
            </p:cNvPr>
            <p:cNvSpPr txBox="1"/>
            <p:nvPr/>
          </p:nvSpPr>
          <p:spPr>
            <a:xfrm>
              <a:off x="3419685" y="4918693"/>
              <a:ext cx="933484" cy="523220"/>
            </a:xfrm>
            <a:prstGeom prst="rect">
              <a:avLst/>
            </a:prstGeom>
            <a:noFill/>
          </p:spPr>
          <p:txBody>
            <a:bodyPr wrap="square" rtlCol="0">
              <a:spAutoFit/>
            </a:bodyPr>
            <a:lstStyle/>
            <a:p>
              <a:r>
                <a:rPr lang="en-US" sz="2800" dirty="0"/>
                <a:t>g</a:t>
              </a:r>
              <a:r>
                <a:rPr lang="en-US" sz="2800" baseline="-25000" dirty="0"/>
                <a:t>2</a:t>
              </a:r>
            </a:p>
          </p:txBody>
        </p:sp>
        <p:sp>
          <p:nvSpPr>
            <p:cNvPr id="65" name="TextBox 64">
              <a:extLst>
                <a:ext uri="{FF2B5EF4-FFF2-40B4-BE49-F238E27FC236}">
                  <a16:creationId xmlns:a16="http://schemas.microsoft.com/office/drawing/2014/main" id="{52BDEAD2-3885-34F7-5755-0B96BCFA80A5}"/>
                </a:ext>
              </a:extLst>
            </p:cNvPr>
            <p:cNvSpPr txBox="1"/>
            <p:nvPr/>
          </p:nvSpPr>
          <p:spPr>
            <a:xfrm>
              <a:off x="3421468" y="2229481"/>
              <a:ext cx="933484" cy="523220"/>
            </a:xfrm>
            <a:prstGeom prst="rect">
              <a:avLst/>
            </a:prstGeom>
            <a:noFill/>
          </p:spPr>
          <p:txBody>
            <a:bodyPr wrap="square" rtlCol="0">
              <a:spAutoFit/>
            </a:bodyPr>
            <a:lstStyle/>
            <a:p>
              <a:r>
                <a:rPr lang="en-US" sz="2800" dirty="0"/>
                <a:t>g</a:t>
              </a:r>
              <a:r>
                <a:rPr lang="en-US" sz="2800" baseline="-25000" dirty="0"/>
                <a:t>1</a:t>
              </a:r>
            </a:p>
          </p:txBody>
        </p:sp>
        <p:sp>
          <p:nvSpPr>
            <p:cNvPr id="66" name="TextBox 65">
              <a:extLst>
                <a:ext uri="{FF2B5EF4-FFF2-40B4-BE49-F238E27FC236}">
                  <a16:creationId xmlns:a16="http://schemas.microsoft.com/office/drawing/2014/main" id="{3EDCB1B5-7FD2-0BB2-83DE-AEF4B7676801}"/>
                </a:ext>
              </a:extLst>
            </p:cNvPr>
            <p:cNvSpPr txBox="1"/>
            <p:nvPr/>
          </p:nvSpPr>
          <p:spPr>
            <a:xfrm>
              <a:off x="4882319" y="2191076"/>
              <a:ext cx="933484" cy="523220"/>
            </a:xfrm>
            <a:prstGeom prst="rect">
              <a:avLst/>
            </a:prstGeom>
            <a:noFill/>
          </p:spPr>
          <p:txBody>
            <a:bodyPr wrap="square" rtlCol="0">
              <a:spAutoFit/>
            </a:bodyPr>
            <a:lstStyle/>
            <a:p>
              <a:r>
                <a:rPr lang="en-US" sz="2800" dirty="0"/>
                <a:t>g</a:t>
              </a:r>
              <a:r>
                <a:rPr lang="en-US" sz="2800" baseline="-25000" dirty="0"/>
                <a:t>3</a:t>
              </a:r>
            </a:p>
          </p:txBody>
        </p:sp>
        <p:sp>
          <p:nvSpPr>
            <p:cNvPr id="67" name="TextBox 66">
              <a:extLst>
                <a:ext uri="{FF2B5EF4-FFF2-40B4-BE49-F238E27FC236}">
                  <a16:creationId xmlns:a16="http://schemas.microsoft.com/office/drawing/2014/main" id="{E20D9168-4EEF-DCA9-709D-A66D5D2017FC}"/>
                </a:ext>
              </a:extLst>
            </p:cNvPr>
            <p:cNvSpPr txBox="1"/>
            <p:nvPr/>
          </p:nvSpPr>
          <p:spPr>
            <a:xfrm>
              <a:off x="4926339" y="4964702"/>
              <a:ext cx="933484" cy="523220"/>
            </a:xfrm>
            <a:prstGeom prst="rect">
              <a:avLst/>
            </a:prstGeom>
            <a:noFill/>
          </p:spPr>
          <p:txBody>
            <a:bodyPr wrap="square" rtlCol="0">
              <a:spAutoFit/>
            </a:bodyPr>
            <a:lstStyle/>
            <a:p>
              <a:r>
                <a:rPr lang="en-US" sz="2800" dirty="0"/>
                <a:t>g</a:t>
              </a:r>
              <a:r>
                <a:rPr lang="en-US" sz="2800" baseline="-25000" dirty="0"/>
                <a:t>4</a:t>
              </a:r>
            </a:p>
          </p:txBody>
        </p:sp>
        <p:sp>
          <p:nvSpPr>
            <p:cNvPr id="68" name="TextBox 67">
              <a:extLst>
                <a:ext uri="{FF2B5EF4-FFF2-40B4-BE49-F238E27FC236}">
                  <a16:creationId xmlns:a16="http://schemas.microsoft.com/office/drawing/2014/main" id="{3B9E339C-27DF-E268-5515-0B69691CB00B}"/>
                </a:ext>
              </a:extLst>
            </p:cNvPr>
            <p:cNvSpPr txBox="1"/>
            <p:nvPr/>
          </p:nvSpPr>
          <p:spPr>
            <a:xfrm>
              <a:off x="6320087" y="2229481"/>
              <a:ext cx="933484" cy="523220"/>
            </a:xfrm>
            <a:prstGeom prst="rect">
              <a:avLst/>
            </a:prstGeom>
            <a:noFill/>
          </p:spPr>
          <p:txBody>
            <a:bodyPr wrap="square" rtlCol="0">
              <a:spAutoFit/>
            </a:bodyPr>
            <a:lstStyle/>
            <a:p>
              <a:r>
                <a:rPr lang="en-US" sz="2800" dirty="0"/>
                <a:t>g</a:t>
              </a:r>
              <a:r>
                <a:rPr lang="en-US" sz="2800" baseline="-25000" dirty="0"/>
                <a:t>5</a:t>
              </a:r>
            </a:p>
          </p:txBody>
        </p:sp>
        <p:sp>
          <p:nvSpPr>
            <p:cNvPr id="69" name="TextBox 68">
              <a:extLst>
                <a:ext uri="{FF2B5EF4-FFF2-40B4-BE49-F238E27FC236}">
                  <a16:creationId xmlns:a16="http://schemas.microsoft.com/office/drawing/2014/main" id="{CCF80E5E-FF8E-DFA0-C99F-2232EE348642}"/>
                </a:ext>
              </a:extLst>
            </p:cNvPr>
            <p:cNvSpPr txBox="1"/>
            <p:nvPr/>
          </p:nvSpPr>
          <p:spPr>
            <a:xfrm>
              <a:off x="6333558" y="4924904"/>
              <a:ext cx="933484" cy="523220"/>
            </a:xfrm>
            <a:prstGeom prst="rect">
              <a:avLst/>
            </a:prstGeom>
            <a:noFill/>
          </p:spPr>
          <p:txBody>
            <a:bodyPr wrap="square" rtlCol="0">
              <a:spAutoFit/>
            </a:bodyPr>
            <a:lstStyle/>
            <a:p>
              <a:r>
                <a:rPr lang="en-US" sz="2800" dirty="0"/>
                <a:t>g</a:t>
              </a:r>
              <a:r>
                <a:rPr lang="en-US" sz="2800" baseline="-25000" dirty="0"/>
                <a:t>6</a:t>
              </a:r>
            </a:p>
          </p:txBody>
        </p:sp>
        <p:sp>
          <p:nvSpPr>
            <p:cNvPr id="70" name="TextBox 69">
              <a:extLst>
                <a:ext uri="{FF2B5EF4-FFF2-40B4-BE49-F238E27FC236}">
                  <a16:creationId xmlns:a16="http://schemas.microsoft.com/office/drawing/2014/main" id="{39203510-DB75-AAFC-C0F7-393A4AA134BF}"/>
                </a:ext>
              </a:extLst>
            </p:cNvPr>
            <p:cNvSpPr txBox="1"/>
            <p:nvPr/>
          </p:nvSpPr>
          <p:spPr>
            <a:xfrm>
              <a:off x="7378262" y="3347451"/>
              <a:ext cx="933484" cy="523220"/>
            </a:xfrm>
            <a:prstGeom prst="rect">
              <a:avLst/>
            </a:prstGeom>
            <a:noFill/>
          </p:spPr>
          <p:txBody>
            <a:bodyPr wrap="square" rtlCol="0">
              <a:spAutoFit/>
            </a:bodyPr>
            <a:lstStyle/>
            <a:p>
              <a:r>
                <a:rPr lang="en-US" sz="2800" dirty="0"/>
                <a:t>g</a:t>
              </a:r>
              <a:r>
                <a:rPr lang="en-US" sz="2800" baseline="-25000" dirty="0"/>
                <a:t>7</a:t>
              </a:r>
            </a:p>
          </p:txBody>
        </p:sp>
      </p:grpSp>
      <p:pic>
        <p:nvPicPr>
          <p:cNvPr id="72" name="Picture 71">
            <a:extLst>
              <a:ext uri="{FF2B5EF4-FFF2-40B4-BE49-F238E27FC236}">
                <a16:creationId xmlns:a16="http://schemas.microsoft.com/office/drawing/2014/main" id="{E41510ED-3A75-2E7C-F9DC-53FB6CD52FE8}"/>
              </a:ext>
            </a:extLst>
          </p:cNvPr>
          <p:cNvPicPr>
            <a:picLocks noChangeAspect="1"/>
          </p:cNvPicPr>
          <p:nvPr/>
        </p:nvPicPr>
        <p:blipFill>
          <a:blip r:embed="rId2"/>
          <a:stretch/>
        </p:blipFill>
        <p:spPr>
          <a:xfrm>
            <a:off x="566888" y="223335"/>
            <a:ext cx="3521492" cy="1942699"/>
          </a:xfrm>
          <a:prstGeom prst="rect">
            <a:avLst/>
          </a:prstGeom>
        </p:spPr>
      </p:pic>
      <p:sp>
        <p:nvSpPr>
          <p:cNvPr id="2" name="Slide Number Placeholder 1">
            <a:extLst>
              <a:ext uri="{FF2B5EF4-FFF2-40B4-BE49-F238E27FC236}">
                <a16:creationId xmlns:a16="http://schemas.microsoft.com/office/drawing/2014/main" id="{C0A0BC5C-09A3-DFB3-49C0-F35184E1D032}"/>
              </a:ext>
            </a:extLst>
          </p:cNvPr>
          <p:cNvSpPr>
            <a:spLocks noGrp="1"/>
          </p:cNvSpPr>
          <p:nvPr>
            <p:ph type="sldNum" sz="quarter" idx="12"/>
          </p:nvPr>
        </p:nvSpPr>
        <p:spPr/>
        <p:txBody>
          <a:bodyPr/>
          <a:lstStyle/>
          <a:p>
            <a:fld id="{4544B810-10F2-2E49-94DF-FA7BE986B6B9}" type="slidenum">
              <a:rPr lang="en-US" smtClean="0"/>
              <a:t>60</a:t>
            </a:fld>
            <a:endParaRPr lang="en-US"/>
          </a:p>
        </p:txBody>
      </p:sp>
    </p:spTree>
    <p:extLst>
      <p:ext uri="{BB962C8B-B14F-4D97-AF65-F5344CB8AC3E}">
        <p14:creationId xmlns:p14="http://schemas.microsoft.com/office/powerpoint/2010/main" val="42466360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360AB7B-2ACD-0A30-7573-58E8F3C81977}"/>
            </a:ext>
          </a:extLst>
        </p:cNvPr>
        <p:cNvGrpSpPr/>
        <p:nvPr/>
      </p:nvGrpSpPr>
      <p:grpSpPr>
        <a:xfrm>
          <a:off x="0" y="0"/>
          <a:ext cx="0" cy="0"/>
          <a:chOff x="0" y="0"/>
          <a:chExt cx="0" cy="0"/>
        </a:xfrm>
      </p:grpSpPr>
      <p:sp>
        <p:nvSpPr>
          <p:cNvPr id="15" name="Oval 14">
            <a:extLst>
              <a:ext uri="{FF2B5EF4-FFF2-40B4-BE49-F238E27FC236}">
                <a16:creationId xmlns:a16="http://schemas.microsoft.com/office/drawing/2014/main" id="{B573A36E-55FC-9D63-09E8-3FC693EE0B8A}"/>
              </a:ext>
            </a:extLst>
          </p:cNvPr>
          <p:cNvSpPr/>
          <p:nvPr/>
        </p:nvSpPr>
        <p:spPr>
          <a:xfrm>
            <a:off x="2337762" y="3834150"/>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E8AC8F0-BD46-A9A4-90B6-CA660BCD8CEC}"/>
              </a:ext>
            </a:extLst>
          </p:cNvPr>
          <p:cNvSpPr/>
          <p:nvPr/>
        </p:nvSpPr>
        <p:spPr>
          <a:xfrm>
            <a:off x="3257920" y="2651950"/>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7181880-615B-7940-5D1A-CECBE7AC5DC0}"/>
              </a:ext>
            </a:extLst>
          </p:cNvPr>
          <p:cNvSpPr/>
          <p:nvPr/>
        </p:nvSpPr>
        <p:spPr>
          <a:xfrm>
            <a:off x="3257919" y="4822336"/>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6EA9B4A-6248-22B7-5092-785DE3DBA250}"/>
              </a:ext>
            </a:extLst>
          </p:cNvPr>
          <p:cNvSpPr/>
          <p:nvPr/>
        </p:nvSpPr>
        <p:spPr>
          <a:xfrm>
            <a:off x="4250622" y="3772097"/>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7C86891B-3B55-ACA7-6F6F-BDF28F3CD504}"/>
              </a:ext>
            </a:extLst>
          </p:cNvPr>
          <p:cNvCxnSpPr>
            <a:cxnSpLocks/>
            <a:stCxn id="15" idx="7"/>
            <a:endCxn id="16" idx="3"/>
          </p:cNvCxnSpPr>
          <p:nvPr/>
        </p:nvCxnSpPr>
        <p:spPr>
          <a:xfrm flipV="1">
            <a:off x="2550622" y="2864811"/>
            <a:ext cx="743819" cy="1005860"/>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96818664-1E2B-F52C-DB1B-46704D147B47}"/>
              </a:ext>
            </a:extLst>
          </p:cNvPr>
          <p:cNvCxnSpPr>
            <a:cxnSpLocks/>
            <a:stCxn id="15" idx="5"/>
            <a:endCxn id="17" idx="2"/>
          </p:cNvCxnSpPr>
          <p:nvPr/>
        </p:nvCxnSpPr>
        <p:spPr>
          <a:xfrm>
            <a:off x="2550622" y="4047011"/>
            <a:ext cx="707297" cy="900016"/>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D782AFCC-C849-F724-0C73-79F1DFE3C95E}"/>
              </a:ext>
            </a:extLst>
          </p:cNvPr>
          <p:cNvCxnSpPr>
            <a:cxnSpLocks/>
            <a:stCxn id="20" idx="1"/>
          </p:cNvCxnSpPr>
          <p:nvPr/>
        </p:nvCxnSpPr>
        <p:spPr>
          <a:xfrm flipH="1" flipV="1">
            <a:off x="3430601" y="2813054"/>
            <a:ext cx="856542" cy="995564"/>
          </a:xfrm>
          <a:prstGeom prst="line">
            <a:avLst/>
          </a:prstGeom>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ECA44A63-DC0D-CF86-4A44-FE2254F41723}"/>
              </a:ext>
            </a:extLst>
          </p:cNvPr>
          <p:cNvCxnSpPr>
            <a:cxnSpLocks/>
            <a:stCxn id="20" idx="3"/>
          </p:cNvCxnSpPr>
          <p:nvPr/>
        </p:nvCxnSpPr>
        <p:spPr>
          <a:xfrm flipH="1">
            <a:off x="3467121" y="3984958"/>
            <a:ext cx="820022" cy="910312"/>
          </a:xfrm>
          <a:prstGeom prst="line">
            <a:avLst/>
          </a:prstGeom>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E2F2174E-719D-2D43-86B1-BD33AABB47E2}"/>
              </a:ext>
            </a:extLst>
          </p:cNvPr>
          <p:cNvCxnSpPr>
            <a:cxnSpLocks/>
          </p:cNvCxnSpPr>
          <p:nvPr/>
        </p:nvCxnSpPr>
        <p:spPr>
          <a:xfrm flipH="1" flipV="1">
            <a:off x="3366816" y="2864811"/>
            <a:ext cx="7498" cy="1938679"/>
          </a:xfrm>
          <a:prstGeom prst="line">
            <a:avLst/>
          </a:prstGeom>
        </p:spPr>
        <p:style>
          <a:lnRef idx="2">
            <a:schemeClr val="dk1"/>
          </a:lnRef>
          <a:fillRef idx="0">
            <a:schemeClr val="dk1"/>
          </a:fillRef>
          <a:effectRef idx="1">
            <a:schemeClr val="dk1"/>
          </a:effectRef>
          <a:fontRef idx="minor">
            <a:schemeClr val="tx1"/>
          </a:fontRef>
        </p:style>
      </p:cxnSp>
      <p:sp>
        <p:nvSpPr>
          <p:cNvPr id="63" name="TextBox 62">
            <a:extLst>
              <a:ext uri="{FF2B5EF4-FFF2-40B4-BE49-F238E27FC236}">
                <a16:creationId xmlns:a16="http://schemas.microsoft.com/office/drawing/2014/main" id="{93B78F01-BED7-B036-90DB-9FAB7E4C3A1A}"/>
              </a:ext>
            </a:extLst>
          </p:cNvPr>
          <p:cNvSpPr txBox="1"/>
          <p:nvPr/>
        </p:nvSpPr>
        <p:spPr>
          <a:xfrm>
            <a:off x="1345258" y="3300633"/>
            <a:ext cx="1629808" cy="810478"/>
          </a:xfrm>
          <a:prstGeom prst="rect">
            <a:avLst/>
          </a:prstGeom>
          <a:noFill/>
        </p:spPr>
        <p:txBody>
          <a:bodyPr wrap="square" rtlCol="0">
            <a:spAutoFit/>
          </a:bodyPr>
          <a:lstStyle/>
          <a:p>
            <a:r>
              <a:rPr lang="en-US" sz="2800" dirty="0"/>
              <a:t>g</a:t>
            </a:r>
            <a:r>
              <a:rPr lang="en-US" sz="2800" baseline="-25000" dirty="0"/>
              <a:t>0 </a:t>
            </a:r>
            <a:r>
              <a:rPr lang="en-US" sz="2800" dirty="0"/>
              <a:t>+ g</a:t>
            </a:r>
            <a:r>
              <a:rPr lang="en-US" sz="2800" baseline="-25000" dirty="0"/>
              <a:t>1</a:t>
            </a:r>
          </a:p>
          <a:p>
            <a:endParaRPr lang="en-US" sz="2800" baseline="-25000" dirty="0"/>
          </a:p>
        </p:txBody>
      </p:sp>
      <p:sp>
        <p:nvSpPr>
          <p:cNvPr id="66" name="TextBox 65">
            <a:extLst>
              <a:ext uri="{FF2B5EF4-FFF2-40B4-BE49-F238E27FC236}">
                <a16:creationId xmlns:a16="http://schemas.microsoft.com/office/drawing/2014/main" id="{4D54718E-4B31-34CF-5DE8-771E106B2E57}"/>
              </a:ext>
            </a:extLst>
          </p:cNvPr>
          <p:cNvSpPr txBox="1"/>
          <p:nvPr/>
        </p:nvSpPr>
        <p:spPr>
          <a:xfrm>
            <a:off x="3345252" y="5039934"/>
            <a:ext cx="1675920" cy="954107"/>
          </a:xfrm>
          <a:prstGeom prst="rect">
            <a:avLst/>
          </a:prstGeom>
          <a:noFill/>
        </p:spPr>
        <p:txBody>
          <a:bodyPr wrap="square" rtlCol="0">
            <a:spAutoFit/>
          </a:bodyPr>
          <a:lstStyle/>
          <a:p>
            <a:r>
              <a:rPr lang="en-US" sz="2800" dirty="0"/>
              <a:t>g</a:t>
            </a:r>
            <a:r>
              <a:rPr lang="en-US" sz="2800" baseline="-25000" dirty="0"/>
              <a:t>2 </a:t>
            </a:r>
            <a:r>
              <a:rPr lang="en-US" sz="2800" dirty="0"/>
              <a:t>+ g</a:t>
            </a:r>
            <a:r>
              <a:rPr lang="en-US" sz="2800" baseline="-25000" dirty="0"/>
              <a:t>4</a:t>
            </a:r>
          </a:p>
          <a:p>
            <a:r>
              <a:rPr lang="en-US" sz="2800" dirty="0"/>
              <a:t> </a:t>
            </a:r>
            <a:endParaRPr lang="en-US" sz="2800" baseline="-25000" dirty="0"/>
          </a:p>
        </p:txBody>
      </p:sp>
      <p:sp>
        <p:nvSpPr>
          <p:cNvPr id="70" name="TextBox 69">
            <a:extLst>
              <a:ext uri="{FF2B5EF4-FFF2-40B4-BE49-F238E27FC236}">
                <a16:creationId xmlns:a16="http://schemas.microsoft.com/office/drawing/2014/main" id="{48BDEF7E-15FD-C298-F286-F7358F1C7893}"/>
              </a:ext>
            </a:extLst>
          </p:cNvPr>
          <p:cNvSpPr txBox="1"/>
          <p:nvPr/>
        </p:nvSpPr>
        <p:spPr>
          <a:xfrm>
            <a:off x="4316286" y="3174480"/>
            <a:ext cx="2007476" cy="810478"/>
          </a:xfrm>
          <a:prstGeom prst="rect">
            <a:avLst/>
          </a:prstGeom>
          <a:noFill/>
        </p:spPr>
        <p:txBody>
          <a:bodyPr wrap="square" rtlCol="0">
            <a:spAutoFit/>
          </a:bodyPr>
          <a:lstStyle/>
          <a:p>
            <a:r>
              <a:rPr lang="en-US" sz="2800" dirty="0"/>
              <a:t>g</a:t>
            </a:r>
            <a:r>
              <a:rPr lang="en-US" sz="2800" baseline="-25000" dirty="0"/>
              <a:t>5 </a:t>
            </a:r>
            <a:r>
              <a:rPr lang="en-US" sz="2800" dirty="0"/>
              <a:t>+ g</a:t>
            </a:r>
            <a:r>
              <a:rPr lang="en-US" sz="2800" baseline="-25000" dirty="0"/>
              <a:t>6 </a:t>
            </a:r>
            <a:r>
              <a:rPr lang="en-US" sz="2800" dirty="0"/>
              <a:t>+ g</a:t>
            </a:r>
            <a:r>
              <a:rPr lang="en-US" sz="2800" baseline="-25000" dirty="0"/>
              <a:t>7</a:t>
            </a:r>
          </a:p>
          <a:p>
            <a:endParaRPr lang="en-US" sz="2800" baseline="-25000" dirty="0"/>
          </a:p>
        </p:txBody>
      </p:sp>
      <p:sp>
        <p:nvSpPr>
          <p:cNvPr id="2" name="TextBox 1">
            <a:extLst>
              <a:ext uri="{FF2B5EF4-FFF2-40B4-BE49-F238E27FC236}">
                <a16:creationId xmlns:a16="http://schemas.microsoft.com/office/drawing/2014/main" id="{5F29AA00-B35E-0679-3D6A-9DE620A615E0}"/>
              </a:ext>
            </a:extLst>
          </p:cNvPr>
          <p:cNvSpPr txBox="1"/>
          <p:nvPr/>
        </p:nvSpPr>
        <p:spPr>
          <a:xfrm>
            <a:off x="3250420" y="2000095"/>
            <a:ext cx="1675920" cy="954107"/>
          </a:xfrm>
          <a:prstGeom prst="rect">
            <a:avLst/>
          </a:prstGeom>
          <a:noFill/>
        </p:spPr>
        <p:txBody>
          <a:bodyPr wrap="square" rtlCol="0">
            <a:spAutoFit/>
          </a:bodyPr>
          <a:lstStyle/>
          <a:p>
            <a:r>
              <a:rPr lang="en-US" sz="2800" dirty="0"/>
              <a:t>g</a:t>
            </a:r>
            <a:r>
              <a:rPr lang="en-US" sz="2800" baseline="-25000" dirty="0"/>
              <a:t>3 </a:t>
            </a:r>
            <a:r>
              <a:rPr lang="en-US" sz="2800" dirty="0"/>
              <a:t>+ g</a:t>
            </a:r>
            <a:r>
              <a:rPr lang="en-US" sz="2800" baseline="-25000" dirty="0"/>
              <a:t>5</a:t>
            </a:r>
          </a:p>
          <a:p>
            <a:r>
              <a:rPr lang="en-US" sz="2800" dirty="0"/>
              <a:t> </a:t>
            </a:r>
            <a:endParaRPr lang="en-US" sz="2800" baseline="-25000" dirty="0"/>
          </a:p>
        </p:txBody>
      </p:sp>
      <p:pic>
        <p:nvPicPr>
          <p:cNvPr id="4" name="Picture 3">
            <a:extLst>
              <a:ext uri="{FF2B5EF4-FFF2-40B4-BE49-F238E27FC236}">
                <a16:creationId xmlns:a16="http://schemas.microsoft.com/office/drawing/2014/main" id="{63C29535-5CCA-88F9-4994-200BBA79B8E0}"/>
              </a:ext>
            </a:extLst>
          </p:cNvPr>
          <p:cNvPicPr>
            <a:picLocks noChangeAspect="1"/>
          </p:cNvPicPr>
          <p:nvPr/>
        </p:nvPicPr>
        <p:blipFill>
          <a:blip r:embed="rId2"/>
          <a:stretch>
            <a:fillRect/>
          </a:stretch>
        </p:blipFill>
        <p:spPr>
          <a:xfrm>
            <a:off x="6632951" y="852732"/>
            <a:ext cx="2927083" cy="2307892"/>
          </a:xfrm>
          <a:prstGeom prst="rect">
            <a:avLst/>
          </a:prstGeom>
        </p:spPr>
      </p:pic>
      <p:sp>
        <p:nvSpPr>
          <p:cNvPr id="3" name="Slide Number Placeholder 2">
            <a:extLst>
              <a:ext uri="{FF2B5EF4-FFF2-40B4-BE49-F238E27FC236}">
                <a16:creationId xmlns:a16="http://schemas.microsoft.com/office/drawing/2014/main" id="{F7CABE20-6793-4F21-5549-7075D45DC1A4}"/>
              </a:ext>
            </a:extLst>
          </p:cNvPr>
          <p:cNvSpPr>
            <a:spLocks noGrp="1"/>
          </p:cNvSpPr>
          <p:nvPr>
            <p:ph type="sldNum" sz="quarter" idx="12"/>
          </p:nvPr>
        </p:nvSpPr>
        <p:spPr/>
        <p:txBody>
          <a:bodyPr/>
          <a:lstStyle/>
          <a:p>
            <a:fld id="{4544B810-10F2-2E49-94DF-FA7BE986B6B9}" type="slidenum">
              <a:rPr lang="en-US" smtClean="0"/>
              <a:t>61</a:t>
            </a:fld>
            <a:endParaRPr lang="en-US"/>
          </a:p>
        </p:txBody>
      </p:sp>
    </p:spTree>
    <p:extLst>
      <p:ext uri="{BB962C8B-B14F-4D97-AF65-F5344CB8AC3E}">
        <p14:creationId xmlns:p14="http://schemas.microsoft.com/office/powerpoint/2010/main" val="29158936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8C6C6D-C73D-493A-4BEC-E8F6BBD40163}"/>
            </a:ext>
          </a:extLst>
        </p:cNvPr>
        <p:cNvGrpSpPr/>
        <p:nvPr/>
      </p:nvGrpSpPr>
      <p:grpSpPr>
        <a:xfrm>
          <a:off x="0" y="0"/>
          <a:ext cx="0" cy="0"/>
          <a:chOff x="0" y="0"/>
          <a:chExt cx="0" cy="0"/>
        </a:xfrm>
      </p:grpSpPr>
      <p:sp>
        <p:nvSpPr>
          <p:cNvPr id="15" name="Oval 14">
            <a:extLst>
              <a:ext uri="{FF2B5EF4-FFF2-40B4-BE49-F238E27FC236}">
                <a16:creationId xmlns:a16="http://schemas.microsoft.com/office/drawing/2014/main" id="{E6F20681-9EF9-DDC7-9A19-8647840653A0}"/>
              </a:ext>
            </a:extLst>
          </p:cNvPr>
          <p:cNvSpPr/>
          <p:nvPr/>
        </p:nvSpPr>
        <p:spPr>
          <a:xfrm>
            <a:off x="2337762" y="3834150"/>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5E9D150-89FF-E7D4-C673-32B2259046D8}"/>
              </a:ext>
            </a:extLst>
          </p:cNvPr>
          <p:cNvSpPr/>
          <p:nvPr/>
        </p:nvSpPr>
        <p:spPr>
          <a:xfrm>
            <a:off x="3257920" y="2651950"/>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2B16EFF-5AED-0D8D-C02C-2F7C709EFD64}"/>
              </a:ext>
            </a:extLst>
          </p:cNvPr>
          <p:cNvSpPr/>
          <p:nvPr/>
        </p:nvSpPr>
        <p:spPr>
          <a:xfrm>
            <a:off x="3257919" y="4822336"/>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5367AF8-8C5A-8C5E-7BD4-DCDA879050F6}"/>
              </a:ext>
            </a:extLst>
          </p:cNvPr>
          <p:cNvSpPr/>
          <p:nvPr/>
        </p:nvSpPr>
        <p:spPr>
          <a:xfrm>
            <a:off x="4250622" y="3772097"/>
            <a:ext cx="249381" cy="24938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F8AD542D-840A-887C-CF96-AD263D6B8355}"/>
              </a:ext>
            </a:extLst>
          </p:cNvPr>
          <p:cNvCxnSpPr>
            <a:cxnSpLocks/>
            <a:stCxn id="15" idx="7"/>
            <a:endCxn id="16" idx="3"/>
          </p:cNvCxnSpPr>
          <p:nvPr/>
        </p:nvCxnSpPr>
        <p:spPr>
          <a:xfrm flipV="1">
            <a:off x="2550622" y="2864811"/>
            <a:ext cx="743819" cy="1005860"/>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FDE3379F-EB39-67BE-2542-2F1D3C933C46}"/>
              </a:ext>
            </a:extLst>
          </p:cNvPr>
          <p:cNvCxnSpPr>
            <a:cxnSpLocks/>
            <a:stCxn id="15" idx="5"/>
            <a:endCxn id="17" idx="2"/>
          </p:cNvCxnSpPr>
          <p:nvPr/>
        </p:nvCxnSpPr>
        <p:spPr>
          <a:xfrm>
            <a:off x="2550622" y="4047011"/>
            <a:ext cx="707297" cy="900016"/>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5D1BB826-4129-4E53-E4F3-B52E201650BA}"/>
              </a:ext>
            </a:extLst>
          </p:cNvPr>
          <p:cNvCxnSpPr>
            <a:cxnSpLocks/>
            <a:stCxn id="20" idx="1"/>
          </p:cNvCxnSpPr>
          <p:nvPr/>
        </p:nvCxnSpPr>
        <p:spPr>
          <a:xfrm flipH="1" flipV="1">
            <a:off x="3430601" y="2813054"/>
            <a:ext cx="856542" cy="995564"/>
          </a:xfrm>
          <a:prstGeom prst="line">
            <a:avLst/>
          </a:prstGeom>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249A8C77-8BE4-C3E2-650E-E47749AEFB97}"/>
              </a:ext>
            </a:extLst>
          </p:cNvPr>
          <p:cNvCxnSpPr>
            <a:cxnSpLocks/>
            <a:stCxn id="20" idx="3"/>
          </p:cNvCxnSpPr>
          <p:nvPr/>
        </p:nvCxnSpPr>
        <p:spPr>
          <a:xfrm flipH="1">
            <a:off x="3467121" y="3984958"/>
            <a:ext cx="820022" cy="910312"/>
          </a:xfrm>
          <a:prstGeom prst="line">
            <a:avLst/>
          </a:prstGeom>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0AB0C7E1-8905-35E8-C7B7-8F1F06485C8B}"/>
              </a:ext>
            </a:extLst>
          </p:cNvPr>
          <p:cNvCxnSpPr>
            <a:cxnSpLocks/>
          </p:cNvCxnSpPr>
          <p:nvPr/>
        </p:nvCxnSpPr>
        <p:spPr>
          <a:xfrm flipH="1" flipV="1">
            <a:off x="3366816" y="2864811"/>
            <a:ext cx="7498" cy="1938679"/>
          </a:xfrm>
          <a:prstGeom prst="line">
            <a:avLst/>
          </a:prstGeom>
        </p:spPr>
        <p:style>
          <a:lnRef idx="2">
            <a:schemeClr val="dk1"/>
          </a:lnRef>
          <a:fillRef idx="0">
            <a:schemeClr val="dk1"/>
          </a:fillRef>
          <a:effectRef idx="1">
            <a:schemeClr val="dk1"/>
          </a:effectRef>
          <a:fontRef idx="minor">
            <a:schemeClr val="tx1"/>
          </a:fontRef>
        </p:style>
      </p:cxnSp>
      <p:sp>
        <p:nvSpPr>
          <p:cNvPr id="63" name="TextBox 62">
            <a:extLst>
              <a:ext uri="{FF2B5EF4-FFF2-40B4-BE49-F238E27FC236}">
                <a16:creationId xmlns:a16="http://schemas.microsoft.com/office/drawing/2014/main" id="{9D42DE11-B3A1-B015-B3E0-B69AC4EF3495}"/>
              </a:ext>
            </a:extLst>
          </p:cNvPr>
          <p:cNvSpPr txBox="1"/>
          <p:nvPr/>
        </p:nvSpPr>
        <p:spPr>
          <a:xfrm>
            <a:off x="1345258" y="3300633"/>
            <a:ext cx="1629808" cy="810478"/>
          </a:xfrm>
          <a:prstGeom prst="rect">
            <a:avLst/>
          </a:prstGeom>
          <a:noFill/>
        </p:spPr>
        <p:txBody>
          <a:bodyPr wrap="square" rtlCol="0">
            <a:spAutoFit/>
          </a:bodyPr>
          <a:lstStyle/>
          <a:p>
            <a:r>
              <a:rPr lang="en-US" sz="2800" dirty="0"/>
              <a:t>-</a:t>
            </a:r>
            <a:endParaRPr lang="en-US" sz="2800" baseline="-25000" dirty="0"/>
          </a:p>
          <a:p>
            <a:endParaRPr lang="en-US" sz="2800" baseline="-25000" dirty="0"/>
          </a:p>
        </p:txBody>
      </p:sp>
      <p:sp>
        <p:nvSpPr>
          <p:cNvPr id="66" name="TextBox 65">
            <a:extLst>
              <a:ext uri="{FF2B5EF4-FFF2-40B4-BE49-F238E27FC236}">
                <a16:creationId xmlns:a16="http://schemas.microsoft.com/office/drawing/2014/main" id="{E32AB0F7-9202-DE2C-B307-0F6AF15A0286}"/>
              </a:ext>
            </a:extLst>
          </p:cNvPr>
          <p:cNvSpPr txBox="1"/>
          <p:nvPr/>
        </p:nvSpPr>
        <p:spPr>
          <a:xfrm>
            <a:off x="3345252" y="5039934"/>
            <a:ext cx="1675920" cy="954107"/>
          </a:xfrm>
          <a:prstGeom prst="rect">
            <a:avLst/>
          </a:prstGeom>
          <a:noFill/>
        </p:spPr>
        <p:txBody>
          <a:bodyPr wrap="square" rtlCol="0">
            <a:spAutoFit/>
          </a:bodyPr>
          <a:lstStyle/>
          <a:p>
            <a:r>
              <a:rPr lang="en-US" sz="2800" dirty="0"/>
              <a:t>-</a:t>
            </a:r>
            <a:endParaRPr lang="en-US" sz="2800" baseline="-25000" dirty="0"/>
          </a:p>
          <a:p>
            <a:r>
              <a:rPr lang="en-US" sz="2800" dirty="0"/>
              <a:t> </a:t>
            </a:r>
            <a:endParaRPr lang="en-US" sz="2800" baseline="-25000" dirty="0"/>
          </a:p>
        </p:txBody>
      </p:sp>
      <p:sp>
        <p:nvSpPr>
          <p:cNvPr id="70" name="TextBox 69">
            <a:extLst>
              <a:ext uri="{FF2B5EF4-FFF2-40B4-BE49-F238E27FC236}">
                <a16:creationId xmlns:a16="http://schemas.microsoft.com/office/drawing/2014/main" id="{F03D5B21-EFF2-98EE-EC39-D23F28703F73}"/>
              </a:ext>
            </a:extLst>
          </p:cNvPr>
          <p:cNvSpPr txBox="1"/>
          <p:nvPr/>
        </p:nvSpPr>
        <p:spPr>
          <a:xfrm>
            <a:off x="4316286" y="3174480"/>
            <a:ext cx="2007476" cy="810478"/>
          </a:xfrm>
          <a:prstGeom prst="rect">
            <a:avLst/>
          </a:prstGeom>
          <a:noFill/>
        </p:spPr>
        <p:txBody>
          <a:bodyPr wrap="square" rtlCol="0">
            <a:spAutoFit/>
          </a:bodyPr>
          <a:lstStyle/>
          <a:p>
            <a:r>
              <a:rPr lang="en-US" sz="2800" dirty="0"/>
              <a:t>-</a:t>
            </a:r>
            <a:endParaRPr lang="en-US" sz="2800" baseline="-25000" dirty="0"/>
          </a:p>
          <a:p>
            <a:endParaRPr lang="en-US" sz="2800" baseline="-25000" dirty="0"/>
          </a:p>
        </p:txBody>
      </p:sp>
      <p:sp>
        <p:nvSpPr>
          <p:cNvPr id="2" name="TextBox 1">
            <a:extLst>
              <a:ext uri="{FF2B5EF4-FFF2-40B4-BE49-F238E27FC236}">
                <a16:creationId xmlns:a16="http://schemas.microsoft.com/office/drawing/2014/main" id="{14CB02C9-87A3-F868-6F12-FFE5DDC1066F}"/>
              </a:ext>
            </a:extLst>
          </p:cNvPr>
          <p:cNvSpPr txBox="1"/>
          <p:nvPr/>
        </p:nvSpPr>
        <p:spPr>
          <a:xfrm>
            <a:off x="3250420" y="2000095"/>
            <a:ext cx="1675920" cy="954107"/>
          </a:xfrm>
          <a:prstGeom prst="rect">
            <a:avLst/>
          </a:prstGeom>
          <a:noFill/>
        </p:spPr>
        <p:txBody>
          <a:bodyPr wrap="square" rtlCol="0">
            <a:spAutoFit/>
          </a:bodyPr>
          <a:lstStyle/>
          <a:p>
            <a:r>
              <a:rPr lang="en-US" sz="2800" dirty="0"/>
              <a:t>+</a:t>
            </a:r>
            <a:endParaRPr lang="en-US" sz="2800" baseline="-25000" dirty="0"/>
          </a:p>
          <a:p>
            <a:r>
              <a:rPr lang="en-US" sz="2800" dirty="0"/>
              <a:t> </a:t>
            </a:r>
            <a:endParaRPr lang="en-US" sz="2800" baseline="-25000" dirty="0"/>
          </a:p>
        </p:txBody>
      </p:sp>
      <p:sp>
        <p:nvSpPr>
          <p:cNvPr id="3" name="Slide Number Placeholder 2">
            <a:extLst>
              <a:ext uri="{FF2B5EF4-FFF2-40B4-BE49-F238E27FC236}">
                <a16:creationId xmlns:a16="http://schemas.microsoft.com/office/drawing/2014/main" id="{85CE0EAC-9933-F571-D67E-59277B8697CB}"/>
              </a:ext>
            </a:extLst>
          </p:cNvPr>
          <p:cNvSpPr>
            <a:spLocks noGrp="1"/>
          </p:cNvSpPr>
          <p:nvPr>
            <p:ph type="sldNum" sz="quarter" idx="12"/>
          </p:nvPr>
        </p:nvSpPr>
        <p:spPr/>
        <p:txBody>
          <a:bodyPr/>
          <a:lstStyle/>
          <a:p>
            <a:fld id="{4544B810-10F2-2E49-94DF-FA7BE986B6B9}" type="slidenum">
              <a:rPr lang="en-US" smtClean="0"/>
              <a:t>62</a:t>
            </a:fld>
            <a:endParaRPr lang="en-US"/>
          </a:p>
        </p:txBody>
      </p:sp>
      <p:pic>
        <p:nvPicPr>
          <p:cNvPr id="5" name="Picture 4">
            <a:extLst>
              <a:ext uri="{FF2B5EF4-FFF2-40B4-BE49-F238E27FC236}">
                <a16:creationId xmlns:a16="http://schemas.microsoft.com/office/drawing/2014/main" id="{1CC1AD9F-91F5-E0C0-C841-B90136C3905A}"/>
              </a:ext>
            </a:extLst>
          </p:cNvPr>
          <p:cNvPicPr>
            <a:picLocks noChangeAspect="1"/>
          </p:cNvPicPr>
          <p:nvPr/>
        </p:nvPicPr>
        <p:blipFill>
          <a:blip r:embed="rId3"/>
          <a:stretch>
            <a:fillRect/>
          </a:stretch>
        </p:blipFill>
        <p:spPr>
          <a:xfrm>
            <a:off x="6491778" y="457200"/>
            <a:ext cx="3149600" cy="2971800"/>
          </a:xfrm>
          <a:prstGeom prst="rect">
            <a:avLst/>
          </a:prstGeom>
        </p:spPr>
      </p:pic>
    </p:spTree>
    <p:extLst>
      <p:ext uri="{BB962C8B-B14F-4D97-AF65-F5344CB8AC3E}">
        <p14:creationId xmlns:p14="http://schemas.microsoft.com/office/powerpoint/2010/main" val="937073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2050</TotalTime>
  <Words>2695</Words>
  <Application>Microsoft Macintosh PowerPoint</Application>
  <PresentationFormat>Widescreen</PresentationFormat>
  <Paragraphs>516</Paragraphs>
  <Slides>62</Slides>
  <Notes>8</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-webkit-standard</vt:lpstr>
      <vt:lpstr>Anthropic Sans</vt:lpstr>
      <vt:lpstr>Aptos</vt:lpstr>
      <vt:lpstr>Aptos Display</vt:lpstr>
      <vt:lpstr>Arial</vt:lpstr>
      <vt:lpstr>Cambria Math</vt:lpstr>
      <vt:lpstr>Wingdings</vt:lpstr>
      <vt:lpstr>Office Theme</vt:lpstr>
      <vt:lpstr>Quantum ring all-reduce</vt:lpstr>
      <vt:lpstr>PowerPoint Presentation</vt:lpstr>
      <vt:lpstr>Ring all reduce</vt:lpstr>
      <vt:lpstr>Ring all reduce</vt:lpstr>
      <vt:lpstr>Ring all reduce</vt:lpstr>
      <vt:lpstr>Ring all reduce</vt:lpstr>
      <vt:lpstr>Ring all reduce</vt:lpstr>
      <vt:lpstr>Ring all reduce</vt:lpstr>
      <vt:lpstr>Ring all reduce</vt:lpstr>
      <vt:lpstr>Ring all reduce</vt:lpstr>
      <vt:lpstr>Ring all reduce</vt:lpstr>
      <vt:lpstr>Ring all reduce</vt:lpstr>
      <vt:lpstr>Ring all reduce</vt:lpstr>
      <vt:lpstr>Ring all reduce</vt:lpstr>
      <vt:lpstr>Ring all reduce</vt:lpstr>
      <vt:lpstr>Ring all reduce</vt:lpstr>
      <vt:lpstr>Ring all reduce</vt:lpstr>
      <vt:lpstr>PowerPoint Presentation</vt:lpstr>
      <vt:lpstr>Superdense encoding</vt:lpstr>
      <vt:lpstr>Superdense encoding</vt:lpstr>
      <vt:lpstr>Superdense encoding</vt:lpstr>
      <vt:lpstr>Superdense encoding</vt:lpstr>
      <vt:lpstr>Superdense encoding</vt:lpstr>
      <vt:lpstr>Superdense encoding</vt:lpstr>
      <vt:lpstr>Quantum Ring all reduce </vt:lpstr>
      <vt:lpstr>SMART Quantum Ring all reduce </vt:lpstr>
      <vt:lpstr>SMART Quantum Ring all reduce </vt:lpstr>
      <vt:lpstr>SMART Quantum Ring all reduce </vt:lpstr>
      <vt:lpstr>SMART Quantum Ring all reduce </vt:lpstr>
      <vt:lpstr>PowerPoint Presentation</vt:lpstr>
      <vt:lpstr>Aggregation problems</vt:lpstr>
      <vt:lpstr>Aggregation problems</vt:lpstr>
      <vt:lpstr>Aggregation problems</vt:lpstr>
      <vt:lpstr>Aggregation problems</vt:lpstr>
      <vt:lpstr>Aggregation problems</vt:lpstr>
      <vt:lpstr>Margin conflict detection</vt:lpstr>
      <vt:lpstr>Margin conflict detection</vt:lpstr>
      <vt:lpstr>Margin conflict detection</vt:lpstr>
      <vt:lpstr>Margin conflict detection</vt:lpstr>
      <vt:lpstr>Margin conflict detection</vt:lpstr>
      <vt:lpstr>Margin conflict detection</vt:lpstr>
      <vt:lpstr>Margin conflict detection</vt:lpstr>
      <vt:lpstr>Margin conflict detection</vt:lpstr>
      <vt:lpstr>Margin conflict detection</vt:lpstr>
      <vt:lpstr>Margin conflict detection</vt:lpstr>
      <vt:lpstr>Margin conflict detection</vt:lpstr>
      <vt:lpstr>Margin conflict detection</vt:lpstr>
      <vt:lpstr>WHAT ABOUT EXPONENTIAL ADVANTAGE?</vt:lpstr>
      <vt:lpstr>Relational sign audit</vt:lpstr>
      <vt:lpstr>Relational sign audit</vt:lpstr>
      <vt:lpstr>Relational sign audit</vt:lpstr>
      <vt:lpstr>Relational sign audit</vt:lpstr>
      <vt:lpstr>Relational sign audit</vt:lpstr>
      <vt:lpstr>Relational sign audit</vt:lpstr>
      <vt:lpstr>Relational sign audit</vt:lpstr>
      <vt:lpstr>Relational sign audit</vt:lpstr>
      <vt:lpstr>Relational sign audit</vt:lpstr>
      <vt:lpstr>Conclusions</vt:lpstr>
      <vt:lpstr>Check out the paper!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María Gragera Garcés</dc:creator>
  <cp:lastModifiedBy>María Gragera Garcés</cp:lastModifiedBy>
  <cp:revision>13</cp:revision>
  <dcterms:created xsi:type="dcterms:W3CDTF">2026-06-21T11:58:51Z</dcterms:created>
  <dcterms:modified xsi:type="dcterms:W3CDTF">2026-06-24T06:00:04Z</dcterms:modified>
</cp:coreProperties>
</file>