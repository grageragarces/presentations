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7" r:id="rId2"/>
    <p:sldId id="300" r:id="rId3"/>
    <p:sldId id="257" r:id="rId4"/>
    <p:sldId id="303" r:id="rId5"/>
    <p:sldId id="315" r:id="rId6"/>
    <p:sldId id="301" r:id="rId7"/>
    <p:sldId id="306" r:id="rId8"/>
    <p:sldId id="304" r:id="rId9"/>
    <p:sldId id="302" r:id="rId10"/>
    <p:sldId id="305" r:id="rId11"/>
    <p:sldId id="309" r:id="rId12"/>
    <p:sldId id="310" r:id="rId13"/>
    <p:sldId id="308" r:id="rId14"/>
    <p:sldId id="307" r:id="rId15"/>
    <p:sldId id="285" r:id="rId16"/>
    <p:sldId id="286" r:id="rId17"/>
    <p:sldId id="287" r:id="rId18"/>
    <p:sldId id="295" r:id="rId19"/>
    <p:sldId id="312" r:id="rId20"/>
    <p:sldId id="313" r:id="rId21"/>
    <p:sldId id="311" r:id="rId22"/>
    <p:sldId id="297" r:id="rId23"/>
    <p:sldId id="314" r:id="rId24"/>
    <p:sldId id="316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950"/>
    <p:restoredTop sz="94638"/>
  </p:normalViewPr>
  <p:slideViewPr>
    <p:cSldViewPr snapToGrid="0">
      <p:cViewPr varScale="1">
        <p:scale>
          <a:sx n="104" d="100"/>
          <a:sy n="104" d="100"/>
        </p:scale>
        <p:origin x="22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C4C5D-9A57-5644-CE56-9B76F21412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9BDE9-1EFA-605D-A8E1-E56E44D5F1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DB866-9A45-E94E-9D5B-4F03288BEA9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9AA61-52E0-ACBE-743A-9B65D8DB6C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22522-EAEE-2F4B-7F7F-9473405750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9E2A-0B70-4943-A0BB-D7A8F922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254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E6ECA-215F-3B4E-994A-6825B7558166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A99E7-EBDD-D846-A795-EC52E03B7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593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Fx</a:t>
            </a:r>
            <a:r>
              <a:rPr lang="en-US" dirty="0"/>
              <a:t> slide 4</a:t>
            </a:r>
          </a:p>
        </p:txBody>
      </p:sp>
    </p:spTree>
    <p:extLst>
      <p:ext uri="{BB962C8B-B14F-4D97-AF65-F5344CB8AC3E}">
        <p14:creationId xmlns:p14="http://schemas.microsoft.com/office/powerpoint/2010/main" val="894344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318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5E1CA-E1E1-15E1-CE6A-43CA985E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4D5A28-B53A-076D-F40D-FAAB16BF3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ADE48-29B6-17FE-59E7-BFD455EFE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203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4C45-5913-2735-25B6-CB3C8BB13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326E4-E794-6180-D66C-835D2B5D0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B8B33-6C69-20FF-314B-17DBFB039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675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2326-871D-9E2E-5BAC-176B69E89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24DBF-04DF-2F91-480B-380DB5F08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373C2-AB25-2AB4-9689-B2C5991B3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762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C3DF-0779-A26F-6402-E7D2B3DED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ADEFD-AB36-FBB9-BA91-2EA16016A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AEF6E-A572-3092-0491-B9B27D0E2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92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9FD9-FA4F-FA49-C648-0B3D48C02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6BFFB-C3C8-6439-3336-68851DE33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4B5F8-FAB6-8F48-1F91-7F899BABF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92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76609-7F9A-8D0F-D4EB-C71A06F64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2C262-EC12-D936-CFEF-D67680A0C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87907-1AA2-798C-5A45-5B4E8E51F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685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1684-5E1A-A8D8-7EA2-64950B8D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8DC03-8C52-67A9-7238-206BD2C33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61ABA-037D-6113-A043-CD41C8DCD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361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19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10D0E-9CBB-9204-EEBA-BDFC9A941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E8C0F-1515-80C0-B162-6892C9501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2C5D2-3BDB-8115-FB33-E24A0E24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2372C-92B4-FA4B-9617-9234D5D2992F}" type="datetime1">
              <a:rPr lang="en-GB" smtClean="0"/>
              <a:t>24/06/2026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7438-A537-3768-F210-92011F9E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D80CE-77A6-49D3-F6B8-FF61CCA3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73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9C1F-FD78-DC6E-0DB5-2B86FFF3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4BA6A-0B94-D486-44FF-ED997F44A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19599-4391-AE79-2180-7E3420753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AE0C5-5E33-1A4B-93CB-8AB5AE420097}" type="datetime1">
              <a:rPr lang="en-GB" smtClean="0"/>
              <a:t>24/06/2026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0D381-4BFF-B290-8CE0-013D2EE4D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55691-D644-914A-A337-EBA7E795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6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0AEB-C0E3-0BB0-0363-43B08BB4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F33DE-AF9D-991D-28BB-D5C0A5FD4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859F6-02C7-2225-255D-6DB210155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BF96-09A8-F94F-AE43-8267F1C99E19}" type="datetime1">
              <a:rPr lang="en-GB" smtClean="0"/>
              <a:t>24/06/2026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8EEE5-EE47-5734-7331-FF2C024F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44C7F-6457-4B5B-351B-CEAEAED6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19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BB0D1-B433-12E5-560E-BF79A7BC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385D4-D8E9-CF08-B96A-4A2EF53EB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FDFEE-07DD-00C0-9929-9E8B40174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88F5C-75F4-5607-8D34-B73A3179C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21A6-B28D-C147-8618-1A71598E01F1}" type="datetime1">
              <a:rPr lang="en-GB" smtClean="0"/>
              <a:t>24/06/2026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530F6-1348-6DC3-FAEF-F363E3D7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955B3-203E-5F8C-3A5F-E515C362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9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8E2C-C88D-9F1F-0159-F0E678F1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305E8-D6E6-55F4-F1A8-7A287EF86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C6656-BDE7-36C2-51E2-73256D36A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AAA580-1872-6827-5EA2-E7183C57B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06080-485A-A4A2-FB52-4CBA75C14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110807-1219-44EA-E5CA-10D981D5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A1B19-8CBB-3A48-BD5E-829483AEDFEB}" type="datetime1">
              <a:rPr lang="en-GB" smtClean="0"/>
              <a:t>24/06/2026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FE963-C416-EAB4-4062-66E8ECCF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FBF298-3364-D988-32D4-27C5928A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3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797F-3619-F71B-C576-B4DEAAD6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C7487B-3561-200A-853D-546ED1D8A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99B5-04D4-1340-B6FA-5E855A714189}" type="datetime1">
              <a:rPr lang="en-GB" smtClean="0"/>
              <a:t>24/06/2026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14AC4-41A9-783E-121C-E07EB59E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FEB1-A44E-12E0-C625-66E95AD8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E5285-2A00-7BE1-EF50-B90EE059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F31D-AFBA-E74B-B920-EC93C2110ED3}" type="datetime1">
              <a:rPr lang="en-GB" smtClean="0"/>
              <a:t>24/06/2026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3A9D1-BD7E-5BA8-FF7B-1431F496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089F5-49CA-E253-7F4A-F3305844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2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4201-6950-FB17-EC30-733B97550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8AFA8-32E5-EF51-CAC7-5E5C7A184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4C9D9-F454-01C1-6265-0FE4E0059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C5176-C1BF-D5BE-058D-06D35108D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2031-341E-2540-9153-8387321BA8C9}" type="datetime1">
              <a:rPr lang="en-GB" smtClean="0"/>
              <a:t>24/06/2026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503D3-12E2-C3C0-A956-D63E2EFC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E0045-19F5-9F74-881E-FA4F510F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3004-E3B4-D96E-0E3A-4E8330A8C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1A9C43-2C97-6A9F-265F-E9FF18E2F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1DEC8-E0D0-5CEA-6630-C874FADB2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621B6-8BB1-F5B1-DDBC-F614D7B4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EFE8C-3D4F-584E-941F-0B5E14B8B47A}" type="datetime1">
              <a:rPr lang="en-GB" smtClean="0"/>
              <a:t>24/06/2026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FD0D5-C9F3-5EC5-2A79-7FE22C3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D2055-94BF-0DB3-1C1C-5D864C0EB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2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27BAD-140F-D1BD-2A67-14EAEDA44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3A12F-0212-2FA1-B23C-7F7F882A9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89D74-4114-C5A2-E92E-A7F53156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0AA3C-10D0-1C4C-8850-DEE7B5B3E24F}" type="datetime1">
              <a:rPr lang="en-GB" smtClean="0"/>
              <a:t>24/06/2026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BEBF4-CA6C-5F12-8C2A-4E6418A7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F8DD4-7DDB-4141-FC7B-138A5EDC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76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AEB2B-8265-5CFC-9B11-54FF61373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3F660-D096-B7C1-4626-826DB7ED6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B63C2-E133-5E97-BAAB-4E50BC3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1013-5B23-CA4C-91A2-E70E5DE70971}" type="datetime1">
              <a:rPr lang="en-GB" smtClean="0"/>
              <a:t>24/06/2026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D1A0E-32AB-9BEF-3E27-356AD197F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3D20-E861-109C-F20E-319087DB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1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48A13-965E-3D38-74B9-E7398688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042C6-959A-0788-5942-F62B0754E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E2A2E-CE88-EA30-3AE4-EEC9747ED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3E80F-8A32-3A45-A1EE-F968C4C88AF1}" type="datetime1">
              <a:rPr lang="en-GB" smtClean="0"/>
              <a:t>24/06/2026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BA174-E501-9D2E-3E1F-A3D186556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33A0C-EBCA-4427-ECF8-CE549B5F4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2DD8B-5310-9A43-B784-DB6B21A7B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4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hyperlink" Target="mailto:m.gragera.garces@ed.ac.uk" TargetMode="External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2FE92-BBA5-F28D-805E-92DCF516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a printed circuit board">
            <a:extLst>
              <a:ext uri="{FF2B5EF4-FFF2-40B4-BE49-F238E27FC236}">
                <a16:creationId xmlns:a16="http://schemas.microsoft.com/office/drawing/2014/main" id="{DBB8B4E2-5C67-FEF5-CF67-2A40D0AB05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rcRect t="8391" r="1468" b="8391"/>
          <a:stretch>
            <a:fillRect/>
          </a:stretch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6667450-CD11-0786-C89B-C3EBC88B62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Maria Gragera Garces</a:t>
            </a:r>
          </a:p>
          <a:p>
            <a:r>
              <a:rPr lang="en-GB" sz="1800" dirty="0"/>
              <a:t>Quantum Software Lab, University of Edinburgh</a:t>
            </a:r>
          </a:p>
          <a:p>
            <a:r>
              <a:rPr lang="en-GB" sz="1800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m.gragera.garces@ed.ac.</a:t>
            </a:r>
            <a:r>
              <a:rPr lang="en-GB" sz="1800" dirty="0">
                <a:solidFill>
                  <a:schemeClr val="accent3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uk</a:t>
            </a:r>
            <a:endParaRPr lang="en-GB" sz="18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GB" sz="1800" b="1" dirty="0"/>
              <a:t>ICDCS </a:t>
            </a:r>
            <a:r>
              <a:rPr lang="en-GB" sz="1800" b="1" dirty="0" err="1"/>
              <a:t>DisQIC</a:t>
            </a:r>
            <a:r>
              <a:rPr lang="en-GB" sz="1800" b="1" dirty="0"/>
              <a:t> 2026</a:t>
            </a:r>
          </a:p>
          <a:p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C0B59C-ABD5-1417-B15E-ECDDFADD1C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898311" y="2103025"/>
            <a:ext cx="10552133" cy="1236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61874" tIns="39675" rIns="0" bIns="84111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4000" b="1" dirty="0"/>
              <a:t>On the Distortion of Partitioning Performance by</a:t>
            </a:r>
            <a:br>
              <a:rPr lang="en-GB" sz="4000" b="1" dirty="0"/>
            </a:br>
            <a:r>
              <a:rPr lang="en-GB" sz="4000" b="1" dirty="0"/>
              <a:t>Random Quantum Circuits</a:t>
            </a:r>
            <a:endParaRPr lang="en-GB" sz="2800" b="1" dirty="0"/>
          </a:p>
        </p:txBody>
      </p:sp>
      <p:pic>
        <p:nvPicPr>
          <p:cNvPr id="6" name="Graphic 5" descr="Email outline">
            <a:extLst>
              <a:ext uri="{FF2B5EF4-FFF2-40B4-BE49-F238E27FC236}">
                <a16:creationId xmlns:a16="http://schemas.microsoft.com/office/drawing/2014/main" id="{85C4B8A6-0DA2-F4FF-4171-4F01189A6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5635" y="4267199"/>
            <a:ext cx="416719" cy="416719"/>
          </a:xfrm>
          <a:prstGeom prst="rect">
            <a:avLst/>
          </a:prstGeom>
        </p:spPr>
      </p:pic>
      <p:pic>
        <p:nvPicPr>
          <p:cNvPr id="1028" name="Picture 4" descr="The University of Edinburgh | Edinburgh">
            <a:extLst>
              <a:ext uri="{FF2B5EF4-FFF2-40B4-BE49-F238E27FC236}">
                <a16:creationId xmlns:a16="http://schemas.microsoft.com/office/drawing/2014/main" id="{EF582340-E474-8DF1-B2F0-0A20D6FC6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556" y1="29778" x2="44000" y2="37778"/>
                        <a14:foregroundMark x1="20889" y1="51556" x2="20889" y2="43111"/>
                        <a14:foregroundMark x1="76444" y1="43111" x2="76444" y2="49778"/>
                        <a14:foregroundMark x1="52889" y1="35111" x2="62222" y2="28000"/>
                        <a14:foregroundMark x1="36889" y1="73778" x2="62667" y2="41333"/>
                        <a14:foregroundMark x1="62667" y1="41333" x2="36000" y2="45778"/>
                        <a14:foregroundMark x1="36000" y1="45333" x2="36000" y2="56444"/>
                        <a14:foregroundMark x1="64444" y1="39111" x2="64000" y2="57778"/>
                        <a14:foregroundMark x1="50667" y1="82222" x2="58667" y2="78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014" y="235915"/>
            <a:ext cx="1171249" cy="117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Quantum Software Lab · GitHub">
            <a:extLst>
              <a:ext uri="{FF2B5EF4-FFF2-40B4-BE49-F238E27FC236}">
                <a16:creationId xmlns:a16="http://schemas.microsoft.com/office/drawing/2014/main" id="{EF4BCCFE-CA55-6F54-FB86-45DA70B6D8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8000" b="65500" l="5500" r="95500">
                        <a14:foregroundMark x1="5500" y1="50500" x2="5500" y2="50500"/>
                        <a14:foregroundMark x1="40500" y1="45500" x2="40500" y2="45500"/>
                        <a14:foregroundMark x1="26000" y1="61500" x2="26000" y2="61500"/>
                        <a14:foregroundMark x1="7500" y1="54000" x2="7500" y2="54000"/>
                        <a14:foregroundMark x1="46500" y1="51000" x2="46500" y2="51000"/>
                        <a14:foregroundMark x1="65500" y1="49000" x2="65500" y2="49000"/>
                        <a14:foregroundMark x1="93000" y1="49500" x2="93000" y2="49500"/>
                        <a14:foregroundMark x1="95500" y1="51000" x2="95500" y2="51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813" b="30875"/>
          <a:stretch>
            <a:fillRect/>
          </a:stretch>
        </p:blipFill>
        <p:spPr bwMode="auto">
          <a:xfrm>
            <a:off x="8975069" y="534467"/>
            <a:ext cx="1613560" cy="55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699EA-3707-20B5-DECD-05F8C3F1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66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D57B-1DC3-239C-14F5-4C2BFCE7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22F5-F3D2-7D33-3F46-C9C47B795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463F715-2CF5-C3FC-EF24-BE4C7BF1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765AA-D526-AD79-5062-863DE5B36F3C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67177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4F88-DD65-CD40-E49E-2B3891F3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Quantum Computing (DQC)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DBC3F-9988-DFA0-FD3C-813996F4A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40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Multiple quantum computers interconnected</a:t>
            </a:r>
            <a:r>
              <a:rPr lang="en-US" dirty="0">
                <a:solidFill>
                  <a:srgbClr val="7030A0"/>
                </a:solidFill>
              </a:rPr>
              <a:t>*</a:t>
            </a:r>
            <a:r>
              <a:rPr lang="en-US" dirty="0"/>
              <a:t> to perform a joint computation larger than their individual capacities.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D3D6E-883A-6B1E-FB37-DDB8DF30A299}"/>
              </a:ext>
            </a:extLst>
          </p:cNvPr>
          <p:cNvSpPr txBox="1"/>
          <p:nvPr/>
        </p:nvSpPr>
        <p:spPr>
          <a:xfrm>
            <a:off x="7742663" y="15243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*via a quantum network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C02A74-5B7F-6041-98F2-9134A07AD01E}"/>
              </a:ext>
            </a:extLst>
          </p:cNvPr>
          <p:cNvGrpSpPr/>
          <p:nvPr/>
        </p:nvGrpSpPr>
        <p:grpSpPr>
          <a:xfrm>
            <a:off x="1025913" y="3052899"/>
            <a:ext cx="10515600" cy="2889811"/>
            <a:chOff x="2198254" y="3033612"/>
            <a:chExt cx="8097390" cy="206681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FCC5B64-2A71-7239-3360-4B5ED5322E58}"/>
                </a:ext>
              </a:extLst>
            </p:cNvPr>
            <p:cNvGrpSpPr/>
            <p:nvPr/>
          </p:nvGrpSpPr>
          <p:grpSpPr>
            <a:xfrm>
              <a:off x="2488996" y="3033612"/>
              <a:ext cx="7052168" cy="1603043"/>
              <a:chOff x="2442814" y="3560084"/>
              <a:chExt cx="6441916" cy="1196517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6E3D131B-1548-3FA7-669F-28BCF93562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2669" t="4325" r="20700" b="5410"/>
              <a:stretch>
                <a:fillRect/>
              </a:stretch>
            </p:blipFill>
            <p:spPr>
              <a:xfrm>
                <a:off x="4880232" y="3560084"/>
                <a:ext cx="4004498" cy="1196517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3AD5FE41-EDAC-629F-F478-8DC839D1C2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83" t="9158" r="76045" b="5297"/>
              <a:stretch>
                <a:fillRect/>
              </a:stretch>
            </p:blipFill>
            <p:spPr>
              <a:xfrm>
                <a:off x="2442814" y="3591363"/>
                <a:ext cx="2489405" cy="1133961"/>
              </a:xfrm>
              <a:prstGeom prst="rect">
                <a:avLst/>
              </a:prstGeom>
            </p:spPr>
          </p:pic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236DDA9-FB21-113C-5ED3-94CB9F98CB51}"/>
                </a:ext>
              </a:extLst>
            </p:cNvPr>
            <p:cNvSpPr txBox="1"/>
            <p:nvPr/>
          </p:nvSpPr>
          <p:spPr>
            <a:xfrm>
              <a:off x="2198254" y="4636655"/>
              <a:ext cx="20607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Large computation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9A3FE74-88B5-3ECA-4AD4-454C9F0E8E41}"/>
                </a:ext>
              </a:extLst>
            </p:cNvPr>
            <p:cNvSpPr txBox="1"/>
            <p:nvPr/>
          </p:nvSpPr>
          <p:spPr>
            <a:xfrm>
              <a:off x="5319154" y="4636655"/>
              <a:ext cx="1335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Abstraction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A8FC6FF-E59E-1A25-9699-B4F11E21ED80}"/>
                </a:ext>
              </a:extLst>
            </p:cNvPr>
            <p:cNvSpPr txBox="1"/>
            <p:nvPr/>
          </p:nvSpPr>
          <p:spPr>
            <a:xfrm>
              <a:off x="7826827" y="4638163"/>
              <a:ext cx="2468817" cy="462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Partition for Assignment</a:t>
              </a:r>
            </a:p>
            <a:p>
              <a:r>
                <a:rPr lang="en-US" dirty="0"/>
                <a:t>to QPUs in the network</a:t>
              </a: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B41B0F-D5FC-1ED0-829B-6CE05DF89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9B6FF-7E82-6E6F-1919-183543817117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489875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2669-8D21-2FAB-3F82-8908A56F5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5A8F-803F-250F-E112-26F913A1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abstraction?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82087-C43D-A5EE-6654-1042C520B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766" y="0"/>
            <a:ext cx="4092210" cy="18674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32DA14-6F94-94D5-8730-1DCAD0A58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7406"/>
            <a:ext cx="10515600" cy="22680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Qubit -&gt; vertex, Gate -&gt; Hyperedge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93C1581-9AF0-57D6-5E69-B1877D06C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2ACD7-6D89-B872-1C4A-DC0D8F64C099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92463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2D3A5-283B-1053-98D1-00EFA673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83A2-F9C1-47AE-E348-82477DC42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abstraction?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F1033-CFD3-3A9E-9908-7861E0DD3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766" y="0"/>
            <a:ext cx="4092210" cy="18674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7B5683-B142-1F28-24F8-43EE1C9E4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7406"/>
            <a:ext cx="10515600" cy="22680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Qubit -&gt; vertex, Gate -&gt; Hyperedge</a:t>
            </a:r>
          </a:p>
          <a:p>
            <a:pPr marL="0" indent="0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</a:rPr>
              <a:t>AFTER PARTITIONING</a:t>
            </a:r>
          </a:p>
          <a:p>
            <a:pPr marL="0" indent="0">
              <a:buNone/>
            </a:pPr>
            <a:r>
              <a:rPr lang="en-US" sz="2400" dirty="0"/>
              <a:t>Non local gates (hyperedges across partitions) are implemented through Teleportation or CAT primitives: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4960D6-B7B4-8F89-DF45-14D0C490C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433" y="3646859"/>
            <a:ext cx="3288827" cy="24447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824A6F-BD4D-1310-A1D0-3F676AF9B721}"/>
              </a:ext>
            </a:extLst>
          </p:cNvPr>
          <p:cNvSpPr txBox="1"/>
          <p:nvPr/>
        </p:nvSpPr>
        <p:spPr>
          <a:xfrm>
            <a:off x="4721658" y="6169709"/>
            <a:ext cx="4234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Non-local TP CNOT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Figure taken from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arxiv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2207.11674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58C71E-A783-F8DE-BB8A-EB1CA315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4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31C4-3877-DAD2-6A1D-3B7EAA3AB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B5701-3FAF-4D33-B0FD-8D8ED9E7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we partition?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17C9D-0D64-77CD-46D2-D26054E08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8294" y="1543469"/>
            <a:ext cx="10515600" cy="8740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Hypergraph partitioning solvers.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46D7C9-40ED-8649-1F3D-4C86047A3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0"/>
            <a:ext cx="2876550" cy="1352550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A7BE2B4-E9BB-5B6A-7FDF-0EB41302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9A1E5-8379-3937-20D0-3EA4E5875BA3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939824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260E-DB38-1CC8-B966-89E88A55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96A0-E20C-E38B-0ACD-936FE09C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we partition?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EB13D-DFC8-B626-D64B-58BE9ECFB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8294" y="1543469"/>
            <a:ext cx="10515600" cy="8740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Hypergraph partitioning solvers.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79E28-1960-AAD4-9ED5-A22D331401E4}"/>
              </a:ext>
            </a:extLst>
          </p:cNvPr>
          <p:cNvSpPr txBox="1"/>
          <p:nvPr/>
        </p:nvSpPr>
        <p:spPr>
          <a:xfrm>
            <a:off x="3068007" y="6460842"/>
            <a:ext cx="456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Figure taken from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kahypar.org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86E25D-9E4C-7D98-5F7E-C953EC3DA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0"/>
            <a:ext cx="2876550" cy="13525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12C010-34FA-ED20-7018-EE05C85141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94" r="51942" b="4837"/>
          <a:stretch>
            <a:fillRect/>
          </a:stretch>
        </p:blipFill>
        <p:spPr>
          <a:xfrm>
            <a:off x="3096127" y="2530894"/>
            <a:ext cx="5769967" cy="3929948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36EC8E0-160F-E864-1C29-BED71AC3F8E0}"/>
              </a:ext>
            </a:extLst>
          </p:cNvPr>
          <p:cNvSpPr txBox="1">
            <a:spLocks/>
          </p:cNvSpPr>
          <p:nvPr/>
        </p:nvSpPr>
        <p:spPr>
          <a:xfrm>
            <a:off x="5143336" y="1980485"/>
            <a:ext cx="2599765" cy="4465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chemeClr val="accent3"/>
                </a:solidFill>
              </a:rPr>
              <a:t>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012EE-DB14-3113-0AF8-2A690852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94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78037-B83C-45D5-A65B-B390EE91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F1B9-90B6-64D4-7E05-D1BDB90E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we partition?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A6CB-72CE-D42C-4754-0CC7B4F0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8294" y="1416745"/>
            <a:ext cx="10515600" cy="8740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Hypergraph partitioning solvers.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D3734-FE87-E4C5-25D0-8BDED54B8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282" t="4494" b="4837"/>
          <a:stretch>
            <a:fillRect/>
          </a:stretch>
        </p:blipFill>
        <p:spPr>
          <a:xfrm>
            <a:off x="2624046" y="1900179"/>
            <a:ext cx="7205753" cy="45606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D804D7-A715-4572-CC23-CD34BBA1864B}"/>
              </a:ext>
            </a:extLst>
          </p:cNvPr>
          <p:cNvSpPr txBox="1"/>
          <p:nvPr/>
        </p:nvSpPr>
        <p:spPr>
          <a:xfrm>
            <a:off x="3068007" y="6460842"/>
            <a:ext cx="456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Figure taken from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kahypar.org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C7DA5C0-4E65-E6DA-71A2-92B04791F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50" y="0"/>
            <a:ext cx="2876550" cy="13525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ACA7D4-A8CA-9586-14D2-8A64FDDD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70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4FFC-B1B9-3652-3765-7EF68E7D0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4190-7261-67EB-A18B-57172A5B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are partitioners evaluated?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61F153-9DB4-DFA0-CBFC-7982104B6C3A}"/>
              </a:ext>
            </a:extLst>
          </p:cNvPr>
          <p:cNvCxnSpPr>
            <a:cxnSpLocks/>
          </p:cNvCxnSpPr>
          <p:nvPr/>
        </p:nvCxnSpPr>
        <p:spPr>
          <a:xfrm flipV="1">
            <a:off x="2528047" y="2514600"/>
            <a:ext cx="0" cy="252804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634CAD-7FF5-2F4A-B06F-505944128B4C}"/>
              </a:ext>
            </a:extLst>
          </p:cNvPr>
          <p:cNvCxnSpPr>
            <a:cxnSpLocks/>
          </p:cNvCxnSpPr>
          <p:nvPr/>
        </p:nvCxnSpPr>
        <p:spPr>
          <a:xfrm>
            <a:off x="2528047" y="5042647"/>
            <a:ext cx="298524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AEFB3A4-C315-9A10-F520-5E9E8D571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11" y="1988384"/>
            <a:ext cx="1878102" cy="8740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EPR pairs consumed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722023C-ECC5-1E50-9C02-321D0568C389}"/>
              </a:ext>
            </a:extLst>
          </p:cNvPr>
          <p:cNvSpPr txBox="1">
            <a:spLocks/>
          </p:cNvSpPr>
          <p:nvPr/>
        </p:nvSpPr>
        <p:spPr>
          <a:xfrm>
            <a:off x="3854823" y="5193267"/>
            <a:ext cx="1878102" cy="874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Number of qubits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0DBFA60-C639-A801-E5A3-6027161BD727}"/>
              </a:ext>
            </a:extLst>
          </p:cNvPr>
          <p:cNvSpPr txBox="1">
            <a:spLocks/>
          </p:cNvSpPr>
          <p:nvPr/>
        </p:nvSpPr>
        <p:spPr>
          <a:xfrm>
            <a:off x="3953435" y="2862416"/>
            <a:ext cx="58270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Do we beat state of the art?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8713718-5EFC-AD26-0C17-9FE6631F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7AB6DB-D958-69E1-9472-ADD3C926F03C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96763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B79E-9C11-EC06-2074-EC59A669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B59D9-0C1F-35F6-9D92-32F20AE8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are partitioners evaluated?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844FA6-3437-58AC-72F3-5D4666FAD1D7}"/>
              </a:ext>
            </a:extLst>
          </p:cNvPr>
          <p:cNvCxnSpPr>
            <a:cxnSpLocks/>
          </p:cNvCxnSpPr>
          <p:nvPr/>
        </p:nvCxnSpPr>
        <p:spPr>
          <a:xfrm flipV="1">
            <a:off x="2528047" y="2514600"/>
            <a:ext cx="0" cy="252804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EAB4D4-F09D-8C2B-37D5-5D5CCC3988B6}"/>
              </a:ext>
            </a:extLst>
          </p:cNvPr>
          <p:cNvCxnSpPr>
            <a:cxnSpLocks/>
          </p:cNvCxnSpPr>
          <p:nvPr/>
        </p:nvCxnSpPr>
        <p:spPr>
          <a:xfrm>
            <a:off x="2528047" y="5042647"/>
            <a:ext cx="298524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A7FC550-9346-3FE6-BA03-AF4E54BAB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11" y="1988384"/>
            <a:ext cx="1878102" cy="8740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EPR pairs consumed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407047D-91F9-8122-B2B5-FE9AC0406A73}"/>
              </a:ext>
            </a:extLst>
          </p:cNvPr>
          <p:cNvSpPr txBox="1">
            <a:spLocks/>
          </p:cNvSpPr>
          <p:nvPr/>
        </p:nvSpPr>
        <p:spPr>
          <a:xfrm>
            <a:off x="3854823" y="5193267"/>
            <a:ext cx="1878102" cy="874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Number of qubits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31ABEFA-E442-10D9-735C-9662ABD49B2F}"/>
              </a:ext>
            </a:extLst>
          </p:cNvPr>
          <p:cNvSpPr txBox="1">
            <a:spLocks/>
          </p:cNvSpPr>
          <p:nvPr/>
        </p:nvSpPr>
        <p:spPr>
          <a:xfrm>
            <a:off x="3953435" y="2862416"/>
            <a:ext cx="58270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Do we beat state of the art?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B2C387FF-1C5A-461B-31C3-0736127FDA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05918" y="3899646"/>
            <a:ext cx="1156450" cy="1129556"/>
          </a:xfrm>
          <a:prstGeom prst="curvedConnector3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E07683DF-9DE3-A678-958D-7946DD29844D}"/>
              </a:ext>
            </a:extLst>
          </p:cNvPr>
          <p:cNvSpPr txBox="1">
            <a:spLocks/>
          </p:cNvSpPr>
          <p:nvPr/>
        </p:nvSpPr>
        <p:spPr>
          <a:xfrm>
            <a:off x="6364946" y="4967501"/>
            <a:ext cx="50919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chemeClr val="accent5"/>
                </a:solidFill>
              </a:rPr>
              <a:t>What circuits we ask this question over matters.</a:t>
            </a:r>
            <a:endParaRPr lang="en-US" sz="3200" dirty="0">
              <a:solidFill>
                <a:schemeClr val="accent5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D1E2CD-BBCF-C52E-FB52-620AAEC5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53CD7-B6D6-457E-FFEC-C6FAA8A71A71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556293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9C6BA-9999-45CA-7E7A-6550E1D7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54C1-E7B6-3571-5EB3-46242E90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28" y="1367724"/>
            <a:ext cx="11116235" cy="1325563"/>
          </a:xfrm>
        </p:spPr>
        <p:txBody>
          <a:bodyPr>
            <a:noAutofit/>
          </a:bodyPr>
          <a:lstStyle/>
          <a:p>
            <a:r>
              <a:rPr lang="en-US" sz="2800" dirty="0"/>
              <a:t>The structure of partitioned hypergraphs will lead to some partitioning techniques being better than others over those structures.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F71060-D6D8-B63C-D0F8-5F506B997AB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50451-D5B0-3E2D-5E67-18E26255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1CE95-4869-37C9-5D7E-A6324E2463D4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79005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32F2F-FA38-171E-3D33-594E0A5D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F8C0-6D4C-0503-A968-0768E026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28" y="1367724"/>
            <a:ext cx="11116235" cy="1325563"/>
          </a:xfrm>
        </p:spPr>
        <p:txBody>
          <a:bodyPr>
            <a:noAutofit/>
          </a:bodyPr>
          <a:lstStyle/>
          <a:p>
            <a:r>
              <a:rPr lang="en-US" sz="2800" dirty="0"/>
              <a:t>The structure of partitioned hypergraphs will lead to some partitioning techniques being better than others over those structures.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9F982E4-6AB9-91A8-D86C-3DDE0C6FD16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Theory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48D0F89-45B1-5B7E-B1DC-A55207334BA3}"/>
              </a:ext>
            </a:extLst>
          </p:cNvPr>
          <p:cNvCxnSpPr>
            <a:cxnSpLocks/>
          </p:cNvCxnSpPr>
          <p:nvPr/>
        </p:nvCxnSpPr>
        <p:spPr>
          <a:xfrm>
            <a:off x="5916706" y="2693287"/>
            <a:ext cx="0" cy="162321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1991452-B431-0216-73B2-69F304F2EE0A}"/>
              </a:ext>
            </a:extLst>
          </p:cNvPr>
          <p:cNvSpPr txBox="1">
            <a:spLocks/>
          </p:cNvSpPr>
          <p:nvPr/>
        </p:nvSpPr>
        <p:spPr>
          <a:xfrm>
            <a:off x="717177" y="4316506"/>
            <a:ext cx="111162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Choosing representative baselines (circuits/hypergraphs) that represent real algorithms is important for evaluating partitioners?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ED0CD8-5D8B-1B1C-7CE2-F0C425B1CFB6}"/>
              </a:ext>
            </a:extLst>
          </p:cNvPr>
          <p:cNvSpPr txBox="1">
            <a:spLocks/>
          </p:cNvSpPr>
          <p:nvPr/>
        </p:nvSpPr>
        <p:spPr>
          <a:xfrm>
            <a:off x="6495913" y="5271079"/>
            <a:ext cx="4648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3200" b="1" dirty="0">
                <a:solidFill>
                  <a:schemeClr val="accent2"/>
                </a:solidFill>
              </a:rPr>
              <a:t>Yet…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5CC28-8D2A-1F35-4851-1608E148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AE971-5BEC-2CEF-D60C-A03C59093C65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12758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D6CD22-A66E-158A-5C70-92AE7E348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57" y="4431927"/>
            <a:ext cx="5270500" cy="95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E4BD1B-DAB3-39F0-0B96-BBBDEF53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457" y="2896720"/>
            <a:ext cx="4648200" cy="10645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88CE3F-29C4-F241-E612-4F4103659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24" y="1872503"/>
            <a:ext cx="6612454" cy="786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787A75-629D-32F8-179B-D8E50B4EBEA3}"/>
              </a:ext>
            </a:extLst>
          </p:cNvPr>
          <p:cNvSpPr txBox="1"/>
          <p:nvPr/>
        </p:nvSpPr>
        <p:spPr>
          <a:xfrm>
            <a:off x="3016405" y="2712055"/>
            <a:ext cx="2079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arxiv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2306.00195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47197A-BF99-AD43-E0E1-6973C355D33A}"/>
              </a:ext>
            </a:extLst>
          </p:cNvPr>
          <p:cNvSpPr txBox="1"/>
          <p:nvPr/>
        </p:nvSpPr>
        <p:spPr>
          <a:xfrm>
            <a:off x="8220308" y="4050965"/>
            <a:ext cx="2079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arxiv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2507.16036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2875E4-3AF7-02F9-BF4D-3D4467D839BE}"/>
              </a:ext>
            </a:extLst>
          </p:cNvPr>
          <p:cNvSpPr txBox="1"/>
          <p:nvPr/>
        </p:nvSpPr>
        <p:spPr>
          <a:xfrm>
            <a:off x="2981356" y="5485743"/>
            <a:ext cx="2079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arxiv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2503.19082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1DD099C-BB47-F338-6801-35C8980B3E7A}"/>
              </a:ext>
            </a:extLst>
          </p:cNvPr>
          <p:cNvSpPr txBox="1">
            <a:spLocks/>
          </p:cNvSpPr>
          <p:nvPr/>
        </p:nvSpPr>
        <p:spPr>
          <a:xfrm>
            <a:off x="6495913" y="5271079"/>
            <a:ext cx="4648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3200" b="1" dirty="0">
                <a:solidFill>
                  <a:srgbClr val="002060"/>
                </a:solidFill>
              </a:rPr>
              <a:t>&amp; many others…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C9F011-31D8-EE32-CAA4-5E025458A658}"/>
              </a:ext>
            </a:extLst>
          </p:cNvPr>
          <p:cNvSpPr/>
          <p:nvPr/>
        </p:nvSpPr>
        <p:spPr>
          <a:xfrm>
            <a:off x="900624" y="2107580"/>
            <a:ext cx="2924244" cy="301083"/>
          </a:xfrm>
          <a:prstGeom prst="rect">
            <a:avLst/>
          </a:prstGeom>
          <a:solidFill>
            <a:srgbClr val="FFFF00">
              <a:alpha val="348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937DEE-3DD5-E5A2-78DF-F5BF1A440D01}"/>
              </a:ext>
            </a:extLst>
          </p:cNvPr>
          <p:cNvSpPr/>
          <p:nvPr/>
        </p:nvSpPr>
        <p:spPr>
          <a:xfrm>
            <a:off x="8606117" y="3477323"/>
            <a:ext cx="1220621" cy="260960"/>
          </a:xfrm>
          <a:prstGeom prst="rect">
            <a:avLst/>
          </a:prstGeom>
          <a:solidFill>
            <a:srgbClr val="FFFF00">
              <a:alpha val="348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C7CC86-C5DF-20B0-8482-977446274993}"/>
              </a:ext>
            </a:extLst>
          </p:cNvPr>
          <p:cNvSpPr/>
          <p:nvPr/>
        </p:nvSpPr>
        <p:spPr>
          <a:xfrm>
            <a:off x="2371045" y="4988859"/>
            <a:ext cx="3989414" cy="316781"/>
          </a:xfrm>
          <a:prstGeom prst="rect">
            <a:avLst/>
          </a:prstGeom>
          <a:solidFill>
            <a:srgbClr val="FFFF00">
              <a:alpha val="348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4B8B210-0674-3EA4-0B0E-7978C85B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2BDCAF-5DD8-4852-F9CD-20CF97EF541C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794568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4D3C4-881E-982C-C2B3-781454B40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954F-3E4B-F489-9E1B-D6F8D4EE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experiment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56A82-804D-D1B0-19A9-23ABB476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13E97-15D9-E230-74A8-0CABB6818150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515502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0C1C-D32A-D5F3-6D6A-97718A2A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88747-5464-3AA2-FFED-71F9581B8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1459623"/>
            <a:ext cx="3977435" cy="82391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3 Hypergraph origins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57776-B28F-5D8C-748C-B5594E284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369" y="2541494"/>
            <a:ext cx="11908631" cy="417998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Real</a:t>
            </a:r>
            <a:r>
              <a:rPr lang="en-GB" sz="2000" dirty="0"/>
              <a:t> algorithms (MQT Benchmark suite &amp; </a:t>
            </a:r>
            <a:r>
              <a:rPr lang="en-GB" sz="2000" dirty="0" err="1"/>
              <a:t>Quipper</a:t>
            </a:r>
            <a:r>
              <a:rPr lang="en-GB" sz="2000" dirty="0"/>
              <a:t> algorithms) -&gt; Quantum circuits -&gt; Hypergraphs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Random</a:t>
            </a:r>
            <a:r>
              <a:rPr lang="en-GB" sz="2000" dirty="0"/>
              <a:t> circuits (</a:t>
            </a:r>
            <a:r>
              <a:rPr lang="en-GB" sz="2000" dirty="0" err="1"/>
              <a:t>Qiskit</a:t>
            </a:r>
            <a:r>
              <a:rPr lang="en-GB" sz="2000" dirty="0"/>
              <a:t> random circuit functions) -&gt; Hypergraphs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Generated </a:t>
            </a:r>
            <a:r>
              <a:rPr lang="en-GB" sz="2000" dirty="0"/>
              <a:t>circuits / Programmatically instantiation well-known quantum algorithms (QGEN) -&gt; Hypergraphs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D5DD2-6230-357A-B3BF-3ECDD206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FE543-5CD9-CE93-23EB-D120003DCAD8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580167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E6B0-8028-3FDC-8F04-ECBB1A2E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F45BA-09C3-6D4F-6FE4-F55795F2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D1E32-2797-154E-475F-59396F26B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59623"/>
            <a:ext cx="2789236" cy="823912"/>
          </a:xfrm>
        </p:spPr>
        <p:txBody>
          <a:bodyPr/>
          <a:lstStyle/>
          <a:p>
            <a:r>
              <a:rPr lang="en-US" dirty="0"/>
              <a:t>3 Origins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5DFE2-BAA3-D6B0-1E81-E6F995E99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3370" y="3036887"/>
            <a:ext cx="2789237" cy="36845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Real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Random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Generated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51547C-561A-0269-7C7E-DB3E8EE5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7557-5B85-224A-8198-27673339368F}" type="slidenum">
              <a:rPr lang="en-US" smtClean="0"/>
              <a:t>16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C9719B6-4E4C-7615-498F-900E9530A3BD}"/>
              </a:ext>
            </a:extLst>
          </p:cNvPr>
          <p:cNvSpPr txBox="1">
            <a:spLocks/>
          </p:cNvSpPr>
          <p:nvPr/>
        </p:nvSpPr>
        <p:spPr>
          <a:xfrm>
            <a:off x="3439320" y="1459623"/>
            <a:ext cx="278923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Partitioners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E82909B-8B50-C11E-E514-47259F83CC5A}"/>
              </a:ext>
            </a:extLst>
          </p:cNvPr>
          <p:cNvSpPr txBox="1">
            <a:spLocks/>
          </p:cNvSpPr>
          <p:nvPr/>
        </p:nvSpPr>
        <p:spPr>
          <a:xfrm>
            <a:off x="3266422" y="2353366"/>
            <a:ext cx="7719825" cy="42982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Random</a:t>
            </a:r>
            <a:r>
              <a:rPr lang="en-GB" sz="2000" dirty="0"/>
              <a:t> partitioner: assigns each vertex independently and uniformly to one of the k blocks.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Greedy</a:t>
            </a:r>
            <a:r>
              <a:rPr lang="en-GB" sz="2000" dirty="0"/>
              <a:t> partitioner: for each hyperedge, unassigned vertices are placed in the block that already contains the majority of that hyperedge’s vertices.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Stochastic Greedy</a:t>
            </a:r>
            <a:r>
              <a:rPr lang="en-GB" sz="2000" dirty="0"/>
              <a:t> partitioner (</a:t>
            </a:r>
            <a:r>
              <a:rPr lang="en-GB" sz="2000" dirty="0" err="1"/>
              <a:t>StochG</a:t>
            </a:r>
            <a:r>
              <a:rPr lang="en-GB" sz="2000" dirty="0"/>
              <a:t>): extends the greedy approach with randomised restarts and local improvement.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Fiduccia-</a:t>
            </a:r>
            <a:r>
              <a:rPr lang="en-GB" sz="2000" b="1" dirty="0" err="1"/>
              <a:t>Mattheyses</a:t>
            </a:r>
            <a:r>
              <a:rPr lang="en-GB" sz="2000" b="1" dirty="0"/>
              <a:t> </a:t>
            </a:r>
            <a:r>
              <a:rPr lang="en-GB" sz="2000" dirty="0"/>
              <a:t>(FM):</a:t>
            </a:r>
            <a:r>
              <a:rPr lang="en-GB" sz="2000" b="1" dirty="0"/>
              <a:t> 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C. M. Fiduccia and R. M.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Mattheyses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“A linear-time heuristic for improving network partitions,” in Papers on Twenty-five years of electronic design automation, 1988, pp. 241–247.</a:t>
            </a:r>
            <a:endParaRPr lang="en-GB" sz="2000" b="1" dirty="0"/>
          </a:p>
          <a:p>
            <a:pPr marL="457200" indent="-457200">
              <a:buFont typeface="+mj-lt"/>
              <a:buAutoNum type="arabicPeriod"/>
            </a:pPr>
            <a:r>
              <a:rPr lang="en-GB" sz="2000" b="1" dirty="0" err="1"/>
              <a:t>KaHyPar</a:t>
            </a:r>
            <a:r>
              <a:rPr lang="en-GB" sz="2000" b="1" dirty="0"/>
              <a:t>: </a:t>
            </a:r>
            <a:r>
              <a:rPr lang="en-GB" sz="21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S. Schlag et al., “High-quality hypergraph partitioning,” ACM Journal of Experimental Algorithmics, 2023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Zoltan PHG: 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K. D. Devine, E. G. Boman, R. T.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Heaphy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R. H.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Bisseling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and U. V.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Catalyurek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“Parallel hypergraph partitioning for scientific computing,” in Proceedings 20th IEEE International Parallel &amp; Distributed Processing Symposium. IEEE, 2006, pp. 10–pp.</a:t>
            </a:r>
            <a:endParaRPr lang="en-GB" sz="2000" b="1" dirty="0"/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Evolutionary partitioner </a:t>
            </a:r>
            <a:r>
              <a:rPr lang="en-GB" sz="2000" dirty="0"/>
              <a:t>(EA): represents each solution as a vertex-to-block assignment and evolves a population of balanced partitions using tournament selection, uniform crossover with balance repair, and capacity-constrained mutation.</a:t>
            </a:r>
          </a:p>
          <a:p>
            <a:pPr marL="457200" indent="-457200">
              <a:buFont typeface="+mj-lt"/>
              <a:buAutoNum type="arabicPeriod"/>
            </a:pPr>
            <a:endParaRPr lang="en-GB" sz="2000" b="1" dirty="0"/>
          </a:p>
          <a:p>
            <a:endParaRPr lang="en-GB" sz="2000" b="1" dirty="0"/>
          </a:p>
          <a:p>
            <a:endParaRPr lang="en-GB" sz="2000" dirty="0"/>
          </a:p>
          <a:p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8BAC280-1AB8-8BAE-1B34-973ACA9271EE}"/>
              </a:ext>
            </a:extLst>
          </p:cNvPr>
          <p:cNvCxnSpPr>
            <a:cxnSpLocks/>
          </p:cNvCxnSpPr>
          <p:nvPr/>
        </p:nvCxnSpPr>
        <p:spPr>
          <a:xfrm>
            <a:off x="3072607" y="1861751"/>
            <a:ext cx="0" cy="4789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870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A6E3-1542-EE84-1951-1876FDD1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C5A1-2092-0A3F-0D3E-ED04BBB7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C28FE-B218-6FB3-F827-D584916E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59623"/>
            <a:ext cx="2789236" cy="823912"/>
          </a:xfrm>
        </p:spPr>
        <p:txBody>
          <a:bodyPr/>
          <a:lstStyle/>
          <a:p>
            <a:r>
              <a:rPr lang="en-US" dirty="0"/>
              <a:t>3 Origins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5F34858-88AA-C457-D268-3553ECCA54C7}"/>
              </a:ext>
            </a:extLst>
          </p:cNvPr>
          <p:cNvSpPr txBox="1">
            <a:spLocks/>
          </p:cNvSpPr>
          <p:nvPr/>
        </p:nvSpPr>
        <p:spPr>
          <a:xfrm>
            <a:off x="3439320" y="1459623"/>
            <a:ext cx="2789236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 Partitioners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6F43447-25B9-AA92-89C5-D0B54C0CCB3F}"/>
              </a:ext>
            </a:extLst>
          </p:cNvPr>
          <p:cNvSpPr txBox="1">
            <a:spLocks/>
          </p:cNvSpPr>
          <p:nvPr/>
        </p:nvSpPr>
        <p:spPr>
          <a:xfrm>
            <a:off x="6225380" y="1449795"/>
            <a:ext cx="22526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2-10 partitions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2A71BA53-6705-BF85-7A03-76942E509485}"/>
              </a:ext>
            </a:extLst>
          </p:cNvPr>
          <p:cNvSpPr txBox="1">
            <a:spLocks/>
          </p:cNvSpPr>
          <p:nvPr/>
        </p:nvSpPr>
        <p:spPr>
          <a:xfrm>
            <a:off x="7023557" y="3431301"/>
            <a:ext cx="2080819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…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DD4BA6-2BDB-940B-52A2-1B5F3D886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704"/>
          <a:stretch>
            <a:fillRect/>
          </a:stretch>
        </p:blipFill>
        <p:spPr>
          <a:xfrm>
            <a:off x="6679391" y="5856954"/>
            <a:ext cx="1232710" cy="6888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C5E9089-2091-5AA8-D10B-5E795F0C36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704"/>
          <a:stretch>
            <a:fillRect/>
          </a:stretch>
        </p:blipFill>
        <p:spPr>
          <a:xfrm>
            <a:off x="6696520" y="4979232"/>
            <a:ext cx="1232710" cy="6888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6B3E18-A3DA-DDCE-29C3-84F2288BC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704"/>
          <a:stretch>
            <a:fillRect/>
          </a:stretch>
        </p:blipFill>
        <p:spPr>
          <a:xfrm>
            <a:off x="6679391" y="4129814"/>
            <a:ext cx="1232710" cy="6888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C103FE-F3DD-4B79-80C1-47D5E9434E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704"/>
          <a:stretch>
            <a:fillRect/>
          </a:stretch>
        </p:blipFill>
        <p:spPr>
          <a:xfrm>
            <a:off x="6679391" y="2903364"/>
            <a:ext cx="1232710" cy="6888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5CDB98-3283-F518-5F6E-3EA51D41B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0" t="32985" r="39079" b="43697"/>
          <a:stretch>
            <a:fillRect/>
          </a:stretch>
        </p:blipFill>
        <p:spPr>
          <a:xfrm rot="5400000">
            <a:off x="6849463" y="4816820"/>
            <a:ext cx="254932" cy="1606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4D959-63AF-0836-A314-7451864A6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0" t="32985" r="39079" b="43697"/>
          <a:stretch>
            <a:fillRect/>
          </a:stretch>
        </p:blipFill>
        <p:spPr>
          <a:xfrm rot="5400000">
            <a:off x="7530290" y="4816820"/>
            <a:ext cx="254932" cy="16061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59D6557-6E5D-0771-9402-9D21AC685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0" t="32985" r="39079" b="43697"/>
          <a:stretch>
            <a:fillRect/>
          </a:stretch>
        </p:blipFill>
        <p:spPr>
          <a:xfrm rot="5400000">
            <a:off x="6849463" y="5668212"/>
            <a:ext cx="254932" cy="1606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0E7CF12-2660-9A17-F26D-EEDC1E249E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0" t="32985" r="39079" b="43697"/>
          <a:stretch>
            <a:fillRect/>
          </a:stretch>
        </p:blipFill>
        <p:spPr>
          <a:xfrm rot="5400000">
            <a:off x="7530290" y="5686110"/>
            <a:ext cx="254932" cy="16061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B288F63-483E-B520-34E6-739CCED81CAB}"/>
              </a:ext>
            </a:extLst>
          </p:cNvPr>
          <p:cNvCxnSpPr>
            <a:cxnSpLocks/>
          </p:cNvCxnSpPr>
          <p:nvPr/>
        </p:nvCxnSpPr>
        <p:spPr>
          <a:xfrm>
            <a:off x="3072607" y="1861751"/>
            <a:ext cx="0" cy="4789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200057-FCFC-B9F6-A596-2F34833E6A37}"/>
              </a:ext>
            </a:extLst>
          </p:cNvPr>
          <p:cNvCxnSpPr>
            <a:cxnSpLocks/>
          </p:cNvCxnSpPr>
          <p:nvPr/>
        </p:nvCxnSpPr>
        <p:spPr>
          <a:xfrm>
            <a:off x="6096000" y="1871579"/>
            <a:ext cx="0" cy="4789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CB7D99-C332-E77B-5479-EB8682E264B8}"/>
              </a:ext>
            </a:extLst>
          </p:cNvPr>
          <p:cNvSpPr txBox="1">
            <a:spLocks/>
          </p:cNvSpPr>
          <p:nvPr/>
        </p:nvSpPr>
        <p:spPr>
          <a:xfrm>
            <a:off x="7057236" y="6279746"/>
            <a:ext cx="2080819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…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8F704F1-CA0A-BA12-ACB5-5368E1B4B41F}"/>
              </a:ext>
            </a:extLst>
          </p:cNvPr>
          <p:cNvSpPr txBox="1">
            <a:spLocks/>
          </p:cNvSpPr>
          <p:nvPr/>
        </p:nvSpPr>
        <p:spPr>
          <a:xfrm>
            <a:off x="283370" y="3036887"/>
            <a:ext cx="278923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000" dirty="0"/>
              <a:t>Real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Random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Generated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93CC0D6-E535-007B-9DC1-F2314251A6F1}"/>
              </a:ext>
            </a:extLst>
          </p:cNvPr>
          <p:cNvSpPr txBox="1">
            <a:spLocks/>
          </p:cNvSpPr>
          <p:nvPr/>
        </p:nvSpPr>
        <p:spPr>
          <a:xfrm>
            <a:off x="3174208" y="2861170"/>
            <a:ext cx="278923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000" dirty="0"/>
              <a:t>Random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Greedy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 err="1"/>
              <a:t>StochG</a:t>
            </a:r>
            <a:endParaRPr lang="en-GB" sz="2000" dirty="0"/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FM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 err="1"/>
              <a:t>KaHyPar</a:t>
            </a:r>
            <a:endParaRPr lang="en-GB" sz="2000" dirty="0"/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Zoltan PHG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EA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434E961-ABFA-29D8-D98C-D30B38DF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D345-131F-05A8-1CCB-2542398F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CC155-65EF-D914-C4A7-17F7D3EE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2AEFD-C6F0-7D8C-71EB-F705A68C79AC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275195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6E532-E6F8-5041-E781-F3D18725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C033-4E71-92F1-2352-15461591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cost and result variance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E81CA-052C-C4A4-E868-E9B87E2D3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59" y="2635623"/>
            <a:ext cx="5382437" cy="2633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976BD8-81F9-40A5-37F8-95D2DE49D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72" y="2635623"/>
            <a:ext cx="6091645" cy="306742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56DF3-F87F-91C4-4D61-8DAF8621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22B03-587B-2E43-645F-D885B410B831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39564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735A-678E-718F-3810-9A0C12EC3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24" y="365125"/>
            <a:ext cx="2548328" cy="6335478"/>
          </a:xfrm>
        </p:spPr>
        <p:txBody>
          <a:bodyPr/>
          <a:lstStyle/>
          <a:p>
            <a:r>
              <a:rPr lang="en-US" dirty="0"/>
              <a:t>Cut cost through k and 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C6F05C-C131-B981-324E-EB4BDB4A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412" y="156367"/>
            <a:ext cx="9123989" cy="32726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934F48-C9C6-44D7-AB68-507BC73D0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772" y="3590472"/>
            <a:ext cx="9734228" cy="327263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A29FD-7DE7-15B3-E728-302B9072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34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AE58-792E-DB59-FD08-AB354E32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distributions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5E39C-52A7-1ECD-C124-D0BBAD778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233" y="1514835"/>
            <a:ext cx="5949534" cy="4540719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6F04578-33F5-FAD3-86E2-E06618ED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5FDF2-4193-8793-7319-971B77A9452A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80056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E0D8-94BC-6112-06E5-DDBBE0DC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59ED-5808-E96F-58B7-79A4466AC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2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Future 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D06A4-2581-07A8-5D54-CB0F9536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22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5064E-EABA-79BC-6060-4EEA4AB5D883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442086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FCEB2-A36A-24A0-C443-F745462D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23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8FA30A-BCA1-F5B3-2401-578CF4351624}"/>
              </a:ext>
            </a:extLst>
          </p:cNvPr>
          <p:cNvSpPr txBox="1">
            <a:spLocks/>
          </p:cNvSpPr>
          <p:nvPr/>
        </p:nvSpPr>
        <p:spPr>
          <a:xfrm>
            <a:off x="838200" y="341971"/>
            <a:ext cx="10515600" cy="2289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We can see that structure can guide hypergraph performance.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ADF24-39BE-092A-8502-81B393AD2280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4281638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DB53-7D8A-E4BB-2947-F6E1CC0A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6454-12E1-41E6-E48C-8B254265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81346"/>
            <a:ext cx="10515600" cy="2289474"/>
          </a:xfrm>
        </p:spPr>
        <p:txBody>
          <a:bodyPr/>
          <a:lstStyle/>
          <a:p>
            <a:pPr algn="ctr"/>
            <a:r>
              <a:rPr lang="en-US" dirty="0"/>
              <a:t>How can we </a:t>
            </a:r>
            <a:r>
              <a:rPr lang="en-US" b="1" u="sng" dirty="0" err="1"/>
              <a:t>characterise</a:t>
            </a:r>
            <a:r>
              <a:rPr lang="en-US" dirty="0"/>
              <a:t> and </a:t>
            </a:r>
            <a:r>
              <a:rPr lang="en-US" b="1" u="sng" dirty="0"/>
              <a:t>exploit</a:t>
            </a:r>
            <a:r>
              <a:rPr lang="en-US" dirty="0"/>
              <a:t> the structures emerging from DQC hypergraphs to minimize inter-QPU communication?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D1F426-D86B-12E6-850C-E0E705E0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24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ABF462-B36E-79F6-F45E-C682291C3090}"/>
              </a:ext>
            </a:extLst>
          </p:cNvPr>
          <p:cNvSpPr txBox="1">
            <a:spLocks/>
          </p:cNvSpPr>
          <p:nvPr/>
        </p:nvSpPr>
        <p:spPr>
          <a:xfrm>
            <a:off x="838200" y="341971"/>
            <a:ext cx="10515600" cy="2289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We can see that structure can guide hypergraph performance.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E40EB9-969B-74CA-7E67-AF0C1E514C2B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0" y="2352907"/>
            <a:ext cx="0" cy="172843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B94267-AB28-749A-FA61-BAEC60F5FFB1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411681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D616-7A9B-6EE0-ADC1-90DA5D9B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40" y="4680343"/>
            <a:ext cx="11263008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Thank you! Any 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FD4AD-73D8-FE19-8B11-59D6D84E6080}"/>
              </a:ext>
            </a:extLst>
          </p:cNvPr>
          <p:cNvSpPr txBox="1"/>
          <p:nvPr/>
        </p:nvSpPr>
        <p:spPr>
          <a:xfrm>
            <a:off x="674452" y="695344"/>
            <a:ext cx="1126300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3600" dirty="0"/>
          </a:p>
          <a:p>
            <a:pPr marL="342900" indent="-342900">
              <a:buFont typeface="+mj-lt"/>
              <a:buAutoNum type="arabicPeriod"/>
            </a:pPr>
            <a:r>
              <a:rPr lang="en-US" altLang="en-US" sz="2800" b="1" i="1" dirty="0"/>
              <a:t>Random circuits</a:t>
            </a:r>
            <a:r>
              <a:rPr lang="en-US" altLang="en-US" sz="2800" i="1" dirty="0"/>
              <a:t> can lead us to believe some partitioners are better than they would be in deployment.</a:t>
            </a:r>
            <a:endParaRPr lang="en-US" altLang="en-US" sz="2800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800" i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i="1" dirty="0"/>
              <a:t>Generated circuits </a:t>
            </a:r>
            <a:r>
              <a:rPr lang="en-US" altLang="en-US" sz="2800" i="1" dirty="0"/>
              <a:t>can be a more accurate and scalable solution for testing.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800" i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i="1" dirty="0"/>
              <a:t>Generated circuits </a:t>
            </a:r>
            <a:r>
              <a:rPr lang="en-US" altLang="en-US" sz="2800" i="1" dirty="0"/>
              <a:t>can be a cheap testing benchmark.</a:t>
            </a:r>
            <a:endParaRPr lang="en-US" altLang="en-US" sz="2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0598DF-2088-03AD-EA53-BA57BA4B6D89}"/>
              </a:ext>
            </a:extLst>
          </p:cNvPr>
          <p:cNvSpPr txBox="1">
            <a:spLocks/>
          </p:cNvSpPr>
          <p:nvPr/>
        </p:nvSpPr>
        <p:spPr>
          <a:xfrm>
            <a:off x="464496" y="136525"/>
            <a:ext cx="112630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Takeaways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09A74-5BB8-3A78-7912-1D926A60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DD8B-5310-9A43-B784-DB6B21A7BDFA}" type="slidenum">
              <a:rPr lang="en-US" smtClean="0"/>
              <a:t>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0E180-61FA-0D01-2077-CBA46A7C7176}"/>
              </a:ext>
            </a:extLst>
          </p:cNvPr>
          <p:cNvSpPr txBox="1"/>
          <p:nvPr/>
        </p:nvSpPr>
        <p:spPr>
          <a:xfrm>
            <a:off x="2067337" y="6356350"/>
            <a:ext cx="8567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Distortion of Partitioning Performance by Random Quantum Circuits, Maria Gragera Garces, ICDCS </a:t>
            </a:r>
            <a:r>
              <a:rPr lang="en-GB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DisQIC</a:t>
            </a:r>
            <a:r>
              <a:rPr lang="en-GB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46211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</TotalTime>
  <Words>1018</Words>
  <Application>Microsoft Macintosh PowerPoint</Application>
  <PresentationFormat>Widescreen</PresentationFormat>
  <Paragraphs>147</Paragraphs>
  <Slides>25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On the Distortion of Partitioning Performance by Random Quantum Circuits</vt:lpstr>
      <vt:lpstr>Context</vt:lpstr>
      <vt:lpstr>Distributed Quantum Computing (DQC)</vt:lpstr>
      <vt:lpstr>What abstraction?</vt:lpstr>
      <vt:lpstr>What abstraction?</vt:lpstr>
      <vt:lpstr>How do we partition?</vt:lpstr>
      <vt:lpstr>How do we partition?</vt:lpstr>
      <vt:lpstr>How do we partition?</vt:lpstr>
      <vt:lpstr>How are partitioners evaluated?</vt:lpstr>
      <vt:lpstr>How are partitioners evaluated?</vt:lpstr>
      <vt:lpstr>The structure of partitioned hypergraphs will lead to some partitioning techniques being better than others over those structures.</vt:lpstr>
      <vt:lpstr>The structure of partitioned hypergraphs will lead to some partitioning techniques being better than others over those structures.</vt:lpstr>
      <vt:lpstr>PowerPoint Presentation</vt:lpstr>
      <vt:lpstr>The experiment</vt:lpstr>
      <vt:lpstr>Experimental setup</vt:lpstr>
      <vt:lpstr>Experimental setup</vt:lpstr>
      <vt:lpstr>Experimental setup</vt:lpstr>
      <vt:lpstr>Findings</vt:lpstr>
      <vt:lpstr>Total cost and result variance</vt:lpstr>
      <vt:lpstr>Cut cost through k and n</vt:lpstr>
      <vt:lpstr>Result distributions</vt:lpstr>
      <vt:lpstr>Future research</vt:lpstr>
      <vt:lpstr>PowerPoint Presentation</vt:lpstr>
      <vt:lpstr>How can we characterise and exploit the structures emerging from DQC hypergraphs to minimize inter-QPU communication?</vt:lpstr>
      <vt:lpstr>Thank you!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Gragera Garcés</dc:creator>
  <cp:lastModifiedBy>María Gragera Garcés</cp:lastModifiedBy>
  <cp:revision>12</cp:revision>
  <dcterms:created xsi:type="dcterms:W3CDTF">2026-06-12T05:47:47Z</dcterms:created>
  <dcterms:modified xsi:type="dcterms:W3CDTF">2026-06-25T09:36:45Z</dcterms:modified>
</cp:coreProperties>
</file>